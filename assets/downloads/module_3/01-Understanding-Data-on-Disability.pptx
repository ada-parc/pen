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825" r:id="rId4"/>
    <p:sldId id="821" r:id="rId5"/>
    <p:sldId id="330" r:id="rId6"/>
    <p:sldId id="819" r:id="rId7"/>
    <p:sldId id="8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80"/>
    <a:srgbClr val="0E58C4"/>
    <a:srgbClr val="FFFFFF"/>
    <a:srgbClr val="404040"/>
    <a:srgbClr val="FEFFDE"/>
    <a:srgbClr val="1F5FA0"/>
    <a:srgbClr val="00BF62"/>
    <a:srgbClr val="0563C1"/>
    <a:srgbClr val="366F92"/>
    <a:srgbClr val="DBE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7E117-141D-FB4C-AFE8-7ED52041B1E4}" v="63" dt="2025-09-17T05:35:53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439" autoAdjust="0"/>
  </p:normalViewPr>
  <p:slideViewPr>
    <p:cSldViewPr snapToGrid="0">
      <p:cViewPr varScale="1">
        <p:scale>
          <a:sx n="96" d="100"/>
          <a:sy n="96" d="100"/>
        </p:scale>
        <p:origin x="176" y="208"/>
      </p:cViewPr>
      <p:guideLst/>
    </p:cSldViewPr>
  </p:slideViewPr>
  <p:outlineViewPr>
    <p:cViewPr>
      <p:scale>
        <a:sx n="33" d="100"/>
        <a:sy n="33" d="100"/>
      </p:scale>
      <p:origin x="0" y="-298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402"/>
    </p:cViewPr>
  </p:sorterViewPr>
  <p:notesViewPr>
    <p:cSldViewPr snapToGrid="0">
      <p:cViewPr varScale="1">
        <p:scale>
          <a:sx n="85" d="100"/>
          <a:sy n="85" d="100"/>
        </p:scale>
        <p:origin x="301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277B8A-44BD-4F08-BEBA-9E3C00B47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F70E0-F9B6-4B0A-B20F-DB31E7AE8E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89513-846D-418A-A76C-BC9CA4730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505023"/>
            <a:ext cx="3429000" cy="6389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ADA Overview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46CD0-92B4-48E8-AAB4-2AAB470A6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60DB5-8A82-4868-827B-BFA45EE45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50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FD230-E997-462B-B687-9E056212BBD0}" type="datetimeFigureOut">
              <a:rPr lang="en-US" smtClean="0"/>
              <a:t>10/27/25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467-868E-4120-BCCD-97469C488C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3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6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34131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70922" y="3689349"/>
            <a:ext cx="6466946" cy="4878917"/>
          </a:xfrm>
        </p:spPr>
        <p:txBody>
          <a:bodyPr/>
          <a:lstStyle/>
          <a:p>
            <a:pPr marL="0" marR="0" indent="0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br>
              <a:rPr lang="en-US" dirty="0"/>
            </a:br>
            <a:br>
              <a:rPr lang="en-US" dirty="0"/>
            </a:b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6A64F-8DAC-45DB-93A6-F653170A246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6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C723-6A80-82D6-2B25-6308A865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F29BF-2BDA-54C2-DE82-CCFDEC948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341313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2324E-DCF5-FA25-5219-36518DE10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922" y="3689349"/>
            <a:ext cx="6466946" cy="4878917"/>
          </a:xfrm>
        </p:spPr>
        <p:txBody>
          <a:bodyPr/>
          <a:lstStyle/>
          <a:p>
            <a:pPr marL="0" marR="0" indent="0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B518-B565-613E-0927-0A8E862BC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6A64F-8DAC-45DB-93A6-F653170A246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79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34131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70922" y="3689349"/>
            <a:ext cx="6466946" cy="4878917"/>
          </a:xfrm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6A64F-8DAC-45DB-93A6-F653170A246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69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36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60467-868E-4120-BCCD-97469C488C5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2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B697-AADF-4B5B-BDFA-7C5EEA36D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3487"/>
            <a:ext cx="12192000" cy="100647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69B17-3B56-4E4B-8C66-CB4E0978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6012"/>
            <a:ext cx="9144000" cy="445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C83D-9332-4AA3-A687-19395E82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E90D3-3A88-4C42-9FC7-3F8911146C6E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0" name="Picture 9" descr="Great Lakes ADA Center Logo">
            <a:extLst>
              <a:ext uri="{FF2B5EF4-FFF2-40B4-BE49-F238E27FC236}">
                <a16:creationId xmlns:a16="http://schemas.microsoft.com/office/drawing/2014/main" id="{063C4914-6CDC-4E2A-8601-8D963CA7C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361BA-743B-4239-B1F2-F6EBEDCC2EC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</p:spTree>
    <p:extLst>
      <p:ext uri="{BB962C8B-B14F-4D97-AF65-F5344CB8AC3E}">
        <p14:creationId xmlns:p14="http://schemas.microsoft.com/office/powerpoint/2010/main" val="419267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45C6-2D39-4CAA-AAB8-1B99E4A1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C5F2-7BED-4188-839B-AB7B42659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3283"/>
            <a:ext cx="10515600" cy="43536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0E95-B5EC-4389-84F8-9D8ACD4E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80DD-8276-4811-83A9-3D963CE4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5A767-A071-4356-B862-8141438BE659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F7512FE2-31F3-45F6-AB6E-262603B756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0A531D-88C5-4E50-B1B1-77921D291A6D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E718D1A-8C96-4B6D-AE6F-5F520AEB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316E9A4-964C-46CE-873A-2C0820133B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3E6-4F14-4493-A95F-5AE51C38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AC31A-C92F-4518-ABEE-8CD6CA202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40FE-8272-4BBE-AC7A-76C6704F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E251F-0289-47CA-A1F7-AA5CE80E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F4C47-64C5-420C-A05B-CC30B5FCE271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8" name="Picture 7" descr="Great Lakes ADA Center Logo">
            <a:extLst>
              <a:ext uri="{FF2B5EF4-FFF2-40B4-BE49-F238E27FC236}">
                <a16:creationId xmlns:a16="http://schemas.microsoft.com/office/drawing/2014/main" id="{61A85098-592F-4DC9-8019-4353E5F509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BE9B6-9CD1-4605-AE7B-F009A0F30DB1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A5FB1DC-BCDB-4814-B3F4-C086DC3D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8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E0C3B-3AD2-40B9-B584-A8CB95D95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3283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46652-59E9-447E-8DE5-DDC23C20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86E85-3B71-426E-970C-250A0BF7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D4CC1D-9749-47F2-9F1C-4395A5EB78DC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9B4D940D-154E-4428-8CD8-15247DAD60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D8A158-8BB6-417C-B6BF-41D3646CAE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5BFECCB-0466-4C1B-B5D4-ED9D5EFE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F3681B53-9206-4AC5-96C2-FE910C0A12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A1D122C-5EA1-4887-BE48-3D0CC2063A5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3560" y="1823282"/>
            <a:ext cx="5334000" cy="4223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69BF63-28BC-4E67-80CA-4A26E9AE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111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89D18-FEBB-4366-AAF1-9E031C54E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823283"/>
            <a:ext cx="5311755" cy="6817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206A-6894-4182-86E8-7AD013C4B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5503" y="1821446"/>
            <a:ext cx="5311755" cy="6817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D63A9-E7CA-49AC-ACBE-FA8D1F9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21F0F-BE4E-4A93-B2EB-02933E33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77C50-0445-4424-9486-6AE6027BD038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FBFBEB4D-1F79-48A5-83E1-5B296A735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8978D7-9BD4-45C1-B334-30DF7DEC778C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54A9D79-D4FF-46CC-85A3-841236EF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4E307B-A373-41F5-A858-679BB34EDFA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573595"/>
            <a:ext cx="5334000" cy="3472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A6B19AB-6343-4688-8712-9DB1D0FEB8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404380" y="2569922"/>
            <a:ext cx="5334000" cy="347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defRPr lang="en-US" sz="2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lang="en-US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4E81C796-9A75-4B52-9431-4799EB1F40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B6993ED-B142-4D9C-B3D8-D9AC6A17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66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02C23-2683-4B4B-AA23-37E6B1F8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F4F8C-3111-44C7-8636-B529776F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CB051-7C34-43BC-B62E-A2AC7EA49B45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7" name="Picture 6" descr="Great Lakes ADA Center Logo">
            <a:extLst>
              <a:ext uri="{FF2B5EF4-FFF2-40B4-BE49-F238E27FC236}">
                <a16:creationId xmlns:a16="http://schemas.microsoft.com/office/drawing/2014/main" id="{CB9B59AE-C96C-4C0B-A851-FBFC90FAED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1CD3B2-8302-42DA-B1F4-99AA733CF3D4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CCD664-C7F3-466C-9D7C-35A5A085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1BC79AB4-4F85-4403-BE09-084B431A7C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50C4CD-01E7-48D5-8ECC-647274FC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267"/>
            <a:ext cx="10515600" cy="9614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909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33D2-6A5C-48E9-A65B-5BEA7149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036BB-774C-4A49-A56A-24783B62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6DE4-249F-4186-B59D-508D75FF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5D79A-C33C-4C23-AA78-D88A74F4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3B159-F006-45E8-8757-6D1448F98D90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9" name="Picture 8" descr="Great Lakes ADA Center Logo">
            <a:extLst>
              <a:ext uri="{FF2B5EF4-FFF2-40B4-BE49-F238E27FC236}">
                <a16:creationId xmlns:a16="http://schemas.microsoft.com/office/drawing/2014/main" id="{AE0E6BC4-7CEC-42F2-A969-97780A91F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6CA744-EAA5-458D-93EE-F90E3D21A132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1" name="Picture 10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A0787189-DCFC-4BC5-87CE-87692C7DE4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FE86DB-6C5F-43CB-B956-F77EF27C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A905B8-E38D-4A42-B81E-9D9A685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682" y="987426"/>
            <a:ext cx="6922398" cy="4881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-182880">
              <a:lnSpc>
                <a:spcPct val="100000"/>
              </a:lnSpc>
              <a:spcBef>
                <a:spcPts val="600"/>
              </a:spcBef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18288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−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64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2F218-E0CC-46F0-B4DF-A1B7B469D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0338-5875-43F6-A614-1A5E719E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5C358-FDE1-46D8-AD25-6107FC3C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917260-5A80-4B47-A62F-E5892399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rgbClr val="0055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BD97FD-52D7-4D27-BC2D-E0503BA4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58210"/>
            <a:ext cx="3932237" cy="3710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FACB75-0E86-421C-8F2B-8906B61C1F67}"/>
              </a:ext>
            </a:extLst>
          </p:cNvPr>
          <p:cNvSpPr/>
          <p:nvPr userDrawn="1"/>
        </p:nvSpPr>
        <p:spPr>
          <a:xfrm>
            <a:off x="0" y="0"/>
            <a:ext cx="12192000" cy="724747"/>
          </a:xfrm>
          <a:prstGeom prst="rect">
            <a:avLst/>
          </a:prstGeom>
          <a:solidFill>
            <a:srgbClr val="00558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1" name="Picture 10" descr="Great Lakes ADA Center Logo">
            <a:extLst>
              <a:ext uri="{FF2B5EF4-FFF2-40B4-BE49-F238E27FC236}">
                <a16:creationId xmlns:a16="http://schemas.microsoft.com/office/drawing/2014/main" id="{8A64F6AE-200D-4215-85C3-5C2B39737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100813"/>
            <a:ext cx="1546561" cy="516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CC1008-3C55-4388-89C7-50AC30F7B0FE}"/>
              </a:ext>
            </a:extLst>
          </p:cNvPr>
          <p:cNvSpPr txBox="1"/>
          <p:nvPr userDrawn="1"/>
        </p:nvSpPr>
        <p:spPr>
          <a:xfrm>
            <a:off x="9886773" y="111502"/>
            <a:ext cx="2194561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800-949-4232 (V/TTY)</a:t>
            </a:r>
          </a:p>
          <a:p>
            <a:pPr algn="r">
              <a:spcBef>
                <a:spcPts val="2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www.adagreatlakes.org</a:t>
            </a:r>
          </a:p>
        </p:txBody>
      </p:sp>
      <p:pic>
        <p:nvPicPr>
          <p:cNvPr id="13" name="Picture 12" descr="A blue and black logo&#10;&#10;Description automatically generated with medium confidence">
            <a:extLst>
              <a:ext uri="{FF2B5EF4-FFF2-40B4-BE49-F238E27FC236}">
                <a16:creationId xmlns:a16="http://schemas.microsoft.com/office/drawing/2014/main" id="{96E22B44-F99A-4DC3-87BD-D3753A20D5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6" y="5982115"/>
            <a:ext cx="469601" cy="73554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57BB0F-8EB9-47CD-A02F-5B60C337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0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AE80B-33E5-4BD5-B721-BAFC6CC4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54B02-1727-4D4B-87CD-9B6C5CB1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4867-AAC3-4132-A790-7D6AD7A77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7818-CE99-42D2-B43D-D2417FBC2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0EA154-45F9-4B33-A4D6-E616F925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9880" y="635254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5B481-CC43-4D95-B982-500CB2D3FC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2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rgbClr val="00558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82880" algn="l" defTabSz="914400" rtl="0" eaLnBrk="1" latinLnBrk="0" hangingPunct="1">
        <a:lnSpc>
          <a:spcPct val="100000"/>
        </a:lnSpc>
        <a:spcBef>
          <a:spcPts val="600"/>
        </a:spcBef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−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ensus.gov/acs/www/about/why-we-ask-each-question/disability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hyperlink" Target="https://www.census.gov/programs-surveys/ac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acs/www/about/why-we-ask-each-question/disability/?utm_source=chatgpt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325F-F7C4-47F9-AB0D-F4E85898A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11539"/>
            <a:ext cx="12192000" cy="21015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Welcome to Module 3</a:t>
            </a:r>
            <a:r>
              <a:rPr lang="en-US" sz="6000" dirty="0"/>
              <a:t> :</a:t>
            </a:r>
            <a:br>
              <a:rPr lang="en-US" sz="6000" dirty="0"/>
            </a:br>
            <a:r>
              <a:rPr lang="en-US" dirty="0"/>
              <a:t>Making Sense of Disability Information</a:t>
            </a:r>
            <a:r>
              <a:rPr lang="en-US" sz="60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DA53E-826D-4A69-82AC-DE11CE124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176" y="3547158"/>
            <a:ext cx="10908562" cy="82078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Participation Action Research Consortium (PARC)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 Equity Navigator Training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CD0B6F-466A-5600-572F-99890278C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23950" y="3436391"/>
            <a:ext cx="99441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5" descr="Americans with Disabilities Act Participation Action Research Consortium logo">
            <a:extLst>
              <a:ext uri="{FF2B5EF4-FFF2-40B4-BE49-F238E27FC236}">
                <a16:creationId xmlns:a16="http://schemas.microsoft.com/office/drawing/2014/main" id="{551196FB-48BD-3D49-5A86-886D55CF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83" y="4793942"/>
            <a:ext cx="1735433" cy="113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DA National Network logo">
            <a:extLst>
              <a:ext uri="{FF2B5EF4-FFF2-40B4-BE49-F238E27FC236}">
                <a16:creationId xmlns:a16="http://schemas.microsoft.com/office/drawing/2014/main" id="{E38DE6DF-4A58-387E-B23B-6CD5C3A6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459" y="5492660"/>
            <a:ext cx="1624410" cy="210217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6734AB-28BF-47B3-94D6-2C2884B8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26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AB81-8278-44A6-9712-6833886B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93" y="872686"/>
            <a:ext cx="10515600" cy="961496"/>
          </a:xfrm>
        </p:spPr>
        <p:txBody>
          <a:bodyPr>
            <a:normAutofit/>
          </a:bodyPr>
          <a:lstStyle/>
          <a:p>
            <a:r>
              <a:rPr lang="en-US" dirty="0"/>
              <a:t>Four Big Questions We’ll Answer</a:t>
            </a:r>
            <a:r>
              <a:rPr lang="en-US" sz="4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D5594-BAFF-64CB-68FA-EE7BD3EA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4" y="2006571"/>
            <a:ext cx="10388486" cy="4534078"/>
          </a:xfrm>
        </p:spPr>
        <p:txBody>
          <a:bodyPr>
            <a:noAutofit/>
          </a:bodyPr>
          <a:lstStyle/>
          <a:p>
            <a:pPr>
              <a:spcAft>
                <a:spcPts val="960"/>
              </a:spcAft>
            </a:pPr>
            <a:r>
              <a:rPr lang="en-US" dirty="0"/>
              <a:t>1. Where does disability information come from?</a:t>
            </a:r>
          </a:p>
          <a:p>
            <a:pPr>
              <a:spcAft>
                <a:spcPts val="960"/>
              </a:spcAft>
            </a:pPr>
            <a:br>
              <a:rPr lang="en-US" dirty="0"/>
            </a:br>
            <a:r>
              <a:rPr lang="en-US" dirty="0"/>
              <a:t>2. What’s the difference between numbers and percentages?</a:t>
            </a:r>
          </a:p>
          <a:p>
            <a:pPr>
              <a:spcAft>
                <a:spcPts val="960"/>
              </a:spcAft>
            </a:pPr>
            <a:br>
              <a:rPr lang="en-US" dirty="0"/>
            </a:br>
            <a:r>
              <a:rPr lang="en-US" dirty="0"/>
              <a:t>3. What are the limits of national surveys?</a:t>
            </a:r>
          </a:p>
          <a:p>
            <a:pPr>
              <a:spcAft>
                <a:spcPts val="960"/>
              </a:spcAft>
            </a:pPr>
            <a:br>
              <a:rPr lang="en-US" dirty="0"/>
            </a:br>
            <a:r>
              <a:rPr lang="en-US" dirty="0"/>
              <a:t>4. How do we read a scorecard?</a:t>
            </a:r>
          </a:p>
          <a:p>
            <a:pPr>
              <a:spcAft>
                <a:spcPts val="960"/>
              </a:spcAft>
            </a:pP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F9EDF-D2CF-4C78-BDCF-E8CF4598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DFC97-DC1E-97D2-09EF-50F8B5EB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6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733" y="1053362"/>
            <a:ext cx="11016534" cy="1143000"/>
          </a:xfrm>
        </p:spPr>
        <p:txBody>
          <a:bodyPr>
            <a:norm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 Unit 1:</a:t>
            </a:r>
            <a:r>
              <a:rPr lang="en-US" sz="3200" dirty="0"/>
              <a:t>Where </a:t>
            </a:r>
            <a:r>
              <a:rPr lang="en-US" sz="3200"/>
              <a:t>Does the </a:t>
            </a:r>
            <a:r>
              <a:rPr lang="en-US" sz="3200" dirty="0"/>
              <a:t>Information Come From? </a:t>
            </a:r>
            <a:endParaRPr lang="en-US" sz="3200" b="1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90" y="1675935"/>
            <a:ext cx="8504466" cy="504172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41128E-3CC9-C880-8869-242E879D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187EC93-88F6-9A6A-BB75-0B595962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B21E4-33CB-126F-6E04-04ECA1AE5888}"/>
              </a:ext>
            </a:extLst>
          </p:cNvPr>
          <p:cNvSpPr txBox="1"/>
          <p:nvPr/>
        </p:nvSpPr>
        <p:spPr>
          <a:xfrm>
            <a:off x="587733" y="2196362"/>
            <a:ext cx="10930877" cy="234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-Data used to develop ADA-PARC scorecards derives from federally recognized sources (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American Community Survey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(ACS))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They do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survey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every 10 years and in between every 5 years.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23B20-6C97-3DB2-5943-675376605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124" y="4386470"/>
            <a:ext cx="3238778" cy="19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3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559E-66EC-7C3C-95C9-950C4158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7D6C-9C59-A6F3-6E85-BC9972BF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733" y="1053362"/>
            <a:ext cx="8526491" cy="1143000"/>
          </a:xfrm>
        </p:spPr>
        <p:txBody>
          <a:bodyPr>
            <a:norm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dirty="0"/>
              <a:t>What is the ACS?</a:t>
            </a:r>
            <a:endParaRPr lang="en-US" sz="4400" b="1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A422-EF16-BC25-8AE7-2795A9CF9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672" y="1264090"/>
            <a:ext cx="8504466" cy="504172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280680-960E-21E8-40CB-3913D628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600F484-4E16-9316-60C6-C490B0B4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D1291-FE6F-7015-2ECA-37C32B39D29F}"/>
              </a:ext>
            </a:extLst>
          </p:cNvPr>
          <p:cNvSpPr txBox="1"/>
          <p:nvPr/>
        </p:nvSpPr>
        <p:spPr>
          <a:xfrm>
            <a:off x="813819" y="2217490"/>
            <a:ext cx="10930877" cy="317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800" dirty="0"/>
              <a:t>• A survey is done every year across the U.S.</a:t>
            </a:r>
            <a:br>
              <a:rPr lang="en-US" sz="2800" dirty="0"/>
            </a:br>
            <a:r>
              <a:rPr lang="en-US" sz="2800" dirty="0"/>
              <a:t>• Collects information on many topics (housing, jobs, health, transportation).</a:t>
            </a:r>
            <a:br>
              <a:rPr lang="en-US" sz="2800" dirty="0"/>
            </a:br>
            <a:r>
              <a:rPr lang="en-US" sz="2800" dirty="0"/>
              <a:t>• Compares people with and without disabilities.</a:t>
            </a:r>
            <a:br>
              <a:rPr lang="en-US" sz="2800" dirty="0"/>
            </a:br>
            <a:r>
              <a:rPr lang="en-US" sz="2800" dirty="0"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Helps us see differences between people with and without disabilities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2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   </a:t>
            </a:r>
            <a:r>
              <a:rPr lang="en-US" sz="24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Link to ACS Website</a:t>
            </a: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13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733" y="1053362"/>
            <a:ext cx="8526491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-US" sz="3600" dirty="0"/>
              <a:t>• </a:t>
            </a:r>
            <a:r>
              <a:rPr lang="en-US" dirty="0"/>
              <a:t>Activity Section:</a:t>
            </a:r>
            <a:br>
              <a:rPr lang="en-US" dirty="0"/>
            </a:br>
            <a:endParaRPr lang="en-US" sz="4400" b="1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951" y="1493373"/>
            <a:ext cx="8504466" cy="50417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en-US" sz="2400" b="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41128E-3CC9-C880-8869-242E879D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187EC93-88F6-9A6A-BB75-0B595962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B21E4-33CB-126F-6E04-04ECA1AE5888}"/>
              </a:ext>
            </a:extLst>
          </p:cNvPr>
          <p:cNvSpPr txBox="1"/>
          <p:nvPr/>
        </p:nvSpPr>
        <p:spPr>
          <a:xfrm>
            <a:off x="884951" y="1907686"/>
            <a:ext cx="10930877" cy="457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Try it yourself!</a:t>
            </a:r>
            <a:endParaRPr lang="en-US" sz="2800" dirty="0"/>
          </a:p>
          <a:p>
            <a:r>
              <a:rPr lang="en-US" sz="2800" dirty="0"/>
              <a:t>Go to the </a:t>
            </a:r>
            <a:r>
              <a:rPr lang="en-US" sz="2800" dirty="0">
                <a:hlinkClick r:id="rId4"/>
              </a:rPr>
              <a:t>ACS Website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Pick one topic (housing, jobs, health, or transportation).</a:t>
            </a:r>
          </a:p>
          <a:p>
            <a:r>
              <a:rPr lang="en-US" sz="2800" dirty="0"/>
              <a:t>Write down </a:t>
            </a:r>
            <a:r>
              <a:rPr lang="en-US" sz="2800" b="1" dirty="0"/>
              <a:t>one fact</a:t>
            </a:r>
            <a:r>
              <a:rPr lang="en-US" sz="2800" dirty="0"/>
              <a:t> you find that could matter for people with disabilities.</a:t>
            </a:r>
          </a:p>
          <a:p>
            <a:endParaRPr lang="en-US" sz="2800" dirty="0"/>
          </a:p>
          <a:p>
            <a:r>
              <a:rPr lang="en-US" sz="2800" i="1" dirty="0"/>
              <a:t>(</a:t>
            </a:r>
            <a:r>
              <a:rPr lang="en-US" sz="2800" b="1" i="1" dirty="0"/>
              <a:t>Example: </a:t>
            </a:r>
            <a:r>
              <a:rPr lang="en-US" sz="2800" i="1" dirty="0"/>
              <a:t>In my state, fewer people with disabilities are employed compared to people without disabilities.)</a:t>
            </a:r>
            <a:endParaRPr lang="en-US" sz="2800" dirty="0"/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lang="en-US" sz="2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red and blue sign with white letters&#10;&#10;AI-generated content may be incorrect.">
            <a:extLst>
              <a:ext uri="{FF2B5EF4-FFF2-40B4-BE49-F238E27FC236}">
                <a16:creationId xmlns:a16="http://schemas.microsoft.com/office/drawing/2014/main" id="{CDCF488C-8AC1-E666-1AE7-B0465FF82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389" y="704127"/>
            <a:ext cx="5434906" cy="249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3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2B66-6BF7-E286-5104-AF75F153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493"/>
            <a:ext cx="10515600" cy="961496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600" dirty="0"/>
              <a:t>How Does ACS Define Disability?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1BCF3-06EE-8F83-2CE5-E711CE4F0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706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F97F7-288B-743C-00DA-90BF80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200" y="1870197"/>
            <a:ext cx="2743200" cy="365125"/>
          </a:xfrm>
        </p:spPr>
        <p:txBody>
          <a:bodyPr/>
          <a:lstStyle/>
          <a:p>
            <a:fld id="{A9D5B481-CC43-4D95-B982-500CB2D3FC20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84E56E39-3FCF-1E78-BBBA-847F785706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3761429"/>
              </p:ext>
            </p:extLst>
          </p:nvPr>
        </p:nvGraphicFramePr>
        <p:xfrm>
          <a:off x="1151072" y="1791989"/>
          <a:ext cx="11040928" cy="5066011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11040928">
                  <a:extLst>
                    <a:ext uri="{9D8B030D-6E8A-4147-A177-3AD203B41FA5}">
                      <a16:colId xmlns:a16="http://schemas.microsoft.com/office/drawing/2014/main" val="4189108362"/>
                    </a:ext>
                  </a:extLst>
                </a:gridCol>
              </a:tblGrid>
              <a:tr h="6239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1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. </a:t>
                      </a:r>
                      <a:r>
                        <a:rPr lang="en-US" sz="2800" dirty="0"/>
                        <a:t>👓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Seeing: Serious trouble seeing, even with glasses, or being blind.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520890"/>
                  </a:ext>
                </a:extLst>
              </a:tr>
              <a:tr h="7513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. </a:t>
                      </a:r>
                      <a:r>
                        <a:rPr lang="en-US" sz="2800" dirty="0"/>
                        <a:t>👂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Hearing: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Serious trouble hearing or being deaf.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4495"/>
                  </a:ext>
                </a:extLst>
              </a:tr>
              <a:tr h="752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3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. </a:t>
                      </a:r>
                      <a:r>
                        <a:rPr lang="en-US" sz="2800" dirty="0"/>
                        <a:t>🦽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Mobility: Trouble walking or climbing stairs, may use a wheelchair or a cane.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799690"/>
                  </a:ext>
                </a:extLst>
              </a:tr>
              <a:tr h="6882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4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. </a:t>
                      </a:r>
                      <a:r>
                        <a:rPr lang="en-US" sz="2800" dirty="0"/>
                        <a:t>💭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Thinking &amp; Remembering (Cognitive): Trouble concentrating, remembering, or making decisions.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095480"/>
                  </a:ext>
                </a:extLst>
              </a:tr>
              <a:tr h="8560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5. </a:t>
                      </a:r>
                      <a:r>
                        <a:rPr lang="en-US" sz="2800" dirty="0"/>
                        <a:t>🛁</a:t>
                      </a: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</a:rPr>
                        <a:t>Self-Care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Trouble with daily tasks like dressing or bathing.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679269"/>
                  </a:ext>
                </a:extLst>
              </a:tr>
              <a:tr h="72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</a:rPr>
                        <a:t>6. </a:t>
                      </a:r>
                      <a:r>
                        <a:rPr lang="en-US" sz="2800" dirty="0"/>
                        <a:t>🛒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Living Independently</a:t>
                      </a:r>
                      <a:r>
                        <a:rPr lang="en-US" sz="2800" dirty="0">
                          <a:effectLst/>
                        </a:rPr>
                        <a:t>: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 Trouble running errands alone, like shopping or visiting a doctor.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69314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E21F5D-E03C-CA9C-B17C-0B20B2F4D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482" y="1567763"/>
            <a:ext cx="10515600" cy="4482568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15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0064-800F-6B21-CC1B-4F889A1F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9" y="720270"/>
            <a:ext cx="10515600" cy="961496"/>
          </a:xfrm>
        </p:spPr>
        <p:txBody>
          <a:bodyPr>
            <a:normAutofit/>
          </a:bodyPr>
          <a:lstStyle/>
          <a:p>
            <a:r>
              <a:rPr lang="en-US" dirty="0"/>
              <a:t>A Quick Note</a:t>
            </a:r>
            <a:r>
              <a:rPr lang="en-US" sz="4400" dirty="0"/>
              <a:t>:</a:t>
            </a:r>
            <a:r>
              <a:rPr lang="en-US" dirty="0"/>
              <a:t> Keep in Mind</a:t>
            </a:r>
            <a:r>
              <a:rPr lang="en-US" sz="4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E53E7-CFD5-F5F0-3158-0EC6C3C2F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9" y="1975844"/>
            <a:ext cx="11129261" cy="4986770"/>
          </a:xfrm>
        </p:spPr>
        <p:txBody>
          <a:bodyPr>
            <a:normAutofit/>
          </a:bodyPr>
          <a:lstStyle/>
          <a:p>
            <a:r>
              <a:rPr lang="en-US" b="0" dirty="0"/>
              <a:t>• These six categories are basic.</a:t>
            </a:r>
            <a:br>
              <a:rPr lang="en-US" b="0" dirty="0"/>
            </a:br>
            <a:r>
              <a:rPr lang="en-US" b="0" dirty="0"/>
              <a:t>• They don’t cover all types of disability.</a:t>
            </a:r>
            <a:br>
              <a:rPr lang="en-US" b="0" dirty="0"/>
            </a:br>
            <a:r>
              <a:rPr lang="en-US" b="0" dirty="0"/>
              <a:t>• For more details, you can check other sources (Census Bureau).</a:t>
            </a:r>
          </a:p>
          <a:p>
            <a:endParaRPr lang="en-US" dirty="0">
              <a:ea typeface="Aptos" panose="020B0004020202020204" pitchFamily="34" charset="0"/>
            </a:endParaRPr>
          </a:p>
          <a:p>
            <a:r>
              <a:rPr lang="en-US" dirty="0">
                <a:effectLst/>
                <a:ea typeface="Aptos" panose="020B0004020202020204" pitchFamily="34" charset="0"/>
              </a:rPr>
              <a:t>Here is a link for more exploring: </a:t>
            </a:r>
            <a:r>
              <a:rPr lang="en-US" b="0" dirty="0"/>
              <a:t>(Census Bureau).</a:t>
            </a:r>
            <a:endParaRPr lang="en-US" dirty="0">
              <a:effectLst/>
              <a:ea typeface="Aptos" panose="020B0004020202020204" pitchFamily="34" charset="0"/>
            </a:endParaRPr>
          </a:p>
          <a:p>
            <a:pPr algn="l"/>
            <a:r>
              <a:rPr lang="en-US" sz="2000" b="0" dirty="0">
                <a:effectLst/>
                <a:ea typeface="Aptos" panose="020B0004020202020204" pitchFamily="34" charset="0"/>
                <a:hlinkClick r:id="rId3"/>
              </a:rPr>
              <a:t>https://www.census.gov/acs/www/about/why-we-ask-each-question/disability/?</a:t>
            </a:r>
            <a:endParaRPr lang="en-US" sz="1600" b="0" dirty="0">
              <a:effectLst/>
              <a:ea typeface="Aptos" panose="020B00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highlight>
                <a:srgbClr val="FFFF00"/>
              </a:highlight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US" sz="2800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EA1C0B-0AB4-58DF-67F9-BB2092947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84073"/>
            <a:ext cx="813819" cy="53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B36F3-6137-B646-90E0-DB605D57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481-CC43-4D95-B982-500CB2D3FC2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green note with black text pinned to it&#10;&#10;AI-generated content may be incorrect.">
            <a:extLst>
              <a:ext uri="{FF2B5EF4-FFF2-40B4-BE49-F238E27FC236}">
                <a16:creationId xmlns:a16="http://schemas.microsoft.com/office/drawing/2014/main" id="{FB4711CE-A6E8-A237-DE3C-69E4F147C0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080" y="720270"/>
            <a:ext cx="4064000" cy="195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3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Lakes ADA Center PPT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5580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25050</TotalTime>
  <Words>427</Words>
  <Application>Microsoft Macintosh PowerPoint</Application>
  <PresentationFormat>Widescreen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Wingdings</vt:lpstr>
      <vt:lpstr>Office Theme</vt:lpstr>
      <vt:lpstr>Welcome to Module 3 : Making Sense of Disability Information </vt:lpstr>
      <vt:lpstr>Four Big Questions We’ll Answer </vt:lpstr>
      <vt:lpstr> Unit 1:Where Does the Information Come From? </vt:lpstr>
      <vt:lpstr>What is the ACS?</vt:lpstr>
      <vt:lpstr>• Activity Section: </vt:lpstr>
      <vt:lpstr> How Does ACS Define Disability?</vt:lpstr>
      <vt:lpstr>A Quick Note: Keep in Mind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243</cp:revision>
  <dcterms:created xsi:type="dcterms:W3CDTF">2023-05-18T20:19:20Z</dcterms:created>
  <dcterms:modified xsi:type="dcterms:W3CDTF">2025-10-28T04:55:13Z</dcterms:modified>
</cp:coreProperties>
</file>