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0" r:id="rId3"/>
    <p:sldId id="827" r:id="rId4"/>
    <p:sldId id="828" r:id="rId5"/>
    <p:sldId id="831" r:id="rId6"/>
    <p:sldId id="830" r:id="rId7"/>
    <p:sldId id="832" r:id="rId8"/>
    <p:sldId id="833" r:id="rId9"/>
    <p:sldId id="829" r:id="rId10"/>
    <p:sldId id="83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FA0"/>
    <a:srgbClr val="005580"/>
    <a:srgbClr val="0E58C4"/>
    <a:srgbClr val="FFFFFF"/>
    <a:srgbClr val="404040"/>
    <a:srgbClr val="FEFFDE"/>
    <a:srgbClr val="00BF62"/>
    <a:srgbClr val="0563C1"/>
    <a:srgbClr val="366F92"/>
    <a:srgbClr val="DBE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EA150-A5E4-4E52-8DEA-7C749D4B382B}" v="2501" dt="2025-02-28T22:59:45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67" autoAdjust="0"/>
  </p:normalViewPr>
  <p:slideViewPr>
    <p:cSldViewPr snapToGrid="0">
      <p:cViewPr varScale="1">
        <p:scale>
          <a:sx n="54" d="100"/>
          <a:sy n="54" d="100"/>
        </p:scale>
        <p:origin x="400" y="60"/>
      </p:cViewPr>
      <p:guideLst/>
    </p:cSldViewPr>
  </p:slideViewPr>
  <p:outlineViewPr>
    <p:cViewPr>
      <p:scale>
        <a:sx n="33" d="100"/>
        <a:sy n="33" d="100"/>
      </p:scale>
      <p:origin x="0" y="-2986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402"/>
    </p:cViewPr>
  </p:sorterViewPr>
  <p:notesViewPr>
    <p:cSldViewPr snapToGrid="0">
      <p:cViewPr varScale="1">
        <p:scale>
          <a:sx n="85" d="100"/>
          <a:sy n="85" d="100"/>
        </p:scale>
        <p:origin x="301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277B8A-44BD-4F08-BEBA-9E3C00B47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F70E0-F9B6-4B0A-B20F-DB31E7AE8E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89513-846D-418A-A76C-BC9CA4730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505023"/>
            <a:ext cx="3429000" cy="6389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ADA Overview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ADA Participation Action Research Consortium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Participation Equity Navigator Training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46CD0-92B4-48E8-AAB4-2AAB470A69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60DB5-8A82-4868-827B-BFA45EE456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350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FD230-E997-462B-B687-9E056212BBD0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60467-868E-4120-BCCD-97469C488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933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88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365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364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B697-AADF-4B5B-BDFA-7C5EEA36D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03487"/>
            <a:ext cx="12192000" cy="100647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69B17-3B56-4E4B-8C66-CB4E09784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6012"/>
            <a:ext cx="9144000" cy="445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8C83D-9332-4AA3-A687-19395E82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E90D3-3A88-4C42-9FC7-3F8911146C6E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10" name="Picture 9" descr="Great Lakes ADA Center Logo">
            <a:extLst>
              <a:ext uri="{FF2B5EF4-FFF2-40B4-BE49-F238E27FC236}">
                <a16:creationId xmlns:a16="http://schemas.microsoft.com/office/drawing/2014/main" id="{063C4914-6CDC-4E2A-8601-8D963CA7C5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4361BA-743B-4239-B1F2-F6EBEDCC2EC1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</p:spTree>
    <p:extLst>
      <p:ext uri="{BB962C8B-B14F-4D97-AF65-F5344CB8AC3E}">
        <p14:creationId xmlns:p14="http://schemas.microsoft.com/office/powerpoint/2010/main" val="419267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45C6-2D39-4CAA-AAB8-1B99E4A13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C5F2-7BED-4188-839B-AB7B42659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3283"/>
            <a:ext cx="10515600" cy="43536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>
              <a:lnSpc>
                <a:spcPct val="100000"/>
              </a:lnSpc>
              <a:spcBef>
                <a:spcPts val="600"/>
              </a:spcBef>
              <a:defRPr sz="26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18288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0E95-B5EC-4389-84F8-9D8ACD4E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380DD-8276-4811-83A9-3D963CE4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05A767-A071-4356-B862-8141438BE659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8" name="Picture 7" descr="Great Lakes ADA Center Logo">
            <a:extLst>
              <a:ext uri="{FF2B5EF4-FFF2-40B4-BE49-F238E27FC236}">
                <a16:creationId xmlns:a16="http://schemas.microsoft.com/office/drawing/2014/main" id="{F7512FE2-31F3-45F6-AB6E-262603B756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0A531D-88C5-4E50-B1B1-77921D291A6D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E718D1A-8C96-4B6D-AE6F-5F520AEB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9316E9A4-964C-46CE-873A-2C0820133B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4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C3E6-4F14-4493-A95F-5AE51C386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AC31A-C92F-4518-ABEE-8CD6CA202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140FE-8272-4BBE-AC7A-76C6704F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E251F-0289-47CA-A1F7-AA5CE80E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AF4C47-64C5-420C-A05B-CC30B5FCE271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8" name="Picture 7" descr="Great Lakes ADA Center Logo">
            <a:extLst>
              <a:ext uri="{FF2B5EF4-FFF2-40B4-BE49-F238E27FC236}">
                <a16:creationId xmlns:a16="http://schemas.microsoft.com/office/drawing/2014/main" id="{61A85098-592F-4DC9-8019-4353E5F509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9BE9B6-9CD1-4605-AE7B-F009A0F30DB1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A5FB1DC-BCDB-4814-B3F4-C086DC3D0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78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E0C3B-3AD2-40B9-B584-A8CB95D95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3283"/>
            <a:ext cx="5334000" cy="4223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46652-59E9-447E-8DE5-DDC23C20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86E85-3B71-426E-970C-250A0BF7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D4CC1D-9749-47F2-9F1C-4395A5EB78DC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9" name="Picture 8" descr="Great Lakes ADA Center Logo">
            <a:extLst>
              <a:ext uri="{FF2B5EF4-FFF2-40B4-BE49-F238E27FC236}">
                <a16:creationId xmlns:a16="http://schemas.microsoft.com/office/drawing/2014/main" id="{9B4D940D-154E-4428-8CD8-15247DAD60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D8A158-8BB6-417C-B6BF-41D3646CAEFE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5BFECCB-0466-4C1B-B5D4-ED9D5EFE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F3681B53-9206-4AC5-96C2-FE910C0A12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A1D122C-5EA1-4887-BE48-3D0CC2063A5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3560" y="1823282"/>
            <a:ext cx="5334000" cy="4223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69BF63-28BC-4E67-80CA-4A26E9AE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111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89D18-FEBB-4366-AAF1-9E031C54E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823283"/>
            <a:ext cx="5311755" cy="68179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0206A-6894-4182-86E8-7AD013C4B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5503" y="1821446"/>
            <a:ext cx="5311755" cy="6817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CD63A9-E7CA-49AC-ACBE-FA8D1F9A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21F0F-BE4E-4A93-B2EB-02933E33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777C50-0445-4424-9486-6AE6027BD038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11" name="Picture 10" descr="Great Lakes ADA Center Logo">
            <a:extLst>
              <a:ext uri="{FF2B5EF4-FFF2-40B4-BE49-F238E27FC236}">
                <a16:creationId xmlns:a16="http://schemas.microsoft.com/office/drawing/2014/main" id="{FBFBEB4D-1F79-48A5-83E1-5B296A735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8978D7-9BD4-45C1-B334-30DF7DEC778C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54A9D79-D4FF-46CC-85A3-841236EF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4E307B-A373-41F5-A858-679BB34EDFA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2573595"/>
            <a:ext cx="5334000" cy="3472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A6B19AB-6343-4688-8712-9DB1D0FEB8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404380" y="2569922"/>
            <a:ext cx="5334000" cy="347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9" name="Picture 18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4E81C796-9A75-4B52-9431-4799EB1F40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6B6993ED-B142-4D9C-B3D8-D9AC6A17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966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02C23-2683-4B4B-AA23-37E6B1F8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F4F8C-3111-44C7-8636-B529776F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7CB051-7C34-43BC-B62E-A2AC7EA49B45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7" name="Picture 6" descr="Great Lakes ADA Center Logo">
            <a:extLst>
              <a:ext uri="{FF2B5EF4-FFF2-40B4-BE49-F238E27FC236}">
                <a16:creationId xmlns:a16="http://schemas.microsoft.com/office/drawing/2014/main" id="{CB9B59AE-C96C-4C0B-A851-FBFC90FAED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1CD3B2-8302-42DA-B1F4-99AA733CF3D4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CCD664-C7F3-466C-9D7C-35A5A085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1BC79AB4-4F85-4403-BE09-084B431A7C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050C4CD-01E7-48D5-8ECC-647274FC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909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33D2-6A5C-48E9-A65B-5BEA7149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036BB-774C-4A49-A56A-24783B628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58210"/>
            <a:ext cx="3932237" cy="37107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06DE4-249F-4186-B59D-508D75FF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5D79A-C33C-4C23-AA78-D88A74F4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C3B159-F006-45E8-8757-6D1448F98D90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9" name="Picture 8" descr="Great Lakes ADA Center Logo">
            <a:extLst>
              <a:ext uri="{FF2B5EF4-FFF2-40B4-BE49-F238E27FC236}">
                <a16:creationId xmlns:a16="http://schemas.microsoft.com/office/drawing/2014/main" id="{AE0E6BC4-7CEC-42F2-A969-97780A91F8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6CA744-EAA5-458D-93EE-F90E3D21A132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pic>
        <p:nvPicPr>
          <p:cNvPr id="11" name="Picture 10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A0787189-DCFC-4BC5-87CE-87692C7DE4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FE86DB-6C5F-43CB-B956-F77EF27C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A905B8-E38D-4A42-B81E-9D9A6851F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682" y="987426"/>
            <a:ext cx="6922398" cy="4881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>
              <a:lnSpc>
                <a:spcPct val="100000"/>
              </a:lnSpc>
              <a:spcBef>
                <a:spcPts val="600"/>
              </a:spcBef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18288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464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A2F218-E0CC-46F0-B4DF-A1B7B469D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0338-5875-43F6-A614-1A5E719E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5C358-FDE1-46D8-AD25-6107FC3C5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A917260-5A80-4B47-A62F-E5892399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6BD97FD-52D7-4D27-BC2D-E0503BA4E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58210"/>
            <a:ext cx="3932237" cy="37107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FACB75-0E86-421C-8F2B-8906B61C1F67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11" name="Picture 10" descr="Great Lakes ADA Center Logo">
            <a:extLst>
              <a:ext uri="{FF2B5EF4-FFF2-40B4-BE49-F238E27FC236}">
                <a16:creationId xmlns:a16="http://schemas.microsoft.com/office/drawing/2014/main" id="{8A64F6AE-200D-4215-85C3-5C2B397376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CC1008-3C55-4388-89C7-50AC30F7B0FE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pic>
        <p:nvPicPr>
          <p:cNvPr id="13" name="Picture 12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96E22B44-F99A-4DC3-87BD-D3753A20D5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A57BB0F-8EB9-47CD-A02F-5B60C337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0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CAE80B-33E5-4BD5-B721-BAFC6CC4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54B02-1727-4D4B-87CD-9B6C5CB15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74867-AAC3-4132-A790-7D6AD7A77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D7818-CE99-42D2-B43D-D2417FBC2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0EA154-45F9-4B33-A4D6-E616F925C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2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1" kern="1200">
          <a:solidFill>
            <a:srgbClr val="00558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82880" algn="l" defTabSz="914400" rtl="0" eaLnBrk="1" latinLnBrk="0" hangingPunct="1">
        <a:lnSpc>
          <a:spcPct val="100000"/>
        </a:lnSpc>
        <a:spcBef>
          <a:spcPts val="600"/>
        </a:spcBef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−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daparc.shinyapps.io/ADA_PARC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325F-F7C4-47F9-AB0D-F4E85898A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11539"/>
            <a:ext cx="12192000" cy="210151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6000" dirty="0"/>
              <a:t>Module 3:</a:t>
            </a:r>
            <a:br>
              <a:rPr lang="en-US" sz="6000" dirty="0"/>
            </a:br>
            <a:r>
              <a:rPr lang="en-US" sz="6000" dirty="0"/>
              <a:t>How to Make Sense of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DA53E-826D-4A69-82AC-DE11CE124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176" y="3547158"/>
            <a:ext cx="10908562" cy="82078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ADA Participation Action Research Consortium (PARC)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Participation Equity Navigator Training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CD0B6F-466A-5600-572F-99890278C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23950" y="3436391"/>
            <a:ext cx="99441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5" descr="Americans with Disabilities Act Participation Action Research Consortium logo">
            <a:extLst>
              <a:ext uri="{FF2B5EF4-FFF2-40B4-BE49-F238E27FC236}">
                <a16:creationId xmlns:a16="http://schemas.microsoft.com/office/drawing/2014/main" id="{551196FB-48BD-3D49-5A86-886D55CF7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283" y="4793942"/>
            <a:ext cx="1735433" cy="113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ADA National Network logo">
            <a:extLst>
              <a:ext uri="{FF2B5EF4-FFF2-40B4-BE49-F238E27FC236}">
                <a16:creationId xmlns:a16="http://schemas.microsoft.com/office/drawing/2014/main" id="{E38DE6DF-4A58-387E-B23B-6CD5C3A63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0459" y="5492660"/>
            <a:ext cx="1624410" cy="2102177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6734AB-28BF-47B3-94D6-2C2884B8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26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AB81-8278-44A6-9712-6833886B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893" y="872686"/>
            <a:ext cx="10515600" cy="961496"/>
          </a:xfrm>
        </p:spPr>
        <p:txBody>
          <a:bodyPr>
            <a:normAutofit/>
          </a:bodyPr>
          <a:lstStyle/>
          <a:p>
            <a:r>
              <a:rPr lang="en-US" sz="4400" dirty="0"/>
              <a:t>Training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D5594-BAFF-64CB-68FA-EE7BD3EAE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324" y="2006571"/>
            <a:ext cx="10388486" cy="4173580"/>
          </a:xfrm>
        </p:spPr>
        <p:txBody>
          <a:bodyPr>
            <a:noAutofit/>
          </a:bodyPr>
          <a:lstStyle/>
          <a:p>
            <a:pPr marL="457200" marR="0" indent="-457200">
              <a:spcAft>
                <a:spcPts val="960"/>
              </a:spcAft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Arial" panose="020B0604020202020204" pitchFamily="34" charset="0"/>
              </a:rPr>
              <a:t>Understanding Data on Disability</a:t>
            </a:r>
            <a:endParaRPr lang="en-US" b="0" dirty="0"/>
          </a:p>
          <a:p>
            <a:pPr marL="457200" marR="0" indent="-457200">
              <a:spcAft>
                <a:spcPts val="960"/>
              </a:spcAft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</a:rPr>
              <a:t>M</a:t>
            </a:r>
            <a:r>
              <a:rPr lang="en-US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aking Sense of Numbers vs Percentage</a:t>
            </a:r>
            <a:endParaRPr lang="en-US" b="0" dirty="0"/>
          </a:p>
          <a:p>
            <a:pPr marL="457200" marR="0" indent="-457200">
              <a:spcAft>
                <a:spcPts val="960"/>
              </a:spcAft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Limitations of National Data</a:t>
            </a:r>
          </a:p>
          <a:p>
            <a:pPr marL="457200" marR="0" indent="-457200">
              <a:spcAft>
                <a:spcPts val="96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M</a:t>
            </a: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aking Sense of Scorecard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F9EDF-D2CF-4C78-BDCF-E8CF4598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DFC97-DC1E-97D2-09EF-50F8B5EB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26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82D3B-74F6-2B25-798A-8C7E3563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840" y="2048759"/>
            <a:ext cx="11400942" cy="2590800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          M</a:t>
            </a:r>
            <a:r>
              <a:rPr lang="en-US" sz="4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aking Sense of Scorecard </a:t>
            </a:r>
            <a:br>
              <a:rPr lang="en-US" b="0" dirty="0"/>
            </a:br>
            <a:r>
              <a:rPr lang="en-US" b="0" dirty="0"/>
              <a:t>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EBC8E-8C2A-BDAC-3E7E-7FFA3BCC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09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D774-A34E-AC0F-0322-8C9D2DDF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What does the scorecard mean? (0 to 100)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C6E1A-DA7F-5BE9-7256-500D12EA0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671" y="1852551"/>
            <a:ext cx="10700657" cy="458566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The scorecard shows how people with disabilities are doing in different parts of life.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It uses data from the 2023 Census, collected through the American Community Survey (ACS).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The scorecard makes numbers easier to see and compare, like a report card for a community.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It helps us spot where things are going well and where changes are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44856-C9D2-C1F8-6BFE-F8FE33539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9C8B29-5CF3-E6C0-7F94-168E8E8DF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1" y="5590484"/>
            <a:ext cx="688769" cy="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9437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BE6A2-DBC1-A5B6-C5F5-1CB4EBDB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44C0-F176-F826-5BB4-F215CB448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What does the scorecard mean? (0 to 100)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2204-CE83-CD27-8AC0-AFF85B6A4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671" y="1852551"/>
            <a:ext cx="10700657" cy="4585669"/>
          </a:xfrm>
        </p:spPr>
        <p:txBody>
          <a:bodyPr>
            <a:normAutofit/>
          </a:bodyPr>
          <a:lstStyle/>
          <a:p>
            <a:r>
              <a:rPr lang="en-US" sz="2000" dirty="0"/>
              <a:t>The scorecard uses a scale from 0 to 100.</a:t>
            </a:r>
          </a:p>
          <a:p>
            <a:endParaRPr lang="en-US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50 = average (the middle, right in line with most states).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0 = much worse than average (a state is doing poorly compared to others).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100 = much better than average (a state is doing great compared to others)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20969-53A9-6C34-7CBF-00D619D0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0918A4-187B-AE14-B0AA-BC54A584B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1" y="5590484"/>
            <a:ext cx="688769" cy="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749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3D1A-FF74-9C0A-6690-17EE005C3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F5B3-4851-A051-7CC2-35BB3963B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What does the scorecard mean? (0 to 100)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2225-A6A4-190B-E15E-8FF9ED821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671" y="1852551"/>
            <a:ext cx="10700657" cy="45856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Scores are shown in two ways:</a:t>
            </a:r>
          </a:p>
          <a:p>
            <a:pPr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0–100 score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100 = much better than most states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0 = much worse than most states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Quartiles (Q1–Q4)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Q1 = worst scores (poor opportunity for people with disabilities)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Q2 = below average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Q3 = above average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Q4 = best scores (great opportunity for people with disabilities)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3B830-565C-7777-F9DF-D408728F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AA6080-3165-2BAD-E9B5-67A44C724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1" y="5590484"/>
            <a:ext cx="688769" cy="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6377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5BAEA-F1FC-BF17-88B2-632FDBCA7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A1F2-45C9-BB87-89E6-BD00ED8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Let’s look at one example</a:t>
            </a:r>
            <a:endParaRPr lang="en-US" dirty="0"/>
          </a:p>
        </p:txBody>
      </p:sp>
      <p:pic>
        <p:nvPicPr>
          <p:cNvPr id="6" name="Content Placeholder 5" descr="A map of the united states&#10;&#10;AI-generated content may be incorrect.">
            <a:extLst>
              <a:ext uri="{FF2B5EF4-FFF2-40B4-BE49-F238E27FC236}">
                <a16:creationId xmlns:a16="http://schemas.microsoft.com/office/drawing/2014/main" id="{3E273780-2BBD-0EC4-ECA6-5900EF0B6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396" y="1663769"/>
            <a:ext cx="8138670" cy="45862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31984-54DE-A918-B2E5-F9E2FF9A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5FCA16-7D9A-C58F-5963-37BC3D4D8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1" y="5590484"/>
            <a:ext cx="688769" cy="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357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4AAB-63A8-F6C1-8C2B-D8EC8C51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6D56-2B48-70D5-4994-7C3320F4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What does the scorecard mean? (0 to 100)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32168-5904-C9A9-7CC7-87FE58C7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671" y="1852551"/>
            <a:ext cx="10700657" cy="45856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400" b="0" dirty="0"/>
              <a:t>The Community Participation Score shows how well each state supports people with disabilities in everyday community life. It combines many measures into one average score for each state.</a:t>
            </a:r>
          </a:p>
          <a:p>
            <a:pPr>
              <a:buNone/>
            </a:pPr>
            <a:endParaRPr lang="en-US" sz="1400" b="0" dirty="0"/>
          </a:p>
          <a:p>
            <a:pPr>
              <a:buNone/>
            </a:pPr>
            <a:r>
              <a:rPr lang="en-US" sz="1400" b="0" dirty="0"/>
              <a:t>States are grouped into four quartiles, shown by color:</a:t>
            </a:r>
          </a:p>
          <a:p>
            <a:pPr>
              <a:buNone/>
            </a:pPr>
            <a:endParaRPr lang="en-US" sz="1400" b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Q4 (dark red): </a:t>
            </a:r>
            <a:r>
              <a:rPr lang="en-US" sz="1400" b="0" dirty="0"/>
              <a:t>Highest scores, meaning the best opportunities for people with disabilities. Example states: Minnesota, Oregon, Washington.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Q3 (red): </a:t>
            </a:r>
            <a:r>
              <a:rPr lang="en-US" sz="1400" b="0" dirty="0"/>
              <a:t>Above average opportunities. Example states: </a:t>
            </a:r>
            <a:r>
              <a:rPr lang="en-US" sz="1400" dirty="0"/>
              <a:t>New York, Pennsylvania, Colorado.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Q2 (orange): </a:t>
            </a:r>
            <a:r>
              <a:rPr lang="en-US" sz="1400" b="0" dirty="0"/>
              <a:t>Below average opportunities. Example states: </a:t>
            </a:r>
            <a:r>
              <a:rPr lang="en-US" sz="1400" dirty="0"/>
              <a:t>Florida, Texas, Kentucky.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Q1 (yellow): </a:t>
            </a:r>
            <a:r>
              <a:rPr lang="en-US" sz="1400" b="0" dirty="0"/>
              <a:t>Lowest scores, meaning the least opportunities for people with disabilities. Example states: </a:t>
            </a:r>
            <a:r>
              <a:rPr lang="en-US" sz="1400" dirty="0"/>
              <a:t>Alabama, Mississippi, and Louisiana.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>
              <a:buNone/>
            </a:pPr>
            <a:r>
              <a:rPr lang="en-US" sz="1400" b="0" dirty="0"/>
              <a:t>This scorecard helps us compare states, see where participation is strong, and notice where more support is needed.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4BFCC-DEAB-DE7C-DE53-B1392C00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5174E1-51FB-937B-7C51-5E79CB349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1" y="5590484"/>
            <a:ext cx="688769" cy="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1226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447F-DA56-AF61-70AD-19327472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Scorecards are helpful because…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16F7-4A7B-C496-AF77-102A0CA09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Scorecards give each state a grade or score.</a:t>
            </a:r>
          </a:p>
          <a:p>
            <a:endParaRPr lang="en-US" b="0" dirty="0"/>
          </a:p>
          <a:p>
            <a:r>
              <a:rPr lang="en-US" b="0" dirty="0"/>
              <a:t>They combine many numbers into one simple score.</a:t>
            </a:r>
          </a:p>
          <a:p>
            <a:endParaRPr lang="en-US" b="0" dirty="0"/>
          </a:p>
          <a:p>
            <a:r>
              <a:rPr lang="en-US" dirty="0"/>
              <a:t>Example: </a:t>
            </a:r>
            <a:r>
              <a:rPr lang="en-US" b="0" dirty="0"/>
              <a:t>A score for community participation shows which states are doing best, and which states have more challenges.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36E43-2608-3BF6-8C70-4CEDC1AB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89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4DFD-FD5D-961D-7281-0C24AF958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01540-4B9A-71AE-7C95-E3C2CAE77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9BB6D-D334-CE2D-14E1-0E769995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Explore Your State’s Scorecard</a:t>
            </a:r>
          </a:p>
          <a:p>
            <a:r>
              <a:rPr lang="en-US" b="0" dirty="0"/>
              <a:t>Go to the ADA-PARC Scorecard site</a:t>
            </a:r>
          </a:p>
          <a:p>
            <a:r>
              <a:rPr lang="en-US" b="0">
                <a:hlinkClick r:id="rId2"/>
              </a:rPr>
              <a:t>ADAPARC.ORG</a:t>
            </a:r>
            <a:r>
              <a:rPr lang="en-US" b="0"/>
              <a:t> </a:t>
            </a: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Look up your state’s scores.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Write down: One area where your state is doing well (Q3 or Q4).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One area where your state is struggling (Q1 or Q2).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r>
              <a:rPr lang="en-US" dirty="0"/>
              <a:t>Does this match what I see in my community? Why or why not?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548BE-C964-54F5-F9C8-3C92F834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162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Lakes ADA Center PPT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5580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25029</TotalTime>
  <Words>554</Words>
  <Application>Microsoft Office PowerPoint</Application>
  <PresentationFormat>Widescreen</PresentationFormat>
  <Paragraphs>70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Wingdings</vt:lpstr>
      <vt:lpstr>Office Theme</vt:lpstr>
      <vt:lpstr>Module 3: How to Make Sense of Data</vt:lpstr>
      <vt:lpstr>Training Outline</vt:lpstr>
      <vt:lpstr>          Making Sense of Scorecard     </vt:lpstr>
      <vt:lpstr> What does the scorecard mean? (0 to 100)</vt:lpstr>
      <vt:lpstr> What does the scorecard mean? (0 to 100)</vt:lpstr>
      <vt:lpstr> What does the scorecard mean? (0 to 100)</vt:lpstr>
      <vt:lpstr> Let’s look at one example</vt:lpstr>
      <vt:lpstr> What does the scorecard mean? (0 to 100)</vt:lpstr>
      <vt:lpstr>Scorecards are helpful because…</vt:lpstr>
      <vt:lpstr>Activity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234</cp:revision>
  <dcterms:created xsi:type="dcterms:W3CDTF">2023-05-18T20:19:20Z</dcterms:created>
  <dcterms:modified xsi:type="dcterms:W3CDTF">2025-09-10T00:15:58Z</dcterms:modified>
</cp:coreProperties>
</file>