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0" r:id="rId3"/>
    <p:sldId id="827" r:id="rId4"/>
    <p:sldId id="828" r:id="rId5"/>
    <p:sldId id="835" r:id="rId6"/>
    <p:sldId id="829" r:id="rId7"/>
    <p:sldId id="823" r:id="rId8"/>
    <p:sldId id="836" r:id="rId9"/>
    <p:sldId id="830" r:id="rId10"/>
    <p:sldId id="837" r:id="rId11"/>
    <p:sldId id="824" r:id="rId12"/>
    <p:sldId id="831" r:id="rId13"/>
    <p:sldId id="832" r:id="rId14"/>
    <p:sldId id="826" r:id="rId15"/>
    <p:sldId id="821" r:id="rId16"/>
    <p:sldId id="83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80"/>
    <a:srgbClr val="1F5FA0"/>
    <a:srgbClr val="0E58C4"/>
    <a:srgbClr val="FFFFFF"/>
    <a:srgbClr val="404040"/>
    <a:srgbClr val="FEFFDE"/>
    <a:srgbClr val="00BF62"/>
    <a:srgbClr val="0563C1"/>
    <a:srgbClr val="366F92"/>
    <a:srgbClr val="DBE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EA150-A5E4-4E52-8DEA-7C749D4B382B}" v="2501" dt="2025-02-28T22:59:45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67" autoAdjust="0"/>
  </p:normalViewPr>
  <p:slideViewPr>
    <p:cSldViewPr snapToGrid="0">
      <p:cViewPr varScale="1">
        <p:scale>
          <a:sx n="54" d="100"/>
          <a:sy n="54" d="100"/>
        </p:scale>
        <p:origin x="400" y="60"/>
      </p:cViewPr>
      <p:guideLst/>
    </p:cSldViewPr>
  </p:slideViewPr>
  <p:outlineViewPr>
    <p:cViewPr>
      <p:scale>
        <a:sx n="33" d="100"/>
        <a:sy n="33" d="100"/>
      </p:scale>
      <p:origin x="0" y="-298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402"/>
    </p:cViewPr>
  </p:sorterViewPr>
  <p:notesViewPr>
    <p:cSldViewPr snapToGrid="0">
      <p:cViewPr varScale="1">
        <p:scale>
          <a:sx n="85" d="100"/>
          <a:sy n="85" d="100"/>
        </p:scale>
        <p:origin x="301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277B8A-44BD-4F08-BEBA-9E3C00B47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F70E0-F9B6-4B0A-B20F-DB31E7AE8E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89513-846D-418A-A76C-BC9CA4730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505023"/>
            <a:ext cx="3429000" cy="6389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ADA Overview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46CD0-92B4-48E8-AAB4-2AAB470A6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60DB5-8A82-4868-827B-BFA45EE45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50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FD230-E997-462B-B687-9E056212BBD0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467-868E-4120-BCCD-97469C488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3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6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364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E86A-1655-CADE-BD85-832FCD50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B022F-11AF-1C93-DD35-75428CFFB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600F9-6E46-4979-884F-84631FD79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BCBF-CE01-3AB6-7F08-14AA91BC6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41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4BB24-142F-6017-B5B9-7FDDC7E3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FE580-94F8-CC72-9E0B-8039C655A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6249C-6335-0C64-E2C7-0153C1130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F6F26-3B73-AF4F-9983-AADC55685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14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0C90-AB9C-CC13-52AD-33E5EDAD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A8A4E-0940-211F-8A2F-2AADAA936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98FA7-12F4-018E-E836-1C2C86A84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F33F-BBEF-F952-ECFB-5496CBD04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9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9CF-3C65-00D8-6F82-0A51F9D3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503D0-BA19-11D1-B1F0-A8531403C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BA66A-C582-297C-BBA4-E53820B67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B2196-A088-9C91-E16E-B9781CC41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963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9380-64C7-E3D8-77A6-1A066056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BD0CB-D12F-4B4E-E548-070C4BA66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94093-3400-8FE6-F2F7-EA9468B92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8D772-38AC-9C2F-2464-8A9C7AAFA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6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B697-AADF-4B5B-BDFA-7C5EEA36D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3487"/>
            <a:ext cx="12192000" cy="100647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69B17-3B56-4E4B-8C66-CB4E0978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6012"/>
            <a:ext cx="9144000" cy="445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C83D-9332-4AA3-A687-19395E82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E90D3-3A88-4C42-9FC7-3F8911146C6E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0" name="Picture 9" descr="Great Lakes ADA Center Logo">
            <a:extLst>
              <a:ext uri="{FF2B5EF4-FFF2-40B4-BE49-F238E27FC236}">
                <a16:creationId xmlns:a16="http://schemas.microsoft.com/office/drawing/2014/main" id="{063C4914-6CDC-4E2A-8601-8D963CA7C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361BA-743B-4239-B1F2-F6EBEDCC2EC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</p:spTree>
    <p:extLst>
      <p:ext uri="{BB962C8B-B14F-4D97-AF65-F5344CB8AC3E}">
        <p14:creationId xmlns:p14="http://schemas.microsoft.com/office/powerpoint/2010/main" val="419267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45C6-2D39-4CAA-AAB8-1B99E4A1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C5F2-7BED-4188-839B-AB7B42659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3283"/>
            <a:ext cx="10515600" cy="43536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0E95-B5EC-4389-84F8-9D8ACD4E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80DD-8276-4811-83A9-3D963CE4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5A767-A071-4356-B862-8141438BE659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F7512FE2-31F3-45F6-AB6E-262603B756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0A531D-88C5-4E50-B1B1-77921D291A6D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E718D1A-8C96-4B6D-AE6F-5F520AEB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316E9A4-964C-46CE-873A-2C0820133B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3E6-4F14-4493-A95F-5AE51C38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AC31A-C92F-4518-ABEE-8CD6CA202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40FE-8272-4BBE-AC7A-76C6704F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E251F-0289-47CA-A1F7-AA5CE80E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F4C47-64C5-420C-A05B-CC30B5FCE271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61A85098-592F-4DC9-8019-4353E5F509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BE9B6-9CD1-4605-AE7B-F009A0F30DB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A5FB1DC-BCDB-4814-B3F4-C086DC3D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8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E0C3B-3AD2-40B9-B584-A8CB95D95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3283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46652-59E9-447E-8DE5-DDC23C20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86E85-3B71-426E-970C-250A0BF7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D4CC1D-9749-47F2-9F1C-4395A5EB78DC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9B4D940D-154E-4428-8CD8-15247DAD60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D8A158-8BB6-417C-B6BF-41D3646CAE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5BFECCB-0466-4C1B-B5D4-ED9D5EFE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F3681B53-9206-4AC5-96C2-FE910C0A12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A1D122C-5EA1-4887-BE48-3D0CC2063A5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3560" y="1823282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69BF63-28BC-4E67-80CA-4A26E9AE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111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89D18-FEBB-4366-AAF1-9E031C54E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823283"/>
            <a:ext cx="5311755" cy="6817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206A-6894-4182-86E8-7AD013C4B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5503" y="1821446"/>
            <a:ext cx="5311755" cy="6817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D63A9-E7CA-49AC-ACBE-FA8D1F9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21F0F-BE4E-4A93-B2EB-02933E33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77C50-0445-4424-9486-6AE6027BD038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FBFBEB4D-1F79-48A5-83E1-5B296A735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8978D7-9BD4-45C1-B334-30DF7DEC778C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54A9D79-D4FF-46CC-85A3-841236EF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4E307B-A373-41F5-A858-679BB34EDFA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573595"/>
            <a:ext cx="5334000" cy="3472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A6B19AB-6343-4688-8712-9DB1D0FEB8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404380" y="2569922"/>
            <a:ext cx="5334000" cy="347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4E81C796-9A75-4B52-9431-4799EB1F40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B6993ED-B142-4D9C-B3D8-D9AC6A17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66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02C23-2683-4B4B-AA23-37E6B1F8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F4F8C-3111-44C7-8636-B529776F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CB051-7C34-43BC-B62E-A2AC7EA49B45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7" name="Picture 6" descr="Great Lakes ADA Center Logo">
            <a:extLst>
              <a:ext uri="{FF2B5EF4-FFF2-40B4-BE49-F238E27FC236}">
                <a16:creationId xmlns:a16="http://schemas.microsoft.com/office/drawing/2014/main" id="{CB9B59AE-C96C-4C0B-A851-FBFC90FAED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1CD3B2-8302-42DA-B1F4-99AA733CF3D4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CCD664-C7F3-466C-9D7C-35A5A085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1BC79AB4-4F85-4403-BE09-084B431A7C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50C4CD-01E7-48D5-8ECC-647274FC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909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33D2-6A5C-48E9-A65B-5BEA7149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036BB-774C-4A49-A56A-24783B62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6DE4-249F-4186-B59D-508D75FF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5D79A-C33C-4C23-AA78-D88A74F4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3B159-F006-45E8-8757-6D1448F98D90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AE0E6BC4-7CEC-42F2-A969-97780A91F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6CA744-EAA5-458D-93EE-F90E3D21A132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1" name="Picture 10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A0787189-DCFC-4BC5-87CE-87692C7DE4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FE86DB-6C5F-43CB-B956-F77EF27C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A905B8-E38D-4A42-B81E-9D9A685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682" y="987426"/>
            <a:ext cx="6922398" cy="4881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64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2F218-E0CC-46F0-B4DF-A1B7B469D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0338-5875-43F6-A614-1A5E719E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5C358-FDE1-46D8-AD25-6107FC3C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917260-5A80-4B47-A62F-E5892399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BD97FD-52D7-4D27-BC2D-E0503BA4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FACB75-0E86-421C-8F2B-8906B61C1F67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8A64F6AE-200D-4215-85C3-5C2B39737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CC1008-3C55-4388-89C7-50AC30F7B0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6E22B44-F99A-4DC3-87BD-D3753A20D5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57BB0F-8EB9-47CD-A02F-5B60C337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0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AE80B-33E5-4BD5-B721-BAFC6CC4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54B02-1727-4D4B-87CD-9B6C5CB1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4867-AAC3-4132-A790-7D6AD7A77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7818-CE99-42D2-B43D-D2417FBC2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0EA154-45F9-4B33-A4D6-E616F925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2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rgbClr val="00558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82880" algn="l" defTabSz="914400" rtl="0" eaLnBrk="1" latinLnBrk="0" hangingPunct="1">
        <a:lnSpc>
          <a:spcPct val="100000"/>
        </a:lnSpc>
        <a:spcBef>
          <a:spcPts val="600"/>
        </a:spcBef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−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ncil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fb.org/" TargetMode="External"/><Relationship Id="rId5" Type="http://schemas.openxmlformats.org/officeDocument/2006/relationships/hyperlink" Target="https://www.hearingloss.org/" TargetMode="External"/><Relationship Id="rId4" Type="http://schemas.openxmlformats.org/officeDocument/2006/relationships/hyperlink" Target="https://www.nimh.nih.gov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daparc.shinyapps.io/ADA_PARC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325F-F7C4-47F9-AB0D-F4E85898A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11539"/>
            <a:ext cx="12192000" cy="21015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6000" dirty="0"/>
              <a:t>Module 3:</a:t>
            </a:r>
            <a:br>
              <a:rPr lang="en-US" sz="6000" dirty="0"/>
            </a:br>
            <a:r>
              <a:rPr lang="en-US" sz="6000" dirty="0"/>
              <a:t>How to Make Sense of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DA53E-826D-4A69-82AC-DE11CE124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176" y="3547158"/>
            <a:ext cx="10908562" cy="82078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 (PARC)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CD0B6F-466A-5600-572F-99890278C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23950" y="3436391"/>
            <a:ext cx="99441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5" descr="Americans with Disabilities Act Participation Action Research Consortium logo">
            <a:extLst>
              <a:ext uri="{FF2B5EF4-FFF2-40B4-BE49-F238E27FC236}">
                <a16:creationId xmlns:a16="http://schemas.microsoft.com/office/drawing/2014/main" id="{551196FB-48BD-3D49-5A86-886D55CF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83" y="4793942"/>
            <a:ext cx="1735433" cy="113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DA National Network logo">
            <a:extLst>
              <a:ext uri="{FF2B5EF4-FFF2-40B4-BE49-F238E27FC236}">
                <a16:creationId xmlns:a16="http://schemas.microsoft.com/office/drawing/2014/main" id="{E38DE6DF-4A58-387E-B23B-6CD5C3A6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459" y="5492660"/>
            <a:ext cx="1624410" cy="210217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6734AB-28BF-47B3-94D6-2C2884B8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26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AB81-8278-44A6-9712-6833886B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93" y="872686"/>
            <a:ext cx="10515600" cy="961496"/>
          </a:xfrm>
        </p:spPr>
        <p:txBody>
          <a:bodyPr>
            <a:normAutofit/>
          </a:bodyPr>
          <a:lstStyle/>
          <a:p>
            <a:r>
              <a:rPr lang="en-US" sz="4400" dirty="0"/>
              <a:t>Training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D5594-BAFF-64CB-68FA-EE7BD3EA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4" y="2006571"/>
            <a:ext cx="10388486" cy="4173580"/>
          </a:xfrm>
        </p:spPr>
        <p:txBody>
          <a:bodyPr>
            <a:noAutofit/>
          </a:bodyPr>
          <a:lstStyle/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Arial" panose="020B0604020202020204" pitchFamily="34" charset="0"/>
              </a:rPr>
              <a:t>Understanding Data on Disability</a:t>
            </a:r>
            <a:endParaRPr lang="en-US" b="0" dirty="0"/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</a:rPr>
              <a:t>M</a:t>
            </a:r>
            <a:r>
              <a:rPr lang="en-US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aking Sense of Numbers vs Percentage</a:t>
            </a:r>
            <a:endParaRPr lang="en-US" b="0" dirty="0"/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Limitations of National Data</a:t>
            </a:r>
          </a:p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</a:rPr>
              <a:t>M</a:t>
            </a:r>
            <a:r>
              <a:rPr lang="en-US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aking Sense of Scorecard </a:t>
            </a:r>
            <a:endParaRPr lang="en-US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F9EDF-D2CF-4C78-BDCF-E8CF4598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DFC97-DC1E-97D2-09EF-50F8B5EB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6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82D3B-74F6-2B25-798A-8C7E3563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58" y="1229361"/>
            <a:ext cx="11400942" cy="2590800"/>
          </a:xfrm>
        </p:spPr>
        <p:txBody>
          <a:bodyPr/>
          <a:lstStyle/>
          <a:p>
            <a:r>
              <a:rPr lang="en-US" sz="5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Limitations of National Data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EBC8E-8C2A-BDAC-3E7E-7FFA3BCC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0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E3AF-F026-D8F4-CB6B-AC8A86EB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National Data Has 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8113F-9EA7-D233-EA82-ACF584E4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0" dirty="0"/>
              <a:t>Big surveys (like the American Community Survey) tell us how people are doing across the whole country.</a:t>
            </a:r>
          </a:p>
          <a:p>
            <a:endParaRPr lang="en-US" altLang="en-US" b="0" dirty="0"/>
          </a:p>
          <a:p>
            <a:r>
              <a:rPr lang="en-US" b="0" dirty="0"/>
              <a:t>But sometimes, this “big picture” hides the small details of local communities</a:t>
            </a:r>
            <a:endParaRPr lang="en-US" altLang="en-US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CA3FB-D189-527D-E8D8-1F6C783C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20EF3-E304-C5D7-B57F-7C11780BC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05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2372-CF42-CBFD-1448-9313266B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2110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with National Data: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F4A3-7E48-46D6-689A-FE2E6D23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Small groups get lost: </a:t>
            </a:r>
            <a:r>
              <a:rPr lang="en-US" b="0" dirty="0"/>
              <a:t>If only a few people from a small-town answer, the results may not be right.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Averages hide differences</a:t>
            </a:r>
            <a:r>
              <a:rPr lang="en-US" b="0" dirty="0"/>
              <a:t>: National numbers can cover up how life is different in cities vs. rural areas.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r>
              <a:rPr lang="en-US" dirty="0"/>
              <a:t>Example:</a:t>
            </a:r>
          </a:p>
          <a:p>
            <a:r>
              <a:rPr lang="en-US" b="0" dirty="0"/>
              <a:t>People with disabilities in a big city may face different problems than those in a small rural town, but national data may not show this.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C55C-0EED-1490-C947-8088B1CA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A6AE-0C53-5F20-7773-CE696154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Does NA Mean and Why It Appears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9E007-C5C3-51DB-ED66-5EE3007C5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Sometimes data is marked NA, which means the information is missing.</a:t>
            </a:r>
          </a:p>
          <a:p>
            <a:endParaRPr lang="en-US" b="0" dirty="0"/>
          </a:p>
          <a:p>
            <a:r>
              <a:rPr lang="en-US" dirty="0"/>
              <a:t>Why Data Can Be NA: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Too few answers: Not enough people responded to give good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Different ways of asking: Some places collect data in different ways, so we can’t compare them.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72A36-E64D-EEB7-BFAD-CE48B72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DC341-D164-33C4-5FE6-7BD7E39F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046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740A-4334-84D2-FEA8-8205842B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46FD-2012-5510-134C-CF28837D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93" y="872686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Limitations in Small-Region Data</a:t>
            </a:r>
            <a:br>
              <a:rPr lang="en-US" sz="1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66940-9967-25EA-C4BF-D5B928EF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57" y="1626560"/>
            <a:ext cx="10388486" cy="4173580"/>
          </a:xfrm>
        </p:spPr>
        <p:txBody>
          <a:bodyPr>
            <a:noAutofit/>
          </a:bodyPr>
          <a:lstStyle/>
          <a:p>
            <a:r>
              <a:rPr lang="en-US" sz="2400" b="0" dirty="0"/>
              <a:t>When we look at smaller places (like towns or neighborhoods), there are fewer people answering the survey.</a:t>
            </a:r>
          </a:p>
          <a:p>
            <a:endParaRPr lang="en-US" sz="2400" b="0" dirty="0"/>
          </a:p>
          <a:p>
            <a:r>
              <a:rPr lang="en-US" sz="2400" b="0" dirty="0"/>
              <a:t>Fewer answers = results are less exact.</a:t>
            </a:r>
          </a:p>
          <a:p>
            <a:endParaRPr lang="en-US" sz="2400" b="0" dirty="0"/>
          </a:p>
          <a:p>
            <a:r>
              <a:rPr lang="en-US" sz="2400" b="0" dirty="0"/>
              <a:t>Sometimes the survey will just say </a:t>
            </a:r>
            <a:r>
              <a:rPr lang="en-US" sz="2400" dirty="0"/>
              <a:t>NA (not available)</a:t>
            </a:r>
            <a:r>
              <a:rPr lang="en-US" sz="2400" b="0" dirty="0"/>
              <a:t> because there weren’t enough answers.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98F85E-E6A1-F367-CBFA-382545E7A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BC70E-9A7C-C5ED-F41A-81802AA6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95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55B0-C0FE-F266-A6EE-17B5E2F7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7E94-FA93-2990-552D-C12C81B6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93" y="872686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Limitations in Small-Region Data (Cont..)</a:t>
            </a:r>
            <a:br>
              <a:rPr lang="en-US" sz="1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54BB-A51C-18CB-C766-81D49D9E9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57" y="1626560"/>
            <a:ext cx="10388486" cy="4173580"/>
          </a:xfrm>
        </p:spPr>
        <p:txBody>
          <a:bodyPr>
            <a:no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b="0" dirty="0"/>
              <a:t>A small rural town may not show data about disability services, because too few people answered.</a:t>
            </a:r>
          </a:p>
          <a:p>
            <a:endParaRPr lang="en-US" sz="2400" b="0" dirty="0"/>
          </a:p>
          <a:p>
            <a:r>
              <a:rPr lang="en-US" sz="2400" dirty="0"/>
              <a:t>Be Careful!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Numbers from small towns might not tell the whole 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Talking with people in the community can help us understand what’s missing.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68F1D-6A26-F1A4-AE9C-042350F2F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826B-389E-66ED-EA2C-97AAF3B6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29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223B-A7FB-0015-A2D4-2B0ACC16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Differences in Definitions and Reporting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D3AC3-EDD6-B2E9-8C5E-58A5B604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Different surveys don’t always agree on what “disability” means.</a:t>
            </a:r>
          </a:p>
          <a:p>
            <a:endParaRPr lang="en-US" b="0" dirty="0"/>
          </a:p>
          <a:p>
            <a:r>
              <a:rPr lang="en-US" dirty="0"/>
              <a:t>For Example: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 American Community Survey (ACS) looks at 6 types of disability (like trouble seeing, hearing, walking, or remembering).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Other surveys use different rules. This makes the numbers hard to compare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AFB6-5CB4-6AB1-BC5D-F7E4A44F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6F4028-9223-AAD4-5FBC-ADBE477F9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06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9C46D-ED09-8B77-A9AB-C06D4CE9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62F5-01C8-6C72-3A91-1E46E464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93267"/>
            <a:ext cx="10740887" cy="9614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Differences in Definitions and Reporting (Cont.)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86DE-7500-474C-1BC6-D9DBAD1DD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Some Groups Get Missed:</a:t>
            </a:r>
          </a:p>
          <a:p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Mental health (psychiatric) disabilities: People may not share because of stigma.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Intellectual and developmental disabilities (IDD): Big surveys often don’t ask the right questions.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Cultural differences: Some people don’t call themselves “disabled,” even if they have health challenge.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6C4A6-0EAA-1928-7613-23524A2E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2ABB23-24A3-6BBE-D186-7421D4333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46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F222-C896-3ED1-AD53-AB861B31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0323-C688-3E4E-1872-5D7B7FB5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6" y="1093326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rgbClr val="1F5FA0"/>
                </a:solidFill>
                <a:latin typeface="Arial" panose="020B0604020202020204" pitchFamily="34" charset="0"/>
              </a:rPr>
              <a:t>  </a:t>
            </a:r>
            <a:r>
              <a:rPr lang="en-US" sz="2700" i="0" u="none" strike="noStrike" dirty="0">
                <a:effectLst/>
                <a:latin typeface="Arial" panose="020B0604020202020204" pitchFamily="34" charset="0"/>
              </a:rPr>
              <a:t>Look at your state and your city. Do you find any item(s) that is NA in your city or any other city in your state? </a:t>
            </a:r>
            <a:br>
              <a:rPr lang="en-US" sz="2700" b="0" dirty="0">
                <a:effectLst/>
              </a:rPr>
            </a:b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D283-23C3-ADAD-1962-179092F86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4" y="2006571"/>
            <a:ext cx="10388486" cy="4173580"/>
          </a:xfrm>
        </p:spPr>
        <p:txBody>
          <a:bodyPr>
            <a:noAutofit/>
          </a:bodyPr>
          <a:lstStyle/>
          <a:p>
            <a:pPr marL="457200" marR="0" indent="-457200">
              <a:spcAft>
                <a:spcPts val="96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What does NA mean?</a:t>
            </a:r>
            <a:endParaRPr lang="en-US" sz="24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0B10B4-9852-37C8-38CF-E22B1583B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51ECB-B8D7-820D-7965-67157960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90563CC-4F1D-941A-54B6-6CE92C395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60" y="2462106"/>
            <a:ext cx="5990302" cy="346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99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F55B-E89C-C36C-F104-EA242010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Challenges in Reporting Disparities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8758-809A-00C3-3AA7-59333D5C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Some survey questions are hard to understand.</a:t>
            </a:r>
          </a:p>
          <a:p>
            <a:endParaRPr lang="en-US" b="0" dirty="0"/>
          </a:p>
          <a:p>
            <a:r>
              <a:rPr lang="en-US" b="0" dirty="0"/>
              <a:t>For example, if a question says “lack of access to transportation”, people might get confused.</a:t>
            </a:r>
          </a:p>
          <a:p>
            <a:endParaRPr lang="en-US" b="0" dirty="0"/>
          </a:p>
          <a:p>
            <a:r>
              <a:rPr lang="en-US" b="0" dirty="0"/>
              <a:t>This can cause mistakes in the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ADEA0-1F60-CF65-DECF-A79FAEF2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E16D5-F68A-BD20-9CEA-B277042E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12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EBC7-99E4-C49A-6AE1-682703F7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4524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Best Practices for Using Data with 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7D12-2DE9-FD89-3D9F-B3D4F6B1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Look at the big picture: Don’t make big claims from small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Check for missing data: Remember NA means “we don’t know,” not “zero.”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Compare carefully: Numbers may not always mean the same thing across surveys.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Add local voices: Talk to people in the community to fill in missing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Be honest: Share both the strengths and the limits of the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AA316-32CE-7E0A-668F-EE098494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3817A-AA4E-2CFD-13E3-2FF80751F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62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694E-676F-A131-E9EF-3DED608C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0F8D-94E9-EC25-CF6A-224E50ADD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1" y="861787"/>
            <a:ext cx="10515600" cy="961496"/>
          </a:xfrm>
        </p:spPr>
        <p:txBody>
          <a:bodyPr>
            <a:normAutofit/>
          </a:bodyPr>
          <a:lstStyle/>
          <a:p>
            <a:r>
              <a:rPr lang="en-US" dirty="0"/>
              <a:t>Supplementary 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ACE1FF-F6C3-AA2C-257D-C5FDDD937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A179-CCC3-DB30-BEE1-021A307A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1F62B9-1807-65FE-60BC-BA009455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b="0" i="0" dirty="0"/>
          </a:p>
          <a:p>
            <a:pPr lvl="0"/>
            <a:r>
              <a:rPr lang="en-US" b="0" i="0" dirty="0">
                <a:hlinkClick r:id="rId4"/>
              </a:rPr>
              <a:t>National Institute of Mental Health (NIMH</a:t>
            </a:r>
            <a:r>
              <a:rPr lang="en-US" b="0" i="0" dirty="0"/>
              <a:t>)</a:t>
            </a:r>
          </a:p>
          <a:p>
            <a:pPr lvl="0"/>
            <a:r>
              <a:rPr lang="en-US" b="0" i="0" dirty="0">
                <a:hlinkClick r:id="rId5"/>
              </a:rPr>
              <a:t>Hearing Loss Association of America (HLAA)</a:t>
            </a:r>
            <a:endParaRPr lang="en-US" b="0" i="0" dirty="0"/>
          </a:p>
          <a:p>
            <a:pPr lvl="0"/>
            <a:r>
              <a:rPr lang="en-US" b="0" i="0" dirty="0">
                <a:hlinkClick r:id="rId6"/>
              </a:rPr>
              <a:t>National Federation of the Blind (NFB)</a:t>
            </a:r>
            <a:endParaRPr lang="en-US" b="0" i="0" dirty="0"/>
          </a:p>
          <a:p>
            <a:pPr lvl="0"/>
            <a:r>
              <a:rPr lang="en-US" b="0" i="0" dirty="0">
                <a:hlinkClick r:id="rId7"/>
              </a:rPr>
              <a:t>National Council on Independent Living (NCIL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028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B744-9BC8-EF18-E2F2-DCE2DD9B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EA84-82A0-02F4-7752-D443A432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493"/>
            <a:ext cx="10515600" cy="961496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Important Note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110E2-A930-8ABD-0BFC-1F94A818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8EA66-2900-DA94-2066-0B584985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8A0BE5-B506-D125-BFF4-B5D1F847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When comparing data between states or cities, always use percentages first. Percentages show the proportion of affected people, regardless of population size, preventing misleading comparisons. </a:t>
            </a:r>
          </a:p>
          <a:p>
            <a:endParaRPr lang="en-US" b="0" dirty="0"/>
          </a:p>
          <a:p>
            <a:r>
              <a:rPr lang="en-US" b="0" dirty="0"/>
              <a:t>Percentages for clarity and then use raw numbers for specific details.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2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716E-664B-A903-269B-BD83F2CB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Activity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F710A-2B91-2A6F-1A4F-E3C41F44C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Look up data for your state or city</a:t>
            </a:r>
          </a:p>
          <a:p>
            <a:r>
              <a:rPr lang="en-US" b="0" dirty="0">
                <a:hlinkClick r:id="rId3"/>
              </a:rPr>
              <a:t>ADAPARC.ORG</a:t>
            </a:r>
            <a:r>
              <a:rPr lang="en-US" b="0" dirty="0"/>
              <a:t> </a:t>
            </a:r>
          </a:p>
          <a:p>
            <a:r>
              <a:rPr lang="en-US" b="0" dirty="0"/>
              <a:t>Find one item marked NA or with a number that seems low or unusual.</a:t>
            </a:r>
          </a:p>
          <a:p>
            <a:r>
              <a:rPr lang="en-US" b="0" dirty="0"/>
              <a:t>Reflect: Why might this be missing or different?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Too few answers?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Different definitions?</a:t>
            </a:r>
          </a:p>
          <a:p>
            <a:r>
              <a:rPr lang="en-US" b="0" dirty="0"/>
              <a:t>Write down one way you could fill this gap — for example, by adding community voices, stories, or local surveys.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DA04-B7BE-E78A-3E81-5FF90B8B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08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Lakes ADA Center PPT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5580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25003</TotalTime>
  <Words>784</Words>
  <Application>Microsoft Office PowerPoint</Application>
  <PresentationFormat>Widescreen</PresentationFormat>
  <Paragraphs>107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Wingdings</vt:lpstr>
      <vt:lpstr>Office Theme</vt:lpstr>
      <vt:lpstr>Module 3: How to Make Sense of Data</vt:lpstr>
      <vt:lpstr>Training Outline</vt:lpstr>
      <vt:lpstr>    Limitations of National Data</vt:lpstr>
      <vt:lpstr>Why National Data Has Limitations </vt:lpstr>
      <vt:lpstr>Problems with National Data: </vt:lpstr>
      <vt:lpstr>What Does NA Mean and Why It Appears </vt:lpstr>
      <vt:lpstr>Limitations in Small-Region Data </vt:lpstr>
      <vt:lpstr>Limitations in Small-Region Data (Cont..) </vt:lpstr>
      <vt:lpstr>Differences in Definitions and Reporting </vt:lpstr>
      <vt:lpstr>Differences in Definitions and Reporting (Cont.) </vt:lpstr>
      <vt:lpstr>  Look at your state and your city. Do you find any item(s) that is NA in your city or any other city in your state?  </vt:lpstr>
      <vt:lpstr>Challenges in Reporting Disparities </vt:lpstr>
      <vt:lpstr>Best Practices for Using Data with Limitations </vt:lpstr>
      <vt:lpstr>Supplementary Resources</vt:lpstr>
      <vt:lpstr>Important Note  </vt:lpstr>
      <vt:lpstr>Activity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240</cp:revision>
  <dcterms:created xsi:type="dcterms:W3CDTF">2023-05-18T20:19:20Z</dcterms:created>
  <dcterms:modified xsi:type="dcterms:W3CDTF">2025-09-10T00:19:32Z</dcterms:modified>
</cp:coreProperties>
</file>