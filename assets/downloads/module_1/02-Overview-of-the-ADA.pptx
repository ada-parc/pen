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888" r:id="rId2"/>
    <p:sldId id="824" r:id="rId3"/>
    <p:sldId id="699" r:id="rId4"/>
    <p:sldId id="825" r:id="rId5"/>
    <p:sldId id="840" r:id="rId6"/>
    <p:sldId id="677" r:id="rId7"/>
    <p:sldId id="719" r:id="rId8"/>
    <p:sldId id="670" r:id="rId9"/>
    <p:sldId id="835" r:id="rId10"/>
    <p:sldId id="88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580"/>
    <a:srgbClr val="0E58C4"/>
    <a:srgbClr val="FFFFFF"/>
    <a:srgbClr val="404040"/>
    <a:srgbClr val="FEFFDE"/>
    <a:srgbClr val="1F5FA0"/>
    <a:srgbClr val="00BF62"/>
    <a:srgbClr val="0563C1"/>
    <a:srgbClr val="366F92"/>
    <a:srgbClr val="DBE7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D0819C-7FE6-43C1-8F89-5F7D4EB0232D}" v="41" dt="2025-03-12T20:18:58.0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03" autoAdjust="0"/>
    <p:restoredTop sz="69664" autoAdjust="0"/>
  </p:normalViewPr>
  <p:slideViewPr>
    <p:cSldViewPr snapToGrid="0">
      <p:cViewPr varScale="1">
        <p:scale>
          <a:sx n="78" d="100"/>
          <a:sy n="78" d="100"/>
        </p:scale>
        <p:origin x="1074" y="78"/>
      </p:cViewPr>
      <p:guideLst/>
    </p:cSldViewPr>
  </p:slideViewPr>
  <p:outlineViewPr>
    <p:cViewPr>
      <p:scale>
        <a:sx n="33" d="100"/>
        <a:sy n="33" d="100"/>
      </p:scale>
      <p:origin x="0" y="-29868"/>
    </p:cViewPr>
  </p:outlineViewPr>
  <p:notesTextViewPr>
    <p:cViewPr>
      <p:scale>
        <a:sx n="3" d="2"/>
        <a:sy n="3" d="2"/>
      </p:scale>
      <p:origin x="0" y="0"/>
    </p:cViewPr>
  </p:notesTextViewPr>
  <p:sorterViewPr>
    <p:cViewPr>
      <p:scale>
        <a:sx n="100" d="100"/>
        <a:sy n="100" d="100"/>
      </p:scale>
      <p:origin x="0" y="-3402"/>
    </p:cViewPr>
  </p:sorterViewPr>
  <p:notesViewPr>
    <p:cSldViewPr snapToGrid="0">
      <p:cViewPr varScale="1">
        <p:scale>
          <a:sx n="85" d="100"/>
          <a:sy n="85" d="100"/>
        </p:scale>
        <p:origin x="301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277B8A-44BD-4F08-BEBA-9E3C00B47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42F70E0-F9B6-4B0A-B20F-DB31E7AE8E0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dirty="0"/>
          </a:p>
        </p:txBody>
      </p:sp>
      <p:sp>
        <p:nvSpPr>
          <p:cNvPr id="4" name="Footer Placeholder 3">
            <a:extLst>
              <a:ext uri="{FF2B5EF4-FFF2-40B4-BE49-F238E27FC236}">
                <a16:creationId xmlns:a16="http://schemas.microsoft.com/office/drawing/2014/main" id="{E8289513-846D-418A-A76C-BC9CA473043A}"/>
              </a:ext>
            </a:extLst>
          </p:cNvPr>
          <p:cNvSpPr>
            <a:spLocks noGrp="1"/>
          </p:cNvSpPr>
          <p:nvPr>
            <p:ph type="ftr" sz="quarter" idx="2"/>
          </p:nvPr>
        </p:nvSpPr>
        <p:spPr>
          <a:xfrm>
            <a:off x="0" y="8505023"/>
            <a:ext cx="3429000" cy="638978"/>
          </a:xfrm>
          <a:prstGeom prst="rect">
            <a:avLst/>
          </a:prstGeom>
        </p:spPr>
        <p:txBody>
          <a:bodyPr vert="horz" lIns="91440" tIns="45720" rIns="91440" bIns="45720" rtlCol="0" anchor="b"/>
          <a:lstStyle>
            <a:lvl1pPr algn="l">
              <a:defRPr sz="1200"/>
            </a:lvl1pPr>
          </a:lstStyle>
          <a:p>
            <a:r>
              <a:rPr lang="en-US" dirty="0"/>
              <a:t>ADA Overview</a:t>
            </a:r>
          </a:p>
          <a:p>
            <a:pPr>
              <a:lnSpc>
                <a:spcPct val="100000"/>
              </a:lnSpc>
              <a:spcBef>
                <a:spcPts val="0"/>
              </a:spcBef>
            </a:pPr>
            <a:r>
              <a:rPr lang="en-US" sz="1200" dirty="0">
                <a:solidFill>
                  <a:schemeClr val="tx1">
                    <a:lumMod val="75000"/>
                    <a:lumOff val="25000"/>
                  </a:schemeClr>
                </a:solidFill>
              </a:rPr>
              <a:t>ADA Participation Action Research Consortium</a:t>
            </a:r>
          </a:p>
          <a:p>
            <a:pPr>
              <a:lnSpc>
                <a:spcPct val="100000"/>
              </a:lnSpc>
              <a:spcBef>
                <a:spcPts val="0"/>
              </a:spcBef>
            </a:pPr>
            <a:r>
              <a:rPr lang="en-US" sz="1200" dirty="0">
                <a:solidFill>
                  <a:schemeClr val="tx1">
                    <a:lumMod val="75000"/>
                    <a:lumOff val="25000"/>
                  </a:schemeClr>
                </a:solidFill>
              </a:rPr>
              <a:t>Participation Equity Navigator Training</a:t>
            </a:r>
          </a:p>
        </p:txBody>
      </p:sp>
      <p:sp>
        <p:nvSpPr>
          <p:cNvPr id="5" name="Slide Number Placeholder 4">
            <a:extLst>
              <a:ext uri="{FF2B5EF4-FFF2-40B4-BE49-F238E27FC236}">
                <a16:creationId xmlns:a16="http://schemas.microsoft.com/office/drawing/2014/main" id="{84746CD0-92B4-48E8-AAB4-2AAB470A69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560DB5-8A82-4868-827B-BFA45EE4562B}" type="slidenum">
              <a:rPr lang="en-US" smtClean="0"/>
              <a:t>‹#›</a:t>
            </a:fld>
            <a:endParaRPr lang="en-US" dirty="0"/>
          </a:p>
        </p:txBody>
      </p:sp>
    </p:spTree>
    <p:extLst>
      <p:ext uri="{BB962C8B-B14F-4D97-AF65-F5344CB8AC3E}">
        <p14:creationId xmlns:p14="http://schemas.microsoft.com/office/powerpoint/2010/main" val="3447350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8FD230-E997-462B-B687-9E056212BBD0}" type="datetimeFigureOut">
              <a:rPr lang="en-US" smtClean="0"/>
              <a:t>3/12/2025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60467-868E-4120-BCCD-97469C488C52}" type="slidenum">
              <a:rPr lang="en-US" smtClean="0"/>
              <a:t>‹#›</a:t>
            </a:fld>
            <a:endParaRPr lang="en-US" dirty="0"/>
          </a:p>
        </p:txBody>
      </p:sp>
    </p:spTree>
    <p:extLst>
      <p:ext uri="{BB962C8B-B14F-4D97-AF65-F5344CB8AC3E}">
        <p14:creationId xmlns:p14="http://schemas.microsoft.com/office/powerpoint/2010/main" val="717933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and welcome to the Americans with Disabilities Act – </a:t>
            </a:r>
            <a:r>
              <a:rPr lang="en-US" sz="1200" b="0" dirty="0">
                <a:solidFill>
                  <a:srgbClr val="1A2026"/>
                </a:solidFill>
              </a:rPr>
              <a:t>Overview of the ADA</a:t>
            </a:r>
            <a:r>
              <a:rPr lang="en-US" dirty="0"/>
              <a:t>. A presentation within module 1-Unit 2: ADA Basics of the ADA PARC Participation Equity Navigator Training. Please note that there is an accessible PDF and Rich Text Format handout of this presentation available in Brightspace within module 1, unit 2 of this training course. </a:t>
            </a:r>
          </a:p>
          <a:p>
            <a:r>
              <a:rPr lang="en-US" dirty="0"/>
              <a:t>Moving onto slide 2</a:t>
            </a:r>
          </a:p>
        </p:txBody>
      </p:sp>
      <p:sp>
        <p:nvSpPr>
          <p:cNvPr id="4" name="Slide Number Placeholder 3"/>
          <p:cNvSpPr>
            <a:spLocks noGrp="1"/>
          </p:cNvSpPr>
          <p:nvPr>
            <p:ph type="sldNum" sz="quarter" idx="5"/>
          </p:nvPr>
        </p:nvSpPr>
        <p:spPr/>
        <p:txBody>
          <a:bodyPr/>
          <a:lstStyle/>
          <a:p>
            <a:fld id="{40E60467-868E-4120-BCCD-97469C488C52}" type="slidenum">
              <a:rPr lang="en-US" smtClean="0"/>
              <a:t>1</a:t>
            </a:fld>
            <a:endParaRPr lang="en-US" dirty="0"/>
          </a:p>
        </p:txBody>
      </p:sp>
    </p:spTree>
    <p:extLst>
      <p:ext uri="{BB962C8B-B14F-4D97-AF65-F5344CB8AC3E}">
        <p14:creationId xmlns:p14="http://schemas.microsoft.com/office/powerpoint/2010/main" val="1996388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5888"/>
            <a:ext cx="5486400" cy="3086100"/>
          </a:xfrm>
        </p:spPr>
      </p:sp>
      <p:sp>
        <p:nvSpPr>
          <p:cNvPr id="3" name="Notes Placeholder 2"/>
          <p:cNvSpPr>
            <a:spLocks noGrp="1"/>
          </p:cNvSpPr>
          <p:nvPr>
            <p:ph type="body" idx="1"/>
          </p:nvPr>
        </p:nvSpPr>
        <p:spPr>
          <a:xfrm>
            <a:off x="104422" y="3201988"/>
            <a:ext cx="6649155" cy="5826124"/>
          </a:xfrm>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dirty="0">
                <a:effectLst/>
              </a:rPr>
              <a:t>The ADA guarantees that people with disabilities have the </a:t>
            </a:r>
            <a:r>
              <a:rPr lang="en-US" sz="1200" i="0" dirty="0">
                <a:solidFill>
                  <a:srgbClr val="005580"/>
                </a:solidFill>
                <a:effectLst/>
              </a:rPr>
              <a:t>same opportunities </a:t>
            </a:r>
            <a:r>
              <a:rPr lang="en-US" sz="1200" b="0" i="0" dirty="0">
                <a:effectLst/>
              </a:rPr>
              <a:t>as everyone else to enjoy employment opportunities, purchase goods and services, and participate in programs</a:t>
            </a:r>
            <a:r>
              <a:rPr lang="en-US" sz="1200" b="0" i="0" kern="0" dirty="0">
                <a:effectLst/>
              </a:rPr>
              <a:t> </a:t>
            </a:r>
            <a:r>
              <a:rPr lang="en-US" sz="1200" dirty="0"/>
              <a:t>but does not guarantee that individuals with disabilities must achieve an identical result or level of achievement as persons without disabilities.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Individuals with disabilities cannot be excluded from the regular program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For example: A deaf person may not be excluded from a music concert because of a belief that deaf persons cannot enjoy the music.</a:t>
            </a:r>
          </a:p>
          <a:p>
            <a:r>
              <a:rPr lang="en-US" b="1" dirty="0"/>
              <a:t>CLICK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A primary goal of the ADA is the equal participation of individuals with disabilities in the "mainstream" of American society.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In passing the ADA, Congress recognized that “historically, society has tended to isolate and segregate individuals with disabilities, and, despite some improvements, such forms of discrimination against individuals with disabilities continue to be a serious and pervasive social problem.”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The ADA bans the unnecessary segregation of people with disabilities in a regulation called “the integration mandate.”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This means that State and local governments are required to “administer services, programs, and activities in the most integrated setting appropriate to the needs of qualified individuals with disabilities.”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The Department of Justice has consistently interpreted “the most integrated setting appropriate” to mean one that “enables individuals with disabilities to interact with nondisabled persons to the fullest extent possible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CLICK</a:t>
            </a: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In a 1999 case called Olmstead v. L.C., the Supreme Court wrote that the unnecessary segregation of people with disabilities is a form of discrimination. The Court said that a person with a disability must be served in the community when:</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t>community-based services are appropriate to the person’s needs;</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t>the person does not oppose community-based services; and</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t>the state or local government entity can reasonably modify its programs and services to provide services in the community.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CLICK</a:t>
            </a: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Community-based services are funded by federal, state, or local dollars many times through Medicaid to support people with disabilities living at home or in other community-based settings. A few examples of community- based services include:</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t>Nursing </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t>Personal </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t>Mental health</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t>Medication management </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t>Peer mentorship</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t>Caregiver supports such as training and respite</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t>Home modifications and </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dirty="0"/>
              <a:t>Housing services that help individuals find, move into, and remain in community-based housing.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To comply with the ADA’s integration mandate, public entities must make reasonable modifications to their policies, practices, or procedures when necessary to avoid discrimination on the basis of disability. </a:t>
            </a:r>
            <a:r>
              <a:rPr lang="en-US" sz="1200" b="0" dirty="0"/>
              <a:t>We will discuss reasonable modifications in the </a:t>
            </a:r>
            <a:r>
              <a:rPr lang="en-US" b="0" i="1" dirty="0">
                <a:solidFill>
                  <a:srgbClr val="1A2026"/>
                </a:solidFill>
              </a:rPr>
              <a:t>Americans with Disabilities Act–Requirements </a:t>
            </a:r>
            <a:r>
              <a:rPr lang="en-US" b="0" i="0" dirty="0">
                <a:solidFill>
                  <a:srgbClr val="1A2026"/>
                </a:solidFill>
              </a:rPr>
              <a:t>presentation</a:t>
            </a:r>
            <a:r>
              <a:rPr lang="en-US" sz="1200" b="0" dirty="0"/>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Displayed on this slide is an image stating that disability rights are civil rights.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Moving onto slide 3</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2</a:t>
            </a:fld>
            <a:endParaRPr lang="en-US" dirty="0"/>
          </a:p>
        </p:txBody>
      </p:sp>
    </p:spTree>
    <p:extLst>
      <p:ext uri="{BB962C8B-B14F-4D97-AF65-F5344CB8AC3E}">
        <p14:creationId xmlns:p14="http://schemas.microsoft.com/office/powerpoint/2010/main" val="276944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ADA protects people who:</a:t>
            </a:r>
          </a:p>
          <a:p>
            <a:r>
              <a:rPr lang="en-US" b="1" dirty="0"/>
              <a:t>CLICK</a:t>
            </a:r>
          </a:p>
          <a:p>
            <a:pPr marL="171450" indent="-171450">
              <a:buFont typeface="Arial" panose="020B0604020202020204" pitchFamily="34" charset="0"/>
              <a:buChar char="•"/>
            </a:pPr>
            <a:r>
              <a:rPr lang="en-US" dirty="0"/>
              <a:t>have a disability or record of disability AND meet the essential job-related requirements for a position OR eligibility requirements for the receipt of services or participation in programs</a:t>
            </a:r>
          </a:p>
          <a:p>
            <a:pPr marL="171450" indent="-171450">
              <a:buFont typeface="Arial" panose="020B0604020202020204" pitchFamily="34" charset="0"/>
              <a:buChar char="•"/>
            </a:pPr>
            <a:r>
              <a:rPr lang="en-US" dirty="0"/>
              <a:t>Employees with disabilities must be qualified for a job or have the skills to do the job and must be able to perform the “essential functions” of the job, with or without reasonable accommodation.  </a:t>
            </a:r>
          </a:p>
          <a:p>
            <a:pPr marL="171450" indent="-171450">
              <a:buFont typeface="Arial" panose="020B0604020202020204" pitchFamily="34" charset="0"/>
              <a:buChar char="•"/>
            </a:pPr>
            <a:r>
              <a:rPr lang="en-US" dirty="0"/>
              <a:t>Individuals need to meet the essential eligibility requirements for the receipt of services or participation in programs. For example, is 18 years old or older.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 person who has a record of a qualifying disability applies when there is a history of mental illness, cancer, heart disease, or other debilitating illness.  And maybe entitled to a reasonable accommodation if the request relates to a past disability. </a:t>
            </a:r>
          </a:p>
          <a:p>
            <a:r>
              <a:rPr lang="en-US" b="1" dirty="0"/>
              <a:t>CLICK</a:t>
            </a:r>
          </a:p>
          <a:p>
            <a:pPr marL="171450" indent="-171450">
              <a:buFont typeface="Arial" panose="020B0604020202020204" pitchFamily="34" charset="0"/>
              <a:buChar char="•"/>
            </a:pPr>
            <a:r>
              <a:rPr lang="en-US" dirty="0"/>
              <a:t>The ADA also protects people who are regarded as having a disability, whether or not they do. This part is meant to address issues of discrimination based on myths, fears, and stereotypes about disability. Individuals who are only covered under the “regarded as” part of the ADA are not entitled to accommodations. </a:t>
            </a:r>
          </a:p>
          <a:p>
            <a:r>
              <a:rPr lang="en-US" b="1" dirty="0"/>
              <a:t>CLICK</a:t>
            </a:r>
          </a:p>
          <a:p>
            <a:pPr marL="171450" indent="-171450">
              <a:buFont typeface="Arial" panose="020B0604020202020204" pitchFamily="34" charset="0"/>
              <a:buChar char="•"/>
            </a:pPr>
            <a:r>
              <a:rPr lang="en-US" dirty="0"/>
              <a:t>The ADA also protects people who have an association with a person with a disability. </a:t>
            </a:r>
          </a:p>
          <a:p>
            <a:pPr marL="171450" indent="-171450">
              <a:buFont typeface="Arial" panose="020B0604020202020204" pitchFamily="34" charset="0"/>
              <a:buChar char="•"/>
            </a:pPr>
            <a:r>
              <a:rPr lang="en-US" dirty="0"/>
              <a:t>For example, if a job applicant shares that their child has a disability, the employer cannot refuse to hire the applicant due to assumptions that the person will miss a lot of work to care for their child’s disability.</a:t>
            </a:r>
          </a:p>
          <a:p>
            <a:pPr marL="171450" indent="-171450">
              <a:buFont typeface="Arial" panose="020B0604020202020204" pitchFamily="34" charset="0"/>
              <a:buChar char="•"/>
            </a:pPr>
            <a:r>
              <a:rPr lang="en-US" dirty="0"/>
              <a:t>Take another example: A person who does volunteer work with people who have HIV/AIDS cannot be denied care by a doctor’s office due to a fear that the person may contract and spread the disease to other patients.</a:t>
            </a:r>
          </a:p>
          <a:p>
            <a:r>
              <a:rPr lang="en-US" b="1" dirty="0"/>
              <a:t>CLICK</a:t>
            </a:r>
          </a:p>
          <a:p>
            <a:pPr marL="171450" indent="-171450">
              <a:buFont typeface="Arial" panose="020B0604020202020204" pitchFamily="34" charset="0"/>
              <a:buChar char="•"/>
            </a:pPr>
            <a:r>
              <a:rPr lang="en-US" dirty="0"/>
              <a:t>So, what is an actual disability under the ADA?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CLICK</a:t>
            </a:r>
            <a:endParaRPr lang="en-US" dirty="0"/>
          </a:p>
          <a:p>
            <a:pPr marL="171450" indent="-171450">
              <a:buFont typeface="Arial" panose="020B0604020202020204" pitchFamily="34" charset="0"/>
              <a:buChar char="•"/>
            </a:pPr>
            <a:r>
              <a:rPr lang="en-US" dirty="0"/>
              <a:t> A disability under the ADA is a physical or mental impairment that substantially limits one or more major life activities</a:t>
            </a:r>
          </a:p>
          <a:p>
            <a:pPr marL="171450" indent="-171450">
              <a:buFont typeface="Arial" panose="020B0604020202020204" pitchFamily="34" charset="0"/>
              <a:buChar char="•"/>
            </a:pPr>
            <a:r>
              <a:rPr lang="en-US" dirty="0"/>
              <a:t>This is a functional definition, not a medical one. </a:t>
            </a:r>
          </a:p>
          <a:p>
            <a:pPr marL="171450" indent="-171450">
              <a:buFont typeface="Arial" panose="020B0604020202020204" pitchFamily="34" charset="0"/>
              <a:buChar char="•"/>
            </a:pPr>
            <a:r>
              <a:rPr lang="en-US" dirty="0"/>
              <a:t>Let’s break down the terms in this definition.</a:t>
            </a:r>
          </a:p>
          <a:p>
            <a:pPr marL="171450" indent="-171450">
              <a:buFont typeface="Arial" panose="020B0604020202020204" pitchFamily="34" charset="0"/>
              <a:buChar char="•"/>
            </a:pPr>
            <a:r>
              <a:rPr lang="en-US" dirty="0"/>
              <a:t>A physical impairment is any physiological disorder, condition, cosmetic disfigurement, or anatomical loss affecting one or more body systems.  </a:t>
            </a:r>
          </a:p>
          <a:p>
            <a:pPr marL="171450" indent="-171450">
              <a:buFont typeface="Arial" panose="020B0604020202020204" pitchFamily="34" charset="0"/>
              <a:buChar char="•"/>
            </a:pPr>
            <a:r>
              <a:rPr lang="en-US" dirty="0"/>
              <a:t>A mental impairment is any mental or psychological disorder, such as intellectual disabilities, organic brain syndrome, emotional or mental illness, and specific learning disabilities.</a:t>
            </a:r>
          </a:p>
          <a:p>
            <a:pPr marL="171450" indent="-171450">
              <a:buFont typeface="Arial" panose="020B0604020202020204" pitchFamily="34" charset="0"/>
              <a:buChar char="•"/>
            </a:pPr>
            <a:r>
              <a:rPr lang="en-US" dirty="0"/>
              <a:t>Major life activities are ones that are important to us in our daily lives such as caring for oneself, seeing, hearing, eating, sleeping, walking, breathing, concentrating, thinking, communicating, interacting with others, and so on.  </a:t>
            </a:r>
          </a:p>
          <a:p>
            <a:pPr marL="171450" indent="-171450">
              <a:buFont typeface="Arial" panose="020B0604020202020204" pitchFamily="34" charset="0"/>
              <a:buChar char="•"/>
            </a:pPr>
            <a:r>
              <a:rPr lang="en-US" dirty="0"/>
              <a:t>Major bodily functions are also considered to be major life activities, including things such as digestive, bowel, bladder, functions of the immune system, neurological, endocrine, cardiovascular, functions of the brain, and so on.  </a:t>
            </a:r>
          </a:p>
          <a:p>
            <a:pPr marL="171450" indent="-171450">
              <a:buFont typeface="Arial" panose="020B0604020202020204" pitchFamily="34" charset="0"/>
              <a:buChar char="•"/>
            </a:pPr>
            <a:r>
              <a:rPr lang="en-US" dirty="0"/>
              <a:t>For example, cancer significantly impacts normal cell growth and would meet the ADA definition of disability.</a:t>
            </a:r>
          </a:p>
          <a:p>
            <a:pPr marL="171450" indent="-171450">
              <a:buFont typeface="Arial" panose="020B0604020202020204" pitchFamily="34" charset="0"/>
              <a:buChar char="•"/>
            </a:pPr>
            <a:r>
              <a:rPr lang="en-US" dirty="0"/>
              <a:t>When determining whether an impairment substantially limits a major life activity, the analysis is compared to most people in the general population and is applied broadly. </a:t>
            </a:r>
          </a:p>
          <a:p>
            <a:pPr marL="171450" indent="-171450">
              <a:buFont typeface="Arial" panose="020B0604020202020204" pitchFamily="34" charset="0"/>
              <a:buChar char="•"/>
            </a:pPr>
            <a:r>
              <a:rPr lang="en-US" dirty="0"/>
              <a:t>Additionally, the impairment’s impact on the major life activity is evaluated without regard to mitigating or lessening measures such as medical treatment, medication, or assistive devices.</a:t>
            </a:r>
          </a:p>
          <a:p>
            <a:pPr marL="171450" indent="-171450">
              <a:buFont typeface="Arial" panose="020B0604020202020204" pitchFamily="34" charset="0"/>
              <a:buChar char="•"/>
            </a:pPr>
            <a:r>
              <a:rPr lang="en-US" dirty="0"/>
              <a:t>A person’s physical or mental condition does NOT need to be permanent or long-term to be “substantially limiting.” </a:t>
            </a:r>
          </a:p>
          <a:p>
            <a:pPr marL="171450" indent="-171450">
              <a:buFont typeface="Arial" panose="020B0604020202020204" pitchFamily="34" charset="0"/>
              <a:buChar char="•"/>
            </a:pPr>
            <a:r>
              <a:rPr lang="en-US" dirty="0"/>
              <a:t>If symptoms come and go, what matters is how limiting they would be when the symptoms are present, such as in a flare-up.</a:t>
            </a:r>
          </a:p>
          <a:p>
            <a:r>
              <a:rPr lang="en-US" dirty="0"/>
              <a:t>Moving onto slide 4</a:t>
            </a:r>
          </a:p>
          <a:p>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3</a:t>
            </a:fld>
            <a:endParaRPr lang="en-US" dirty="0"/>
          </a:p>
        </p:txBody>
      </p:sp>
    </p:spTree>
    <p:extLst>
      <p:ext uri="{BB962C8B-B14F-4D97-AF65-F5344CB8AC3E}">
        <p14:creationId xmlns:p14="http://schemas.microsoft.com/office/powerpoint/2010/main" val="2295440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68388" y="0"/>
            <a:ext cx="4721225" cy="2655888"/>
          </a:xfrm>
        </p:spPr>
      </p:sp>
      <p:sp>
        <p:nvSpPr>
          <p:cNvPr id="3" name="Notes Placeholder 2"/>
          <p:cNvSpPr>
            <a:spLocks noGrp="1"/>
          </p:cNvSpPr>
          <p:nvPr>
            <p:ph type="body" idx="1"/>
          </p:nvPr>
        </p:nvSpPr>
        <p:spPr>
          <a:xfrm>
            <a:off x="124179" y="2655888"/>
            <a:ext cx="6637866" cy="6488112"/>
          </a:xfrm>
        </p:spPr>
        <p:txBody>
          <a:bodyPr/>
          <a:lstStyle/>
          <a:p>
            <a:pPr marL="274320" marR="0" indent="-274320"/>
            <a:r>
              <a:rPr lang="en-US" b="0" kern="0" dirty="0">
                <a:solidFill>
                  <a:srgbClr val="000000"/>
                </a:solidFill>
                <a:effectLst/>
                <a:ea typeface="Times New Roman" panose="02020603050405020304" pitchFamily="18" charset="0"/>
                <a:cs typeface="Calibri" panose="020F0502020204030204" pitchFamily="34" charset="0"/>
              </a:rPr>
              <a:t>•	Certain things are not allowed under the ADA, let’s review three of them.</a:t>
            </a:r>
          </a:p>
          <a:p>
            <a:pPr marL="274320" marR="0" indent="-274320"/>
            <a:r>
              <a:rPr lang="en-US" b="1" kern="0" dirty="0">
                <a:solidFill>
                  <a:srgbClr val="000000"/>
                </a:solidFill>
                <a:effectLst/>
                <a:ea typeface="Times New Roman" panose="02020603050405020304" pitchFamily="18" charset="0"/>
                <a:cs typeface="Calibri" panose="020F0502020204030204" pitchFamily="34" charset="0"/>
              </a:rPr>
              <a:t>Click</a:t>
            </a:r>
          </a:p>
          <a:p>
            <a:pPr marL="274320" marR="0" indent="-274320"/>
            <a:r>
              <a:rPr lang="en-US" b="0" kern="0" dirty="0">
                <a:solidFill>
                  <a:srgbClr val="000000"/>
                </a:solidFill>
                <a:effectLst/>
                <a:ea typeface="Times New Roman" panose="02020603050405020304" pitchFamily="18" charset="0"/>
                <a:cs typeface="Calibri" panose="020F0502020204030204" pitchFamily="34" charset="0"/>
              </a:rPr>
              <a:t>•	Eligibility criteria intended to screen out people with disabilities as well as neutral criteria that have the result of screening out people with disabilities are prohibited unless the criteria are necessary for the provision of the service, program, or activity.</a:t>
            </a:r>
          </a:p>
          <a:p>
            <a:pPr marL="274320" marR="0" indent="-274320"/>
            <a:r>
              <a:rPr lang="en-US" b="0" kern="0" dirty="0">
                <a:solidFill>
                  <a:srgbClr val="000000"/>
                </a:solidFill>
                <a:effectLst/>
                <a:ea typeface="Times New Roman" panose="02020603050405020304" pitchFamily="18" charset="0"/>
                <a:cs typeface="Calibri" panose="020F0502020204030204" pitchFamily="34" charset="0"/>
              </a:rPr>
              <a:t>o	Neutral example: A driver’s license cannot be the sole form of photo identification accepted for securing a card at a public library </a:t>
            </a:r>
          </a:p>
          <a:p>
            <a:pPr marL="274320" marR="0" indent="-274320"/>
            <a:r>
              <a:rPr lang="en-US" b="1" kern="0" dirty="0">
                <a:solidFill>
                  <a:srgbClr val="000000"/>
                </a:solidFill>
                <a:effectLst/>
                <a:ea typeface="Times New Roman" panose="02020603050405020304" pitchFamily="18" charset="0"/>
                <a:cs typeface="Calibri" panose="020F0502020204030204" pitchFamily="34" charset="0"/>
              </a:rPr>
              <a:t>Click</a:t>
            </a:r>
          </a:p>
          <a:p>
            <a:pPr marL="274320" marR="0" indent="-274320"/>
            <a:r>
              <a:rPr lang="en-US" b="0" kern="0" dirty="0">
                <a:solidFill>
                  <a:srgbClr val="000000"/>
                </a:solidFill>
                <a:effectLst/>
                <a:ea typeface="Times New Roman" panose="02020603050405020304" pitchFamily="18" charset="0"/>
                <a:cs typeface="Calibri" panose="020F0502020204030204" pitchFamily="34" charset="0"/>
              </a:rPr>
              <a:t>•	The ADA prohibits unnecessary inquiries into the existence of a disability for all covered entities </a:t>
            </a:r>
          </a:p>
          <a:p>
            <a:pPr marL="274320" marR="0" indent="-274320"/>
            <a:r>
              <a:rPr lang="en-US" b="0" kern="0" dirty="0">
                <a:solidFill>
                  <a:srgbClr val="000000"/>
                </a:solidFill>
                <a:effectLst/>
                <a:ea typeface="Times New Roman" panose="02020603050405020304" pitchFamily="18" charset="0"/>
                <a:cs typeface="Calibri" panose="020F0502020204030204" pitchFamily="34" charset="0"/>
              </a:rPr>
              <a:t>o	For example, a private or municipal recreation department summer camp requires parents to fill out a questionnaire and submit medical documentation regarding their children's ability to participate in various camp activities. The questionnaire is acceptable if the recreation department can demonstrate that each piece of information requested is needed to ensure safe participation in camp activities. The Department, however, may not use this information to screen out children with disabilities from admittance to the camp.</a:t>
            </a:r>
          </a:p>
          <a:p>
            <a:pPr marL="274320" marR="0" indent="-274320"/>
            <a:r>
              <a:rPr lang="en-US" b="1" kern="0" dirty="0">
                <a:solidFill>
                  <a:srgbClr val="000000"/>
                </a:solidFill>
                <a:effectLst/>
                <a:ea typeface="Times New Roman" panose="02020603050405020304" pitchFamily="18" charset="0"/>
                <a:cs typeface="Calibri" panose="020F0502020204030204" pitchFamily="34" charset="0"/>
              </a:rPr>
              <a:t>Click</a:t>
            </a:r>
          </a:p>
          <a:p>
            <a:pPr marL="274320" marR="0" indent="-274320"/>
            <a:r>
              <a:rPr lang="en-US" b="0" kern="0" dirty="0">
                <a:solidFill>
                  <a:srgbClr val="000000"/>
                </a:solidFill>
                <a:effectLst/>
                <a:ea typeface="Times New Roman" panose="02020603050405020304" pitchFamily="18" charset="0"/>
                <a:cs typeface="Calibri" panose="020F0502020204030204" pitchFamily="34" charset="0"/>
              </a:rPr>
              <a:t>•	A covered entity cannot charge people with disabilities for providing them with ADA-mandated access to goods and services because providing those is necessary to ensure people with disabilities have the same opportunity afforded to the general public to participate and benefit from goods and services.</a:t>
            </a:r>
          </a:p>
          <a:p>
            <a:pPr marL="274320" marR="0" indent="-274320"/>
            <a:r>
              <a:rPr lang="en-US" b="0" kern="0" dirty="0">
                <a:solidFill>
                  <a:srgbClr val="000000"/>
                </a:solidFill>
                <a:effectLst/>
                <a:ea typeface="Times New Roman" panose="02020603050405020304" pitchFamily="18" charset="0"/>
                <a:cs typeface="Calibri" panose="020F0502020204030204" pitchFamily="34" charset="0"/>
              </a:rPr>
              <a:t>o	For example, to ensure effective communication with a deaf patient during an office visit, a hospital arranges for the services of a sign language interpreter. The cost of the interpreter's services must be absorbed by the hospital.</a:t>
            </a:r>
          </a:p>
          <a:p>
            <a:pPr marL="274320" marR="0" indent="-274320"/>
            <a:r>
              <a:rPr lang="en-US" dirty="0"/>
              <a:t>Moving onto slide </a:t>
            </a:r>
            <a:r>
              <a:rPr lang="en-US" b="0" kern="0" dirty="0">
                <a:solidFill>
                  <a:srgbClr val="000000"/>
                </a:solidFill>
                <a:effectLst/>
                <a:cs typeface="Calibri" panose="020F0502020204030204" pitchFamily="34" charset="0"/>
              </a:rPr>
              <a:t>5</a:t>
            </a:r>
            <a:endParaRPr lang="en-US" b="0" kern="0" dirty="0">
              <a:solidFill>
                <a:srgbClr val="000000"/>
              </a:solidFill>
              <a:effectLst/>
              <a:ea typeface="Times New Roman" panose="02020603050405020304" pitchFamily="18"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40E60467-868E-4120-BCCD-97469C488C52}" type="slidenum">
              <a:rPr lang="en-US" smtClean="0"/>
              <a:t>4</a:t>
            </a:fld>
            <a:endParaRPr lang="en-US" dirty="0"/>
          </a:p>
        </p:txBody>
      </p:sp>
    </p:spTree>
    <p:extLst>
      <p:ext uri="{BB962C8B-B14F-4D97-AF65-F5344CB8AC3E}">
        <p14:creationId xmlns:p14="http://schemas.microsoft.com/office/powerpoint/2010/main" val="3045270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307975"/>
            <a:ext cx="5486400" cy="3086100"/>
          </a:xfrm>
        </p:spPr>
      </p:sp>
      <p:sp>
        <p:nvSpPr>
          <p:cNvPr id="3" name="Notes Placeholder 2"/>
          <p:cNvSpPr>
            <a:spLocks noGrp="1"/>
          </p:cNvSpPr>
          <p:nvPr>
            <p:ph type="body" idx="1"/>
          </p:nvPr>
        </p:nvSpPr>
        <p:spPr>
          <a:xfrm>
            <a:off x="685800" y="3520016"/>
            <a:ext cx="5486400" cy="4054828"/>
          </a:xfrm>
        </p:spPr>
        <p:txBody>
          <a:bodyPr/>
          <a:lstStyle/>
          <a:p>
            <a:pPr marL="342900" indent="-342900">
              <a:lnSpc>
                <a:spcPct val="100000"/>
              </a:lnSpc>
              <a:spcBef>
                <a:spcPts val="0"/>
              </a:spcBef>
              <a:spcAft>
                <a:spcPts val="1200"/>
              </a:spcAft>
              <a:buFont typeface="Arial" panose="020B0604020202020204" pitchFamily="34" charset="0"/>
              <a:buChar char="•"/>
            </a:pPr>
            <a:r>
              <a:rPr lang="en-US" sz="2000" dirty="0">
                <a:solidFill>
                  <a:prstClr val="black"/>
                </a:solidFill>
              </a:rPr>
              <a:t>Let’s take a look at an eligibility scenario. </a:t>
            </a:r>
          </a:p>
          <a:p>
            <a:pPr marL="342900" indent="-342900">
              <a:lnSpc>
                <a:spcPct val="100000"/>
              </a:lnSpc>
              <a:spcBef>
                <a:spcPts val="0"/>
              </a:spcBef>
              <a:spcAft>
                <a:spcPts val="1200"/>
              </a:spcAft>
              <a:buFont typeface="Arial" panose="020B0604020202020204" pitchFamily="34" charset="0"/>
              <a:buChar char="•"/>
            </a:pPr>
            <a:r>
              <a:rPr lang="en-US" sz="2000" dirty="0">
                <a:solidFill>
                  <a:prstClr val="black"/>
                </a:solidFill>
              </a:rPr>
              <a:t>A county recreation program requires that all participants in its scuba program pass a swimming test. </a:t>
            </a:r>
          </a:p>
          <a:p>
            <a:pPr marL="342900" indent="-342900">
              <a:lnSpc>
                <a:spcPct val="100000"/>
              </a:lnSpc>
              <a:spcBef>
                <a:spcPts val="0"/>
              </a:spcBef>
              <a:spcAft>
                <a:spcPts val="1200"/>
              </a:spcAft>
              <a:buFont typeface="Arial" panose="020B0604020202020204" pitchFamily="34" charset="0"/>
              <a:buChar char="•"/>
            </a:pPr>
            <a:r>
              <a:rPr lang="en-US" sz="2000" dirty="0">
                <a:solidFill>
                  <a:prstClr val="black"/>
                </a:solidFill>
              </a:rPr>
              <a:t>Is this legal?</a:t>
            </a:r>
          </a:p>
          <a:p>
            <a:pPr marL="0" marR="0" lvl="0" indent="0" algn="l" defTabSz="914400" rtl="0" eaLnBrk="1" fontAlgn="auto" latinLnBrk="0" hangingPunct="1">
              <a:lnSpc>
                <a:spcPct val="100000"/>
              </a:lnSpc>
              <a:spcBef>
                <a:spcPts val="0"/>
              </a:spcBef>
              <a:spcAft>
                <a:spcPts val="1200"/>
              </a:spcAft>
              <a:buClrTx/>
              <a:buSzTx/>
              <a:buFontTx/>
              <a:buNone/>
              <a:tabLst/>
              <a:defRPr/>
            </a:pPr>
            <a:r>
              <a:rPr lang="en-US" sz="2000" b="1" kern="0" dirty="0">
                <a:solidFill>
                  <a:srgbClr val="000000"/>
                </a:solidFill>
                <a:effectLst/>
                <a:ea typeface="Times New Roman" panose="02020603050405020304" pitchFamily="18" charset="0"/>
                <a:cs typeface="Calibri" panose="020F0502020204030204" pitchFamily="34" charset="0"/>
              </a:rPr>
              <a:t>Click</a:t>
            </a:r>
            <a:endParaRPr lang="en-US" sz="2000" dirty="0">
              <a:solidFill>
                <a:prstClr val="black"/>
              </a:solidFill>
            </a:endParaRPr>
          </a:p>
          <a:p>
            <a:pPr marL="342900" indent="-342900">
              <a:lnSpc>
                <a:spcPct val="100000"/>
              </a:lnSpc>
              <a:spcBef>
                <a:spcPts val="0"/>
              </a:spcBef>
              <a:spcAft>
                <a:spcPts val="1200"/>
              </a:spcAft>
              <a:buFont typeface="Arial" panose="020B0604020202020204" pitchFamily="34" charset="0"/>
              <a:buChar char="•"/>
            </a:pPr>
            <a:r>
              <a:rPr lang="en-US" sz="2000" b="1" dirty="0">
                <a:ea typeface="Calibri" panose="020F0502020204030204" pitchFamily="34" charset="0"/>
              </a:rPr>
              <a:t>YES</a:t>
            </a:r>
            <a:r>
              <a:rPr lang="en-US" sz="2000" dirty="0">
                <a:ea typeface="Calibri" panose="020F0502020204030204" pitchFamily="34" charset="0"/>
              </a:rPr>
              <a:t>. </a:t>
            </a:r>
            <a:r>
              <a:rPr lang="en-US" sz="2000" i="1" dirty="0">
                <a:ea typeface="Calibri" panose="020F0502020204030204" pitchFamily="34" charset="0"/>
              </a:rPr>
              <a:t>If</a:t>
            </a:r>
            <a:r>
              <a:rPr lang="en-US" sz="2000" dirty="0">
                <a:ea typeface="Calibri" panose="020F0502020204030204" pitchFamily="34" charset="0"/>
              </a:rPr>
              <a:t> the county can demonstrate that being able to swim is necessary for safe participation in the class. This is permitted even if requiring such a test would tend to screen out people with certain kinds of disabilities.</a:t>
            </a:r>
          </a:p>
          <a:p>
            <a:r>
              <a:rPr lang="en-US" dirty="0"/>
              <a:t>Moving onto slide 6</a:t>
            </a:r>
          </a:p>
        </p:txBody>
      </p:sp>
      <p:sp>
        <p:nvSpPr>
          <p:cNvPr id="4" name="Slide Number Placeholder 3"/>
          <p:cNvSpPr>
            <a:spLocks noGrp="1"/>
          </p:cNvSpPr>
          <p:nvPr>
            <p:ph type="sldNum" sz="quarter" idx="5"/>
          </p:nvPr>
        </p:nvSpPr>
        <p:spPr/>
        <p:txBody>
          <a:bodyPr/>
          <a:lstStyle/>
          <a:p>
            <a:fld id="{40E60467-868E-4120-BCCD-97469C488C52}" type="slidenum">
              <a:rPr lang="en-US" smtClean="0"/>
              <a:t>5</a:t>
            </a:fld>
            <a:endParaRPr lang="en-US" dirty="0"/>
          </a:p>
        </p:txBody>
      </p:sp>
    </p:spTree>
    <p:extLst>
      <p:ext uri="{BB962C8B-B14F-4D97-AF65-F5344CB8AC3E}">
        <p14:creationId xmlns:p14="http://schemas.microsoft.com/office/powerpoint/2010/main" val="3677509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4375" y="0"/>
            <a:ext cx="5405438" cy="3040063"/>
          </a:xfrm>
        </p:spPr>
      </p:sp>
      <p:sp>
        <p:nvSpPr>
          <p:cNvPr id="3" name="Notes Placeholder 2"/>
          <p:cNvSpPr>
            <a:spLocks noGrp="1"/>
          </p:cNvSpPr>
          <p:nvPr>
            <p:ph type="body" idx="1"/>
          </p:nvPr>
        </p:nvSpPr>
        <p:spPr>
          <a:xfrm>
            <a:off x="92234" y="3040234"/>
            <a:ext cx="6647233" cy="5979588"/>
          </a:xfrm>
        </p:spPr>
        <p:txBody>
          <a:bodyPr/>
          <a:lstStyle/>
          <a:p>
            <a:pPr marL="285750" marR="0" lvl="0" indent="-285750">
              <a:spcBef>
                <a:spcPts val="0"/>
              </a:spcBef>
              <a:spcAft>
                <a:spcPts val="0"/>
              </a:spcAft>
              <a:buFont typeface="Arial" panose="020B0604020202020204" pitchFamily="34" charset="0"/>
              <a:buChar char="•"/>
            </a:pPr>
            <a:r>
              <a:rPr lang="en-US" sz="1500" dirty="0">
                <a:solidFill>
                  <a:srgbClr val="2E2E2A"/>
                </a:solidFill>
                <a:effectLst/>
                <a:ea typeface="Calibri" panose="020F0502020204030204" pitchFamily="34" charset="0"/>
              </a:rPr>
              <a:t> ADA-covered entities may impose legitimate safety requirements necessary for the safe operation of their services, programs, or activities.</a:t>
            </a:r>
          </a:p>
          <a:p>
            <a:pPr marL="285750" marR="0" lvl="0" indent="-285750">
              <a:spcBef>
                <a:spcPts val="0"/>
              </a:spcBef>
              <a:spcAft>
                <a:spcPts val="0"/>
              </a:spcAft>
              <a:buFont typeface="Arial" panose="020B0604020202020204" pitchFamily="34" charset="0"/>
              <a:buChar char="•"/>
            </a:pPr>
            <a:r>
              <a:rPr lang="en-US" sz="1500" dirty="0">
                <a:solidFill>
                  <a:srgbClr val="2E2E2A"/>
                </a:solidFill>
                <a:effectLst/>
                <a:ea typeface="Calibri" panose="020F0502020204030204" pitchFamily="34" charset="0"/>
              </a:rPr>
              <a:t>However, covered entities must ensure that their safety requirements are based on actual risks, not on mere speculation, stereotypes, or generalizations about individuals with disabilities. </a:t>
            </a:r>
          </a:p>
          <a:p>
            <a:pPr marL="285750" marR="0" lvl="0" indent="-285750">
              <a:spcBef>
                <a:spcPts val="0"/>
              </a:spcBef>
              <a:spcAft>
                <a:spcPts val="0"/>
              </a:spcAft>
              <a:buFont typeface="Arial" panose="020B0604020202020204" pitchFamily="34" charset="0"/>
              <a:buChar char="•"/>
            </a:pPr>
            <a:r>
              <a:rPr lang="en-US" sz="1500" dirty="0">
                <a:solidFill>
                  <a:srgbClr val="2E2E2A"/>
                </a:solidFill>
                <a:effectLst/>
                <a:ea typeface="Calibri" panose="020F0502020204030204" pitchFamily="34" charset="0"/>
              </a:rPr>
              <a:t>Covered entities may exclude an individual with a disability from participation in an activity if that individual's participation would result in a direct threat to the health or safety of others. </a:t>
            </a:r>
          </a:p>
          <a:p>
            <a:pPr marL="0" marR="0" lvl="0" indent="0">
              <a:spcBef>
                <a:spcPts val="0"/>
              </a:spcBef>
              <a:spcAft>
                <a:spcPts val="0"/>
              </a:spcAft>
              <a:buFont typeface="Symbol" panose="05050102010706020507" pitchFamily="18" charset="2"/>
              <a:buNone/>
            </a:pPr>
            <a:r>
              <a:rPr lang="en-US" sz="1500" b="1" dirty="0">
                <a:solidFill>
                  <a:srgbClr val="2E2E2A"/>
                </a:solidFill>
                <a:effectLst/>
                <a:ea typeface="Calibri" panose="020F0502020204030204" pitchFamily="34" charset="0"/>
              </a:rPr>
              <a:t>CLICK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500" dirty="0">
                <a:solidFill>
                  <a:srgbClr val="2E2E2A"/>
                </a:solidFill>
                <a:effectLst/>
                <a:ea typeface="Calibri" panose="020F0502020204030204" pitchFamily="34" charset="0"/>
              </a:rPr>
              <a:t>The ADA provides a framework for analyzing whether a person poses a “direct threat” to the safety of others, which requires a covered entity to conduct an individualized assessment or </a:t>
            </a:r>
            <a:r>
              <a:rPr lang="en-US" sz="1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reasonable judgment that relies on current medical evidence, or the best available objective evidence</a:t>
            </a:r>
            <a:r>
              <a:rPr lang="en-US" sz="1600" b="0" dirty="0">
                <a:solidFill>
                  <a:srgbClr val="000000"/>
                </a:solidFill>
                <a:latin typeface="Arial" panose="020B0604020202020204" pitchFamily="34" charset="0"/>
                <a:ea typeface="Calibri" panose="020F0502020204030204" pitchFamily="34" charset="0"/>
                <a:cs typeface="Arial" panose="020B0604020202020204" pitchFamily="34" charset="0"/>
              </a:rPr>
              <a:t>, to determine</a:t>
            </a:r>
            <a:r>
              <a:rPr kumimoji="0" lang="en-US" altLang="en-US" sz="1600" b="0" i="0" strike="noStrike" cap="none" normalizeH="0" baseline="0" dirty="0">
                <a:ln>
                  <a:noFill/>
                </a:ln>
                <a:solidFill>
                  <a:srgbClr val="000000"/>
                </a:solidFill>
                <a:effectLst/>
                <a:latin typeface="Arial" panose="020B0604020202020204" pitchFamily="34" charset="0"/>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b="1" dirty="0">
                <a:solidFill>
                  <a:srgbClr val="2E2E2A"/>
                </a:solidFill>
                <a:effectLst/>
                <a:ea typeface="Calibri" panose="020F0502020204030204" pitchFamily="34" charset="0"/>
              </a:rPr>
              <a:t>CLICK</a:t>
            </a:r>
            <a:endParaRPr lang="en-US" sz="1500" dirty="0">
              <a:solidFill>
                <a:srgbClr val="2E2E2A"/>
              </a:solidFill>
              <a:effectLst/>
              <a:ea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500" dirty="0">
                <a:solidFill>
                  <a:srgbClr val="2E2E2A"/>
                </a:solidFill>
                <a:effectLst/>
                <a:ea typeface="Calibri" panose="020F0502020204030204" pitchFamily="34" charset="0"/>
              </a:rPr>
              <a:t>the nature, duration, and severity of the potential harm;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b="1" dirty="0">
                <a:solidFill>
                  <a:srgbClr val="2E2E2A"/>
                </a:solidFill>
                <a:effectLst/>
                <a:ea typeface="Calibri" panose="020F0502020204030204" pitchFamily="34" charset="0"/>
              </a:rPr>
              <a:t>CLICK</a:t>
            </a:r>
            <a:endParaRPr lang="en-US" sz="1500" dirty="0">
              <a:solidFill>
                <a:srgbClr val="2E2E2A"/>
              </a:solidFill>
              <a:effectLst/>
              <a:ea typeface="Calibri" panose="020F0502020204030204" pitchFamily="34" charset="0"/>
            </a:endParaRPr>
          </a:p>
          <a:p>
            <a:pPr marL="285750" marR="0" lvl="0" indent="-285750">
              <a:spcBef>
                <a:spcPts val="0"/>
              </a:spcBef>
              <a:spcAft>
                <a:spcPts val="0"/>
              </a:spcAft>
              <a:buFont typeface="Arial" panose="020B0604020202020204" pitchFamily="34" charset="0"/>
              <a:buChar char="•"/>
            </a:pPr>
            <a:r>
              <a:rPr lang="en-US" sz="1500" dirty="0">
                <a:solidFill>
                  <a:srgbClr val="2E2E2A"/>
                </a:solidFill>
                <a:effectLst/>
                <a:ea typeface="Calibri" panose="020F0502020204030204" pitchFamily="34" charset="0"/>
              </a:rPr>
              <a:t>the likelihood that the potential harm will actually occur;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b="1" dirty="0">
                <a:solidFill>
                  <a:srgbClr val="2E2E2A"/>
                </a:solidFill>
                <a:effectLst/>
                <a:ea typeface="Calibri" panose="020F0502020204030204" pitchFamily="34" charset="0"/>
              </a:rPr>
              <a:t>CLICK</a:t>
            </a:r>
            <a:endParaRPr lang="en-US" sz="1500" dirty="0">
              <a:solidFill>
                <a:srgbClr val="2E2E2A"/>
              </a:solidFill>
              <a:effectLst/>
              <a:ea typeface="Calibri" panose="020F0502020204030204" pitchFamily="34" charset="0"/>
            </a:endParaRPr>
          </a:p>
          <a:p>
            <a:pPr marL="342900" lvl="0" indent="-342900" eaLnBrk="0" fontAlgn="base" hangingPunct="0">
              <a:spcBef>
                <a:spcPct val="0"/>
              </a:spcBef>
              <a:spcAft>
                <a:spcPts val="60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And whether reasonable modifications of policies, practices, or procedures will mitigate the risk </a:t>
            </a:r>
            <a:r>
              <a:rPr lang="en-US" altLang="en-US" sz="1600" dirty="0">
                <a:latin typeface="Arial" panose="020B0604020202020204" pitchFamily="34" charset="0"/>
                <a:cs typeface="Arial" panose="020B0604020202020204" pitchFamily="34" charset="0"/>
              </a:rPr>
              <a:t>to an acceptable level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or eliminate the risk</a:t>
            </a:r>
          </a:p>
          <a:p>
            <a:pPr marL="285750" marR="0" lvl="0" indent="-285750">
              <a:spcBef>
                <a:spcPts val="0"/>
              </a:spcBef>
              <a:spcAft>
                <a:spcPts val="0"/>
              </a:spcAft>
              <a:buFont typeface="Arial" panose="020B0604020202020204" pitchFamily="34" charset="0"/>
              <a:buChar char="•"/>
            </a:pPr>
            <a:r>
              <a:rPr lang="en-US" sz="1500" dirty="0">
                <a:solidFill>
                  <a:srgbClr val="2E2E2A"/>
                </a:solidFill>
                <a:effectLst/>
                <a:ea typeface="Calibri" panose="020F0502020204030204" pitchFamily="34" charset="0"/>
              </a:rPr>
              <a:t>Sources for medical evidence or knowledge include public health authorities, such as the U.S. Public Health Service, the Centers for Disease Control, and the National Institutes of Health, including the National Institute of Mental Health.</a:t>
            </a:r>
          </a:p>
          <a:p>
            <a:pPr marL="285750" marR="0" lvl="0" indent="-285750">
              <a:spcBef>
                <a:spcPts val="0"/>
              </a:spcBef>
              <a:spcAft>
                <a:spcPts val="0"/>
              </a:spcAft>
              <a:buFont typeface="Arial" panose="020B0604020202020204" pitchFamily="34" charset="0"/>
              <a:buChar char="•"/>
            </a:pPr>
            <a:r>
              <a:rPr lang="en-US" sz="1500" dirty="0">
                <a:solidFill>
                  <a:srgbClr val="2E2E2A"/>
                </a:solidFill>
                <a:effectLst/>
                <a:ea typeface="Calibri" panose="020F0502020204030204" pitchFamily="34" charset="0"/>
              </a:rPr>
              <a:t>Such an assessment is essential to protect individuals with disabilities from discrimination based on prejudice, stereotypes, or unfounded fear, while giving appropriate weight to legitimate concerns, such as the need to avoid exposing others to significant health and safety risks. </a:t>
            </a:r>
          </a:p>
          <a:p>
            <a:r>
              <a:rPr lang="en-US" dirty="0"/>
              <a:t>Moving onto slide 7</a:t>
            </a:r>
          </a:p>
        </p:txBody>
      </p:sp>
      <p:sp>
        <p:nvSpPr>
          <p:cNvPr id="4" name="Slide Number Placeholder 3"/>
          <p:cNvSpPr>
            <a:spLocks noGrp="1"/>
          </p:cNvSpPr>
          <p:nvPr>
            <p:ph type="sldNum" sz="quarter" idx="5"/>
          </p:nvPr>
        </p:nvSpPr>
        <p:spPr/>
        <p:txBody>
          <a:bodyPr/>
          <a:lstStyle/>
          <a:p>
            <a:fld id="{40E60467-868E-4120-BCCD-97469C488C52}" type="slidenum">
              <a:rPr lang="en-US" smtClean="0"/>
              <a:t>6</a:t>
            </a:fld>
            <a:endParaRPr lang="en-US" dirty="0"/>
          </a:p>
        </p:txBody>
      </p:sp>
    </p:spTree>
    <p:extLst>
      <p:ext uri="{BB962C8B-B14F-4D97-AF65-F5344CB8AC3E}">
        <p14:creationId xmlns:p14="http://schemas.microsoft.com/office/powerpoint/2010/main" val="14527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4375" y="346075"/>
            <a:ext cx="5575300" cy="3135313"/>
          </a:xfrm>
        </p:spPr>
      </p:sp>
      <p:sp>
        <p:nvSpPr>
          <p:cNvPr id="3" name="Notes Placeholder 2"/>
          <p:cNvSpPr>
            <a:spLocks noGrp="1"/>
          </p:cNvSpPr>
          <p:nvPr>
            <p:ph type="body" idx="1"/>
          </p:nvPr>
        </p:nvSpPr>
        <p:spPr>
          <a:xfrm>
            <a:off x="360291" y="3564770"/>
            <a:ext cx="6283468" cy="5466342"/>
          </a:xfrm>
        </p:spPr>
        <p:txBody>
          <a:bodyPr/>
          <a:lstStyle/>
          <a:p>
            <a:pPr marL="285750" marR="0" indent="-285750">
              <a:lnSpc>
                <a:spcPct val="107000"/>
              </a:lnSpc>
              <a:spcBef>
                <a:spcPts val="0"/>
              </a:spcBef>
              <a:spcAft>
                <a:spcPts val="0"/>
              </a:spcAft>
              <a:buFont typeface="Arial" panose="020B0604020202020204" pitchFamily="34" charset="0"/>
              <a:buChar char="•"/>
            </a:pPr>
            <a:r>
              <a:rPr lang="en-US" sz="1600" kern="0" dirty="0">
                <a:effectLst/>
                <a:latin typeface="Calibri" panose="020F0502020204030204" pitchFamily="34" charset="0"/>
                <a:ea typeface="Times New Roman" panose="02020603050405020304" pitchFamily="18" charset="0"/>
                <a:cs typeface="Calibri" panose="020F0502020204030204" pitchFamily="34" charset="0"/>
              </a:rPr>
              <a:t>Covered entities do NOT have to take any action that would:</a:t>
            </a:r>
          </a:p>
          <a:p>
            <a:pPr marL="0" marR="0" indent="0">
              <a:lnSpc>
                <a:spcPct val="107000"/>
              </a:lnSpc>
              <a:spcBef>
                <a:spcPts val="0"/>
              </a:spcBef>
              <a:spcAft>
                <a:spcPts val="0"/>
              </a:spcAft>
              <a:buFont typeface="Arial" panose="020B0604020202020204" pitchFamily="34" charset="0"/>
              <a:buNone/>
            </a:pPr>
            <a:r>
              <a:rPr lang="en-US" sz="1600" b="1" i="0" u="none" kern="0" dirty="0">
                <a:effectLst/>
                <a:latin typeface="Calibri" panose="020F0502020204030204" pitchFamily="34" charset="0"/>
                <a:ea typeface="Times New Roman" panose="02020603050405020304" pitchFamily="18" charset="0"/>
                <a:cs typeface="Calibri" panose="020F0502020204030204" pitchFamily="34" charset="0"/>
              </a:rPr>
              <a:t>CLICK</a:t>
            </a:r>
          </a:p>
          <a:p>
            <a:pPr marL="285750" marR="0" indent="-285750">
              <a:lnSpc>
                <a:spcPct val="107000"/>
              </a:lnSpc>
              <a:spcBef>
                <a:spcPts val="0"/>
              </a:spcBef>
              <a:spcAft>
                <a:spcPts val="0"/>
              </a:spcAft>
              <a:buFont typeface="Arial" panose="020B0604020202020204" pitchFamily="34" charset="0"/>
              <a:buChar char="•"/>
            </a:pPr>
            <a:r>
              <a:rPr lang="en-US" sz="1600" kern="0" dirty="0">
                <a:effectLst/>
                <a:latin typeface="Calibri" panose="020F0502020204030204" pitchFamily="34" charset="0"/>
                <a:ea typeface="Times New Roman" panose="02020603050405020304" pitchFamily="18" charset="0"/>
                <a:cs typeface="Calibri" panose="020F0502020204030204" pitchFamily="34" charset="0"/>
              </a:rPr>
              <a:t>Result in a Fundamental Alteration: A change that is so significant that it alters the essential nature of the goods, services, facilities, privileges, advantages, or accommodations offered.</a:t>
            </a:r>
          </a:p>
          <a:p>
            <a:pPr marL="0" marR="0" indent="0">
              <a:lnSpc>
                <a:spcPct val="107000"/>
              </a:lnSpc>
              <a:spcBef>
                <a:spcPts val="0"/>
              </a:spcBef>
              <a:spcAft>
                <a:spcPts val="0"/>
              </a:spcAft>
              <a:buFont typeface="Arial" panose="020B0604020202020204" pitchFamily="34" charset="0"/>
              <a:buNone/>
            </a:pPr>
            <a:r>
              <a:rPr lang="en-US" sz="1600" b="1" kern="0" dirty="0">
                <a:effectLst/>
                <a:latin typeface="Calibri" panose="020F0502020204030204" pitchFamily="34" charset="0"/>
                <a:ea typeface="Times New Roman" panose="02020603050405020304" pitchFamily="18" charset="0"/>
                <a:cs typeface="Calibri" panose="020F0502020204030204" pitchFamily="34" charset="0"/>
              </a:rPr>
              <a:t>CLICK</a:t>
            </a:r>
          </a:p>
          <a:p>
            <a:pPr marL="285750" marR="0" indent="-285750">
              <a:lnSpc>
                <a:spcPct val="107000"/>
              </a:lnSpc>
              <a:spcBef>
                <a:spcPts val="0"/>
              </a:spcBef>
              <a:spcAft>
                <a:spcPts val="0"/>
              </a:spcAft>
              <a:buFont typeface="Arial" panose="020B0604020202020204" pitchFamily="34" charset="0"/>
              <a:buChar char="•"/>
            </a:pPr>
            <a:r>
              <a:rPr lang="en-US" sz="1600" kern="0" dirty="0">
                <a:effectLst/>
                <a:latin typeface="Calibri" panose="020F0502020204030204" pitchFamily="34" charset="0"/>
                <a:ea typeface="Times New Roman" panose="02020603050405020304" pitchFamily="18" charset="0"/>
                <a:cs typeface="Calibri" panose="020F0502020204030204" pitchFamily="34" charset="0"/>
              </a:rPr>
              <a:t>Or would cause an Undue burden: “Action requiring significant difficulty or expense" when considered in light of a number of factors such as the nature and cost of the accommodation and Size, resources, nature, and structure of the entity’s operations, not just a specific department’s budget. </a:t>
            </a:r>
          </a:p>
          <a:p>
            <a:pPr marL="285750" marR="0" indent="-285750">
              <a:lnSpc>
                <a:spcPct val="107000"/>
              </a:lnSpc>
              <a:spcBef>
                <a:spcPts val="0"/>
              </a:spcBef>
              <a:spcAft>
                <a:spcPts val="0"/>
              </a:spcAft>
              <a:buFont typeface="Arial" panose="020B0604020202020204" pitchFamily="34" charset="0"/>
              <a:buChar char="•"/>
            </a:pPr>
            <a:r>
              <a:rPr lang="en-US" sz="1600" kern="0" dirty="0">
                <a:effectLst/>
                <a:latin typeface="Calibri" panose="020F0502020204030204" pitchFamily="34" charset="0"/>
                <a:ea typeface="Times New Roman" panose="02020603050405020304" pitchFamily="18" charset="0"/>
                <a:cs typeface="Calibri" panose="020F0502020204030204" pitchFamily="34" charset="0"/>
              </a:rPr>
              <a:t>This is a Case-by-case determination</a:t>
            </a:r>
          </a:p>
          <a:p>
            <a:pPr marL="285750" marR="0" indent="-285750">
              <a:lnSpc>
                <a:spcPct val="107000"/>
              </a:lnSpc>
              <a:spcBef>
                <a:spcPts val="0"/>
              </a:spcBef>
              <a:spcAft>
                <a:spcPts val="0"/>
              </a:spcAft>
              <a:buFont typeface="Arial" panose="020B0604020202020204" pitchFamily="34" charset="0"/>
              <a:buChar char="•"/>
            </a:pPr>
            <a:r>
              <a:rPr lang="en-US" sz="1600" kern="0" dirty="0">
                <a:effectLst/>
                <a:latin typeface="Calibri" panose="020F0502020204030204" pitchFamily="34" charset="0"/>
                <a:ea typeface="Times New Roman" panose="02020603050405020304" pitchFamily="18" charset="0"/>
                <a:cs typeface="Calibri" panose="020F0502020204030204" pitchFamily="34" charset="0"/>
              </a:rPr>
              <a:t>With regards to state and local governments, the “undue burden” determination can only be made by the head of the public entity or his or her designee and must be accompanied by a written statement of the reasons for reaching that conclusion.</a:t>
            </a:r>
          </a:p>
          <a:p>
            <a:pPr marL="0" marR="0" indent="0">
              <a:lnSpc>
                <a:spcPct val="107000"/>
              </a:lnSpc>
              <a:spcBef>
                <a:spcPts val="0"/>
              </a:spcBef>
              <a:spcAft>
                <a:spcPts val="0"/>
              </a:spcAft>
              <a:buFont typeface="Arial" panose="020B0604020202020204" pitchFamily="34" charset="0"/>
              <a:buNone/>
            </a:pPr>
            <a:r>
              <a:rPr lang="en-US" sz="1600" b="1" kern="0" dirty="0">
                <a:effectLst/>
                <a:latin typeface="Calibri" panose="020F0502020204030204" pitchFamily="34" charset="0"/>
                <a:ea typeface="Times New Roman" panose="02020603050405020304" pitchFamily="18" charset="0"/>
                <a:cs typeface="Calibri" panose="020F0502020204030204" pitchFamily="34" charset="0"/>
              </a:rPr>
              <a:t>CLICK</a:t>
            </a:r>
          </a:p>
          <a:p>
            <a:pPr marL="285750" marR="0" indent="-285750">
              <a:lnSpc>
                <a:spcPct val="107000"/>
              </a:lnSpc>
              <a:spcBef>
                <a:spcPts val="0"/>
              </a:spcBef>
              <a:spcAft>
                <a:spcPts val="0"/>
              </a:spcAft>
              <a:buFont typeface="Arial" panose="020B0604020202020204" pitchFamily="34" charset="0"/>
              <a:buChar char="•"/>
            </a:pPr>
            <a:r>
              <a:rPr lang="en-US" sz="1600" kern="0" dirty="0">
                <a:effectLst/>
                <a:latin typeface="Calibri" panose="020F0502020204030204" pitchFamily="34" charset="0"/>
                <a:ea typeface="Times New Roman" panose="02020603050405020304" pitchFamily="18" charset="0"/>
                <a:cs typeface="Calibri" panose="020F0502020204030204" pitchFamily="34" charset="0"/>
              </a:rPr>
              <a:t>NOTE: Entities still need to find another way to ensure access to the greatest extent possible.</a:t>
            </a:r>
          </a:p>
          <a:p>
            <a:pPr marL="0" marR="0" indent="0">
              <a:lnSpc>
                <a:spcPct val="107000"/>
              </a:lnSpc>
              <a:spcBef>
                <a:spcPts val="0"/>
              </a:spcBef>
              <a:spcAft>
                <a:spcPts val="0"/>
              </a:spcAft>
              <a:buFont typeface="Arial" panose="020B0604020202020204" pitchFamily="34" charset="0"/>
              <a:buNone/>
            </a:pPr>
            <a:r>
              <a:rPr lang="en-US" sz="1600" kern="0" dirty="0">
                <a:effectLst/>
                <a:latin typeface="Calibri" panose="020F0502020204030204" pitchFamily="34" charset="0"/>
                <a:ea typeface="Times New Roman" panose="02020603050405020304" pitchFamily="18" charset="0"/>
                <a:cs typeface="Calibri" panose="020F0502020204030204" pitchFamily="34" charset="0"/>
              </a:rPr>
              <a:t>Moving onto slide 8</a:t>
            </a:r>
          </a:p>
          <a:p>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7</a:t>
            </a:fld>
            <a:endParaRPr lang="en-US" dirty="0"/>
          </a:p>
        </p:txBody>
      </p:sp>
    </p:spTree>
    <p:extLst>
      <p:ext uri="{BB962C8B-B14F-4D97-AF65-F5344CB8AC3E}">
        <p14:creationId xmlns:p14="http://schemas.microsoft.com/office/powerpoint/2010/main" val="1401984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330200"/>
            <a:ext cx="5486400" cy="3086100"/>
          </a:xfrm>
        </p:spPr>
      </p:sp>
      <p:sp>
        <p:nvSpPr>
          <p:cNvPr id="3" name="Notes Placeholder 2"/>
          <p:cNvSpPr>
            <a:spLocks noGrp="1"/>
          </p:cNvSpPr>
          <p:nvPr>
            <p:ph type="body" idx="1"/>
          </p:nvPr>
        </p:nvSpPr>
        <p:spPr>
          <a:xfrm>
            <a:off x="428978" y="3531306"/>
            <a:ext cx="5743222" cy="5282494"/>
          </a:xfrm>
        </p:spPr>
        <p:txBody>
          <a:bodyPr/>
          <a:lstStyle/>
          <a:p>
            <a:pPr marL="0" marR="0">
              <a:lnSpc>
                <a:spcPct val="107000"/>
              </a:lnSpc>
              <a:spcBef>
                <a:spcPts val="0"/>
              </a:spcBef>
              <a:spcAft>
                <a:spcPts val="0"/>
              </a:spcAft>
            </a:pPr>
            <a:r>
              <a:rPr lang="en-US" sz="1800" kern="0" dirty="0">
                <a:solidFill>
                  <a:srgbClr val="000000"/>
                </a:solidFill>
                <a:effectLst/>
                <a:ea typeface="Times New Roman" panose="02020603050405020304" pitchFamily="18" charset="0"/>
                <a:cs typeface="Calibri" panose="020F0502020204030204" pitchFamily="34" charset="0"/>
              </a:rPr>
              <a:t>The ADA requires covered entities to take several steps to become compliant with the ADA such as:</a:t>
            </a:r>
          </a:p>
          <a:p>
            <a:pPr marL="0" marR="0">
              <a:lnSpc>
                <a:spcPct val="107000"/>
              </a:lnSpc>
              <a:spcBef>
                <a:spcPts val="0"/>
              </a:spcBef>
              <a:spcAft>
                <a:spcPts val="0"/>
              </a:spcAft>
            </a:pPr>
            <a:r>
              <a:rPr lang="en-US" sz="1800" b="1" kern="0" dirty="0">
                <a:solidFill>
                  <a:srgbClr val="000000"/>
                </a:solidFill>
                <a:effectLst/>
                <a:ea typeface="Calibri" panose="020F0502020204030204" pitchFamily="34" charset="0"/>
                <a:cs typeface="Calibri" panose="020F0502020204030204" pitchFamily="34" charset="0"/>
              </a:rPr>
              <a:t>CLICK</a:t>
            </a:r>
            <a:endParaRPr lang="en-US" sz="1800" b="1" kern="100" dirty="0">
              <a:effectLst/>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800" kern="100" dirty="0">
                <a:effectLst/>
                <a:ea typeface="Calibri" panose="020F0502020204030204" pitchFamily="34" charset="0"/>
                <a:cs typeface="Times New Roman" panose="02020603050405020304" pitchFamily="18" charset="0"/>
              </a:rPr>
              <a:t>Follow </a:t>
            </a:r>
            <a:r>
              <a:rPr lang="en-US" sz="1800" b="0" kern="100" dirty="0">
                <a:effectLst/>
                <a:ea typeface="Calibri" panose="020F0502020204030204" pitchFamily="34" charset="0"/>
                <a:cs typeface="Times New Roman" panose="02020603050405020304" pitchFamily="18" charset="0"/>
              </a:rPr>
              <a:t>2010 ADA Accessible Standards for physical accessibility when building or altering a building or facility. </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tab pos="457200" algn="l"/>
              </a:tabLst>
              <a:defRPr/>
            </a:pPr>
            <a:r>
              <a:rPr lang="en-US" sz="1800" b="1" kern="0" dirty="0">
                <a:solidFill>
                  <a:srgbClr val="000000"/>
                </a:solidFill>
                <a:effectLst/>
                <a:ea typeface="Calibri" panose="020F0502020204030204" pitchFamily="34" charset="0"/>
                <a:cs typeface="Calibri" panose="020F0502020204030204" pitchFamily="34" charset="0"/>
              </a:rPr>
              <a:t>CLICK</a:t>
            </a:r>
            <a:endParaRPr lang="en-US" sz="1800" kern="1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Arial" panose="020B0604020202020204" pitchFamily="34" charset="0"/>
              <a:buChar char="•"/>
              <a:tabLst>
                <a:tab pos="457200" algn="l"/>
              </a:tabLst>
            </a:pPr>
            <a:r>
              <a:rPr lang="en-US" sz="1800" kern="100" dirty="0">
                <a:effectLst/>
                <a:ea typeface="Calibri" panose="020F0502020204030204" pitchFamily="34" charset="0"/>
                <a:cs typeface="Times New Roman" panose="02020603050405020304" pitchFamily="18" charset="0"/>
              </a:rPr>
              <a:t>Provide auxiliary aids and services to ensure </a:t>
            </a:r>
            <a:r>
              <a:rPr lang="en-US" sz="1800" b="0" kern="100" dirty="0">
                <a:effectLst/>
                <a:ea typeface="Calibri" panose="020F0502020204030204" pitchFamily="34" charset="0"/>
                <a:cs typeface="Times New Roman" panose="02020603050405020304" pitchFamily="18" charset="0"/>
              </a:rPr>
              <a:t>effective communication </a:t>
            </a:r>
          </a:p>
          <a:p>
            <a:pPr marL="0" marR="0" lvl="0" indent="0">
              <a:lnSpc>
                <a:spcPct val="107000"/>
              </a:lnSpc>
              <a:spcBef>
                <a:spcPts val="0"/>
              </a:spcBef>
              <a:spcAft>
                <a:spcPts val="0"/>
              </a:spcAft>
              <a:buFont typeface="Arial" panose="020B0604020202020204" pitchFamily="34" charset="0"/>
              <a:buNone/>
              <a:tabLst>
                <a:tab pos="457200" algn="l"/>
              </a:tabLst>
            </a:pPr>
            <a:r>
              <a:rPr lang="en-US" sz="1800" b="1" kern="0" dirty="0">
                <a:solidFill>
                  <a:srgbClr val="000000"/>
                </a:solidFill>
                <a:effectLst/>
                <a:ea typeface="Calibri" panose="020F0502020204030204" pitchFamily="34" charset="0"/>
                <a:cs typeface="Calibri" panose="020F0502020204030204" pitchFamily="34" charset="0"/>
              </a:rPr>
              <a:t>CLICK</a:t>
            </a:r>
            <a:endParaRPr lang="en-US" sz="1800" kern="1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Arial" panose="020B0604020202020204" pitchFamily="34" charset="0"/>
              <a:buChar char="•"/>
              <a:tabLst>
                <a:tab pos="457200" algn="l"/>
              </a:tabLst>
            </a:pPr>
            <a:r>
              <a:rPr lang="en-US" sz="1800" kern="100" dirty="0">
                <a:effectLst/>
                <a:ea typeface="Calibri" panose="020F0502020204030204" pitchFamily="34" charset="0"/>
                <a:cs typeface="Times New Roman" panose="02020603050405020304" pitchFamily="18" charset="0"/>
              </a:rPr>
              <a:t>Make </a:t>
            </a:r>
            <a:r>
              <a:rPr lang="en-US" sz="1800" b="0" kern="100" dirty="0">
                <a:effectLst/>
                <a:ea typeface="Calibri" panose="020F0502020204030204" pitchFamily="34" charset="0"/>
                <a:cs typeface="Times New Roman" panose="02020603050405020304" pitchFamily="18" charset="0"/>
              </a:rPr>
              <a:t>reasonable modifications to policies, practices, &amp; procedures</a:t>
            </a:r>
          </a:p>
          <a:p>
            <a:pPr marL="342900" indent="-347472">
              <a:lnSpc>
                <a:spcPct val="100000"/>
              </a:lnSpc>
              <a:spcBef>
                <a:spcPts val="0"/>
              </a:spcBef>
              <a:spcAft>
                <a:spcPts val="3000"/>
              </a:spcAft>
              <a:buClr>
                <a:schemeClr val="tx1"/>
              </a:buClr>
              <a:buSzPct val="100000"/>
              <a:buFont typeface="Arial" panose="020B0604020202020204" pitchFamily="34" charset="0"/>
              <a:buChar char="•"/>
            </a:pPr>
            <a:r>
              <a:rPr lang="en-US" sz="1800" b="0" kern="100" dirty="0">
                <a:effectLst/>
                <a:ea typeface="Calibri" panose="020F0502020204030204" pitchFamily="34" charset="0"/>
                <a:cs typeface="Times New Roman" panose="02020603050405020304" pitchFamily="18" charset="0"/>
              </a:rPr>
              <a:t>We will discuss these concepts in </a:t>
            </a:r>
            <a:r>
              <a:rPr lang="en-US" sz="4000" i="1" dirty="0">
                <a:solidFill>
                  <a:srgbClr val="1A2026"/>
                </a:solidFill>
              </a:rPr>
              <a:t>Americans with Disabilities Act (ADA) – </a:t>
            </a:r>
            <a:r>
              <a:rPr lang="en-US" sz="1800" b="0" dirty="0">
                <a:solidFill>
                  <a:srgbClr val="1A2026"/>
                </a:solidFill>
              </a:rPr>
              <a:t>ADA Requirements</a:t>
            </a:r>
          </a:p>
          <a:p>
            <a:pPr marL="0" marR="0" lvl="0" indent="0">
              <a:lnSpc>
                <a:spcPct val="107000"/>
              </a:lnSpc>
              <a:spcBef>
                <a:spcPts val="0"/>
              </a:spcBef>
              <a:spcAft>
                <a:spcPts val="0"/>
              </a:spcAft>
              <a:buFont typeface="Arial" panose="020B0604020202020204" pitchFamily="34" charset="0"/>
              <a:buNone/>
              <a:tabLst>
                <a:tab pos="457200" algn="l"/>
              </a:tabLst>
            </a:pPr>
            <a:r>
              <a:rPr lang="en-US" sz="1800" dirty="0"/>
              <a:t>Moving onto slide </a:t>
            </a:r>
            <a:r>
              <a:rPr lang="en-US" sz="1800" b="0" kern="100" dirty="0">
                <a:effectLst/>
                <a:cs typeface="Times New Roman" panose="02020603050405020304" pitchFamily="18" charset="0"/>
              </a:rPr>
              <a:t>9</a:t>
            </a:r>
            <a:endParaRPr lang="en-US" sz="1800" b="0" kern="100" dirty="0">
              <a:effectLs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40E60467-868E-4120-BCCD-97469C488C52}" type="slidenum">
              <a:rPr lang="en-US" smtClean="0"/>
              <a:t>8</a:t>
            </a:fld>
            <a:endParaRPr lang="en-US" dirty="0"/>
          </a:p>
        </p:txBody>
      </p:sp>
    </p:spTree>
    <p:extLst>
      <p:ext uri="{BB962C8B-B14F-4D97-AF65-F5344CB8AC3E}">
        <p14:creationId xmlns:p14="http://schemas.microsoft.com/office/powerpoint/2010/main" val="3667408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319088"/>
            <a:ext cx="5486400" cy="3086100"/>
          </a:xfrm>
        </p:spPr>
      </p:sp>
      <p:sp>
        <p:nvSpPr>
          <p:cNvPr id="3" name="Notes Placeholder 2"/>
          <p:cNvSpPr>
            <a:spLocks noGrp="1"/>
          </p:cNvSpPr>
          <p:nvPr>
            <p:ph type="body" idx="1"/>
          </p:nvPr>
        </p:nvSpPr>
        <p:spPr>
          <a:xfrm>
            <a:off x="212325" y="3522569"/>
            <a:ext cx="6433350" cy="5531119"/>
          </a:xfrm>
        </p:spPr>
        <p:txBody>
          <a:bodyPr/>
          <a:lstStyle/>
          <a:p>
            <a:pPr>
              <a:spcAft>
                <a:spcPts val="1222"/>
              </a:spcAft>
            </a:pPr>
            <a:r>
              <a:rPr lang="en-US" sz="1800" dirty="0"/>
              <a:t>Let’s look at a couple of common ADA terms in further detail: Accessibility and Accommodation/Modification</a:t>
            </a:r>
          </a:p>
          <a:p>
            <a:pPr>
              <a:spcAft>
                <a:spcPts val="1222"/>
              </a:spcAft>
            </a:pPr>
            <a:r>
              <a:rPr lang="en-US" sz="1800" b="1" dirty="0"/>
              <a:t>CLICK</a:t>
            </a:r>
          </a:p>
          <a:p>
            <a:pPr marL="285750" indent="-285750">
              <a:spcAft>
                <a:spcPts val="1222"/>
              </a:spcAft>
              <a:buFont typeface="Arial" panose="020B0604020202020204" pitchFamily="34" charset="0"/>
              <a:buChar char="•"/>
            </a:pPr>
            <a:r>
              <a:rPr lang="en-US" sz="1800" dirty="0"/>
              <a:t>Accessibility is proactive and strives to remove barriers during the design stage of a building or digital environment, as well as an event, program, or service. </a:t>
            </a:r>
          </a:p>
          <a:p>
            <a:pPr>
              <a:spcAft>
                <a:spcPts val="1222"/>
              </a:spcAft>
            </a:pPr>
            <a:r>
              <a:rPr lang="en-US" sz="1800" b="1" dirty="0"/>
              <a:t>CLICK</a:t>
            </a:r>
          </a:p>
          <a:p>
            <a:pPr marL="285750" indent="-285750">
              <a:spcAft>
                <a:spcPts val="1222"/>
              </a:spcAft>
              <a:buFont typeface="Arial" panose="020B0604020202020204" pitchFamily="34" charset="0"/>
              <a:buChar char="•"/>
            </a:pPr>
            <a:r>
              <a:rPr lang="en-US" sz="1800" dirty="0"/>
              <a:t>Accessibility doesn’t require self-disclosure of a disability </a:t>
            </a:r>
          </a:p>
          <a:p>
            <a:pPr>
              <a:spcAft>
                <a:spcPts val="1222"/>
              </a:spcAft>
            </a:pPr>
            <a:r>
              <a:rPr lang="en-US" sz="1800" b="1" dirty="0"/>
              <a:t>CLICK</a:t>
            </a:r>
          </a:p>
          <a:p>
            <a:pPr marL="285750" indent="-285750">
              <a:spcAft>
                <a:spcPts val="1222"/>
              </a:spcAft>
              <a:buFont typeface="Arial" panose="020B0604020202020204" pitchFamily="34" charset="0"/>
              <a:buChar char="•"/>
            </a:pPr>
            <a:r>
              <a:rPr lang="en-US" sz="1800" dirty="0"/>
              <a:t>Accessibility requirements are the floor, not the ceiling</a:t>
            </a:r>
          </a:p>
          <a:p>
            <a:pPr>
              <a:spcAft>
                <a:spcPts val="1222"/>
              </a:spcAft>
            </a:pPr>
            <a:r>
              <a:rPr lang="en-US" sz="1800" b="1" dirty="0"/>
              <a:t>CLICK</a:t>
            </a:r>
          </a:p>
          <a:p>
            <a:pPr marL="285750" indent="-285750">
              <a:spcAft>
                <a:spcPts val="1222"/>
              </a:spcAft>
              <a:buFont typeface="Arial" panose="020B0604020202020204" pitchFamily="34" charset="0"/>
              <a:buChar char="•"/>
            </a:pPr>
            <a:r>
              <a:rPr lang="en-US" sz="1800" dirty="0"/>
              <a:t>When covered entities meet accessibility standards, they will have fewer accommodation/modification requests</a:t>
            </a:r>
          </a:p>
          <a:p>
            <a:pPr>
              <a:spcAft>
                <a:spcPts val="1222"/>
              </a:spcAft>
            </a:pPr>
            <a:r>
              <a:rPr lang="en-US" sz="1800" b="1" dirty="0"/>
              <a:t>CLICK</a:t>
            </a:r>
          </a:p>
          <a:p>
            <a:pPr marL="285750" indent="-285750">
              <a:spcAft>
                <a:spcPts val="1222"/>
              </a:spcAft>
              <a:buFont typeface="Arial" panose="020B0604020202020204" pitchFamily="34" charset="0"/>
              <a:buChar char="•"/>
            </a:pPr>
            <a:r>
              <a:rPr lang="en-US" sz="1800" dirty="0"/>
              <a:t>Employment Reasonable Accommodations &amp; Reasonable Modification provided by state and local governments and businesses are reactive measures taken specifically to address the specific needs of an individual with a disability </a:t>
            </a:r>
          </a:p>
          <a:p>
            <a:pPr>
              <a:spcAft>
                <a:spcPts val="1222"/>
              </a:spcAft>
            </a:pPr>
            <a:r>
              <a:rPr lang="en-US" sz="1800" b="1" dirty="0"/>
              <a:t>CLICK</a:t>
            </a:r>
          </a:p>
          <a:p>
            <a:pPr marL="285750" indent="-285750">
              <a:spcAft>
                <a:spcPts val="1222"/>
              </a:spcAft>
              <a:buFont typeface="Arial" panose="020B0604020202020204" pitchFamily="34" charset="0"/>
              <a:buChar char="•"/>
            </a:pPr>
            <a:r>
              <a:rPr lang="en-US" sz="1800" dirty="0"/>
              <a:t>Reasonable Accommodations &amp; Reasonable Modifications require self-disclosure of a disability </a:t>
            </a:r>
          </a:p>
          <a:p>
            <a:r>
              <a:rPr lang="en-US" sz="1200" dirty="0"/>
              <a:t>Moving onto our last slide, slide 10</a:t>
            </a:r>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9</a:t>
            </a:fld>
            <a:endParaRPr lang="en-US" dirty="0"/>
          </a:p>
        </p:txBody>
      </p:sp>
    </p:spTree>
    <p:extLst>
      <p:ext uri="{BB962C8B-B14F-4D97-AF65-F5344CB8AC3E}">
        <p14:creationId xmlns:p14="http://schemas.microsoft.com/office/powerpoint/2010/main" val="3110955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To learn more about the concepts reviewed during this training, check out the ADA resources provided in this unit within Brightspace.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200" b="1" dirty="0">
                <a:solidFill>
                  <a:schemeClr val="tx1"/>
                </a:solidFill>
              </a:rPr>
              <a:t>CLICK</a:t>
            </a: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If you have questions about the ADA, call your regional ADA Center at 800-949-4232</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200" b="1" dirty="0">
                <a:solidFill>
                  <a:schemeClr val="tx1"/>
                </a:solidFill>
              </a:rPr>
              <a:t>CLICK</a:t>
            </a:r>
            <a:endParaRPr lang="en-US" altLang="en-US" sz="1200" b="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concludes the </a:t>
            </a:r>
            <a:r>
              <a:rPr lang="en-US" i="1" dirty="0">
                <a:solidFill>
                  <a:srgbClr val="1A2026"/>
                </a:solidFill>
              </a:rPr>
              <a:t>Americans with Disabilities Act</a:t>
            </a:r>
            <a:r>
              <a:rPr lang="en-US" dirty="0"/>
              <a:t>- </a:t>
            </a:r>
            <a:r>
              <a:rPr lang="en-US" i="1" dirty="0">
                <a:solidFill>
                  <a:srgbClr val="1A2026"/>
                </a:solidFill>
              </a:rPr>
              <a:t>Overview of the ADA</a:t>
            </a:r>
            <a:r>
              <a:rPr lang="en-US" dirty="0"/>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next step is to view the </a:t>
            </a:r>
            <a:r>
              <a:rPr lang="en-US" i="1" dirty="0">
                <a:solidFill>
                  <a:srgbClr val="1A2026"/>
                </a:solidFill>
              </a:rPr>
              <a:t>Americans with Disabilities Act–</a:t>
            </a:r>
            <a:r>
              <a:rPr lang="en-US" sz="1200" b="0" i="0" dirty="0">
                <a:solidFill>
                  <a:srgbClr val="1A2026"/>
                </a:solidFill>
                <a:effectLst/>
              </a:rPr>
              <a:t>5 Titles of the ADA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i="1">
                <a:solidFill>
                  <a:srgbClr val="1A2026"/>
                </a:solidFill>
              </a:rPr>
              <a:t>Thank you</a:t>
            </a:r>
            <a:endParaRPr lang="en-US" i="1"/>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i="1" dirty="0"/>
          </a:p>
        </p:txBody>
      </p:sp>
      <p:sp>
        <p:nvSpPr>
          <p:cNvPr id="4" name="Slide Number Placeholder 3"/>
          <p:cNvSpPr>
            <a:spLocks noGrp="1"/>
          </p:cNvSpPr>
          <p:nvPr>
            <p:ph type="sldNum" sz="quarter" idx="5"/>
          </p:nvPr>
        </p:nvSpPr>
        <p:spPr/>
        <p:txBody>
          <a:bodyPr/>
          <a:lstStyle/>
          <a:p>
            <a:fld id="{40E60467-868E-4120-BCCD-97469C488C52}" type="slidenum">
              <a:rPr lang="en-US" smtClean="0"/>
              <a:t>10</a:t>
            </a:fld>
            <a:endParaRPr lang="en-US" dirty="0"/>
          </a:p>
        </p:txBody>
      </p:sp>
    </p:spTree>
    <p:extLst>
      <p:ext uri="{BB962C8B-B14F-4D97-AF65-F5344CB8AC3E}">
        <p14:creationId xmlns:p14="http://schemas.microsoft.com/office/powerpoint/2010/main" val="39576161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6B697-AADF-4B5B-BDFA-7C5EEA36DACB}"/>
              </a:ext>
            </a:extLst>
          </p:cNvPr>
          <p:cNvSpPr>
            <a:spLocks noGrp="1"/>
          </p:cNvSpPr>
          <p:nvPr>
            <p:ph type="ctrTitle"/>
          </p:nvPr>
        </p:nvSpPr>
        <p:spPr>
          <a:xfrm>
            <a:off x="0" y="2503487"/>
            <a:ext cx="12192000" cy="1006475"/>
          </a:xfrm>
          <a:prstGeom prst="rect">
            <a:avLst/>
          </a:prstGeom>
        </p:spPr>
        <p:txBody>
          <a:bodyPr anchor="b">
            <a:normAutofit/>
          </a:bodyPr>
          <a:lstStyle>
            <a:lvl1pPr algn="ctr">
              <a:defRPr sz="5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DF369B17-3B56-4E4B-8C66-CB4E097840CA}"/>
              </a:ext>
            </a:extLst>
          </p:cNvPr>
          <p:cNvSpPr>
            <a:spLocks noGrp="1"/>
          </p:cNvSpPr>
          <p:nvPr>
            <p:ph type="subTitle" idx="1"/>
          </p:nvPr>
        </p:nvSpPr>
        <p:spPr>
          <a:xfrm>
            <a:off x="1524000" y="3686012"/>
            <a:ext cx="9144000" cy="445987"/>
          </a:xfrm>
          <a:prstGeom prst="rect">
            <a:avLst/>
          </a:prstGeom>
        </p:spPr>
        <p:txBody>
          <a:bodyPr>
            <a:noAutofit/>
          </a:bodyPr>
          <a:lstStyle>
            <a:lvl1pPr marL="0" indent="0" algn="ctr">
              <a:buNone/>
              <a:defRPr sz="26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a:extLst>
              <a:ext uri="{FF2B5EF4-FFF2-40B4-BE49-F238E27FC236}">
                <a16:creationId xmlns:a16="http://schemas.microsoft.com/office/drawing/2014/main" id="{8AE8C83D-9332-4AA3-A687-19395E8264DF}"/>
              </a:ext>
            </a:extLst>
          </p:cNvPr>
          <p:cNvSpPr>
            <a:spLocks noGrp="1"/>
          </p:cNvSpPr>
          <p:nvPr>
            <p:ph type="sldNum" sz="quarter" idx="12"/>
          </p:nvPr>
        </p:nvSpPr>
        <p:spPr>
          <a:xfrm>
            <a:off x="9199880" y="6352540"/>
            <a:ext cx="2743200" cy="365125"/>
          </a:xfrm>
          <a:prstGeom prst="rect">
            <a:avLst/>
          </a:prstGeom>
        </p:spPr>
        <p:txBody>
          <a:bodyPr/>
          <a:lstStyle>
            <a:lvl1pPr algn="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7" name="Rectangle 6">
            <a:extLst>
              <a:ext uri="{FF2B5EF4-FFF2-40B4-BE49-F238E27FC236}">
                <a16:creationId xmlns:a16="http://schemas.microsoft.com/office/drawing/2014/main" id="{9E3E90D3-3A88-4C42-9FC7-3F8911146C6E}"/>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0" name="Picture 9" descr="Great Lakes ADA Center Logo">
            <a:extLst>
              <a:ext uri="{FF2B5EF4-FFF2-40B4-BE49-F238E27FC236}">
                <a16:creationId xmlns:a16="http://schemas.microsoft.com/office/drawing/2014/main" id="{063C4914-6CDC-4E2A-8601-8D963CA7C5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1" name="TextBox 10">
            <a:extLst>
              <a:ext uri="{FF2B5EF4-FFF2-40B4-BE49-F238E27FC236}">
                <a16:creationId xmlns:a16="http://schemas.microsoft.com/office/drawing/2014/main" id="{7A4361BA-743B-4239-B1F2-F6EBEDCC2EC1}"/>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Tree>
    <p:extLst>
      <p:ext uri="{BB962C8B-B14F-4D97-AF65-F5344CB8AC3E}">
        <p14:creationId xmlns:p14="http://schemas.microsoft.com/office/powerpoint/2010/main" val="4192679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A45C6-2D39-4CAA-AAB8-1B99E4A13C91}"/>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438BC5F2-7BED-4188-839B-AB7B42659ED6}"/>
              </a:ext>
            </a:extLst>
          </p:cNvPr>
          <p:cNvSpPr>
            <a:spLocks noGrp="1"/>
          </p:cNvSpPr>
          <p:nvPr>
            <p:ph idx="1"/>
          </p:nvPr>
        </p:nvSpPr>
        <p:spPr>
          <a:xfrm>
            <a:off x="838200" y="1823283"/>
            <a:ext cx="10515600" cy="435368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nSpc>
                <a:spcPct val="100000"/>
              </a:lnSpc>
              <a:spcBef>
                <a:spcPts val="600"/>
              </a:spcBef>
              <a:defRPr sz="2600" baseline="0">
                <a:latin typeface="Arial" panose="020B0604020202020204" pitchFamily="34" charset="0"/>
                <a:cs typeface="Arial" panose="020B0604020202020204" pitchFamily="34" charset="0"/>
              </a:defRPr>
            </a:lvl2pPr>
            <a:lvl3pPr marL="1143000" indent="-182880">
              <a:lnSpc>
                <a:spcPct val="100000"/>
              </a:lnSpc>
              <a:spcBef>
                <a:spcPts val="600"/>
              </a:spcBef>
              <a:buSzPct val="90000"/>
              <a:buFont typeface="Wingdings" panose="05000000000000000000" pitchFamily="2" charset="2"/>
              <a:buChar char="§"/>
              <a:defRPr sz="2400">
                <a:latin typeface="Arial" panose="020B0604020202020204" pitchFamily="34" charset="0"/>
                <a:cs typeface="Arial" panose="020B0604020202020204" pitchFamily="34" charset="0"/>
              </a:defRPr>
            </a:lvl3pPr>
            <a:lvl4pPr marL="16002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4pPr>
            <a:lvl5pPr marL="20574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0C30E95-B5EC-4389-84F8-9D8ACD4E178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7380DD-8276-4811-83A9-3D963CE4FD7A}"/>
              </a:ext>
            </a:extLst>
          </p:cNvPr>
          <p:cNvSpPr>
            <a:spLocks noGrp="1"/>
          </p:cNvSpPr>
          <p:nvPr>
            <p:ph type="ftr" sz="quarter" idx="11"/>
          </p:nvPr>
        </p:nvSpPr>
        <p:spPr/>
        <p:txBody>
          <a:bodyPr/>
          <a:lstStyle/>
          <a:p>
            <a:endParaRPr lang="en-US" dirty="0"/>
          </a:p>
        </p:txBody>
      </p:sp>
      <p:sp>
        <p:nvSpPr>
          <p:cNvPr id="7" name="Rectangle 6">
            <a:extLst>
              <a:ext uri="{FF2B5EF4-FFF2-40B4-BE49-F238E27FC236}">
                <a16:creationId xmlns:a16="http://schemas.microsoft.com/office/drawing/2014/main" id="{3805A767-A071-4356-B862-8141438BE659}"/>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8" name="Picture 7" descr="Great Lakes ADA Center Logo">
            <a:extLst>
              <a:ext uri="{FF2B5EF4-FFF2-40B4-BE49-F238E27FC236}">
                <a16:creationId xmlns:a16="http://schemas.microsoft.com/office/drawing/2014/main" id="{F7512FE2-31F3-45F6-AB6E-262603B756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9" name="TextBox 8">
            <a:extLst>
              <a:ext uri="{FF2B5EF4-FFF2-40B4-BE49-F238E27FC236}">
                <a16:creationId xmlns:a16="http://schemas.microsoft.com/office/drawing/2014/main" id="{A10A531D-88C5-4E50-B1B1-77921D291A6D}"/>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0" name="Slide Number Placeholder 5">
            <a:extLst>
              <a:ext uri="{FF2B5EF4-FFF2-40B4-BE49-F238E27FC236}">
                <a16:creationId xmlns:a16="http://schemas.microsoft.com/office/drawing/2014/main" id="{5E718D1A-8C96-4B6D-AE6F-5F520AEB52BD}"/>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2" name="Picture 11" descr="A blue and black logo&#10;&#10;Description automatically generated with medium confidence">
            <a:extLst>
              <a:ext uri="{FF2B5EF4-FFF2-40B4-BE49-F238E27FC236}">
                <a16:creationId xmlns:a16="http://schemas.microsoft.com/office/drawing/2014/main" id="{9316E9A4-964C-46CE-873A-2C0820133B5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Tree>
    <p:extLst>
      <p:ext uri="{BB962C8B-B14F-4D97-AF65-F5344CB8AC3E}">
        <p14:creationId xmlns:p14="http://schemas.microsoft.com/office/powerpoint/2010/main" val="1726645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1C3E6-4F14-4493-A95F-5AE51C3867FA}"/>
              </a:ext>
            </a:extLst>
          </p:cNvPr>
          <p:cNvSpPr>
            <a:spLocks noGrp="1"/>
          </p:cNvSpPr>
          <p:nvPr>
            <p:ph type="title"/>
          </p:nvPr>
        </p:nvSpPr>
        <p:spPr>
          <a:xfrm>
            <a:off x="831850" y="1709738"/>
            <a:ext cx="10515600" cy="2852737"/>
          </a:xfrm>
          <a:prstGeom prst="rect">
            <a:avLst/>
          </a:prstGeom>
        </p:spPr>
        <p:txBody>
          <a:bodyPr anchor="b">
            <a:normAutofit/>
          </a:bodyPr>
          <a:lstStyle>
            <a:lvl1pPr>
              <a:defRPr sz="5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B30AC31A-C92F-4518-ABEE-8CD6CA202F4A}"/>
              </a:ext>
            </a:extLst>
          </p:cNvPr>
          <p:cNvSpPr>
            <a:spLocks noGrp="1"/>
          </p:cNvSpPr>
          <p:nvPr>
            <p:ph type="body" idx="1"/>
          </p:nvPr>
        </p:nvSpPr>
        <p:spPr>
          <a:xfrm>
            <a:off x="831850" y="4589463"/>
            <a:ext cx="10515600" cy="1500187"/>
          </a:xfrm>
          <a:prstGeom prst="rect">
            <a:avLst/>
          </a:prstGeom>
        </p:spPr>
        <p:txBody>
          <a:bodyPr/>
          <a:lstStyle>
            <a:lvl1pPr marL="0" indent="0">
              <a:buNone/>
              <a:defRPr sz="2400" b="0">
                <a:solidFill>
                  <a:schemeClr val="tx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C65140FE-8272-4BBE-AC7A-76C6704F22F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D8BE251F-0289-47CA-A1F7-AA5CE80E9FAF}"/>
              </a:ext>
            </a:extLst>
          </p:cNvPr>
          <p:cNvSpPr>
            <a:spLocks noGrp="1"/>
          </p:cNvSpPr>
          <p:nvPr>
            <p:ph type="ftr" sz="quarter" idx="11"/>
          </p:nvPr>
        </p:nvSpPr>
        <p:spPr/>
        <p:txBody>
          <a:bodyPr/>
          <a:lstStyle/>
          <a:p>
            <a:endParaRPr lang="en-US" dirty="0"/>
          </a:p>
        </p:txBody>
      </p:sp>
      <p:sp>
        <p:nvSpPr>
          <p:cNvPr id="7" name="Rectangle 6">
            <a:extLst>
              <a:ext uri="{FF2B5EF4-FFF2-40B4-BE49-F238E27FC236}">
                <a16:creationId xmlns:a16="http://schemas.microsoft.com/office/drawing/2014/main" id="{B4AF4C47-64C5-420C-A05B-CC30B5FCE271}"/>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8" name="Picture 7" descr="Great Lakes ADA Center Logo">
            <a:extLst>
              <a:ext uri="{FF2B5EF4-FFF2-40B4-BE49-F238E27FC236}">
                <a16:creationId xmlns:a16="http://schemas.microsoft.com/office/drawing/2014/main" id="{61A85098-592F-4DC9-8019-4353E5F509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9" name="TextBox 8">
            <a:extLst>
              <a:ext uri="{FF2B5EF4-FFF2-40B4-BE49-F238E27FC236}">
                <a16:creationId xmlns:a16="http://schemas.microsoft.com/office/drawing/2014/main" id="{AD9BE9B6-9CD1-4605-AE7B-F009A0F30DB1}"/>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0" name="Slide Number Placeholder 5">
            <a:extLst>
              <a:ext uri="{FF2B5EF4-FFF2-40B4-BE49-F238E27FC236}">
                <a16:creationId xmlns:a16="http://schemas.microsoft.com/office/drawing/2014/main" id="{CA5FB1DC-BCDB-4814-B3F4-C086DC3D0551}"/>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835784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1E0C3B-3AD2-40B9-B584-A8CB95D95665}"/>
              </a:ext>
            </a:extLst>
          </p:cNvPr>
          <p:cNvSpPr>
            <a:spLocks noGrp="1"/>
          </p:cNvSpPr>
          <p:nvPr>
            <p:ph sz="half" idx="1"/>
          </p:nvPr>
        </p:nvSpPr>
        <p:spPr>
          <a:xfrm>
            <a:off x="838200" y="1823283"/>
            <a:ext cx="5334000" cy="422304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8446652-59E9-447E-8DE5-DDC23C203AD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E7186E85-3B71-426E-970C-250A0BF767DC}"/>
              </a:ext>
            </a:extLst>
          </p:cNvPr>
          <p:cNvSpPr>
            <a:spLocks noGrp="1"/>
          </p:cNvSpPr>
          <p:nvPr>
            <p:ph type="ftr" sz="quarter" idx="11"/>
          </p:nvPr>
        </p:nvSpPr>
        <p:spPr/>
        <p:txBody>
          <a:bodyPr/>
          <a:lstStyle/>
          <a:p>
            <a:endParaRPr lang="en-US" dirty="0"/>
          </a:p>
        </p:txBody>
      </p:sp>
      <p:sp>
        <p:nvSpPr>
          <p:cNvPr id="8" name="Rectangle 7">
            <a:extLst>
              <a:ext uri="{FF2B5EF4-FFF2-40B4-BE49-F238E27FC236}">
                <a16:creationId xmlns:a16="http://schemas.microsoft.com/office/drawing/2014/main" id="{06D4CC1D-9749-47F2-9F1C-4395A5EB78DC}"/>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9" name="Picture 8" descr="Great Lakes ADA Center Logo">
            <a:extLst>
              <a:ext uri="{FF2B5EF4-FFF2-40B4-BE49-F238E27FC236}">
                <a16:creationId xmlns:a16="http://schemas.microsoft.com/office/drawing/2014/main" id="{9B4D940D-154E-4428-8CD8-15247DAD60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0" name="TextBox 9">
            <a:extLst>
              <a:ext uri="{FF2B5EF4-FFF2-40B4-BE49-F238E27FC236}">
                <a16:creationId xmlns:a16="http://schemas.microsoft.com/office/drawing/2014/main" id="{CED8A158-8BB6-417C-B6BF-41D3646CAEFE}"/>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2" name="Slide Number Placeholder 5">
            <a:extLst>
              <a:ext uri="{FF2B5EF4-FFF2-40B4-BE49-F238E27FC236}">
                <a16:creationId xmlns:a16="http://schemas.microsoft.com/office/drawing/2014/main" id="{75BFECCB-0466-4C1B-B5D4-ED9D5EFED82E}"/>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3" name="Picture 12" descr="A blue and black logo&#10;&#10;Description automatically generated with medium confidence">
            <a:extLst>
              <a:ext uri="{FF2B5EF4-FFF2-40B4-BE49-F238E27FC236}">
                <a16:creationId xmlns:a16="http://schemas.microsoft.com/office/drawing/2014/main" id="{F3681B53-9206-4AC5-96C2-FE910C0A122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4" name="Content Placeholder 2">
            <a:extLst>
              <a:ext uri="{FF2B5EF4-FFF2-40B4-BE49-F238E27FC236}">
                <a16:creationId xmlns:a16="http://schemas.microsoft.com/office/drawing/2014/main" id="{1A1D122C-5EA1-4887-BE48-3D0CC2063A5B}"/>
              </a:ext>
            </a:extLst>
          </p:cNvPr>
          <p:cNvSpPr>
            <a:spLocks noGrp="1"/>
          </p:cNvSpPr>
          <p:nvPr>
            <p:ph sz="half" idx="13"/>
          </p:nvPr>
        </p:nvSpPr>
        <p:spPr>
          <a:xfrm>
            <a:off x="6183560" y="1823282"/>
            <a:ext cx="5334000" cy="422304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
            <a:extLst>
              <a:ext uri="{FF2B5EF4-FFF2-40B4-BE49-F238E27FC236}">
                <a16:creationId xmlns:a16="http://schemas.microsoft.com/office/drawing/2014/main" id="{1869BF63-28BC-4E67-80CA-4A26E9AE9EDE}"/>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2601110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B89D18-FEBB-4366-AAF1-9E031C54EE16}"/>
              </a:ext>
            </a:extLst>
          </p:cNvPr>
          <p:cNvSpPr>
            <a:spLocks noGrp="1"/>
          </p:cNvSpPr>
          <p:nvPr>
            <p:ph type="body" idx="1"/>
          </p:nvPr>
        </p:nvSpPr>
        <p:spPr>
          <a:xfrm>
            <a:off x="839787" y="1823283"/>
            <a:ext cx="5311755" cy="681792"/>
          </a:xfrm>
          <a:prstGeom prst="rect">
            <a:avLst/>
          </a:prstGeom>
        </p:spPr>
        <p:txBody>
          <a:bodyPr anchor="b">
            <a:noAutofit/>
          </a:bodyPr>
          <a:lstStyle>
            <a:lvl1pPr marL="0" indent="0">
              <a:buNone/>
              <a:defRPr sz="28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A0C0206A-6894-4182-86E8-7AD013C4B233}"/>
              </a:ext>
            </a:extLst>
          </p:cNvPr>
          <p:cNvSpPr>
            <a:spLocks noGrp="1"/>
          </p:cNvSpPr>
          <p:nvPr>
            <p:ph type="body" sz="quarter" idx="3"/>
          </p:nvPr>
        </p:nvSpPr>
        <p:spPr>
          <a:xfrm>
            <a:off x="6415503" y="1821446"/>
            <a:ext cx="5311755" cy="681793"/>
          </a:xfrm>
          <a:prstGeom prst="rect">
            <a:avLst/>
          </a:prstGeom>
        </p:spPr>
        <p:txBody>
          <a:bodyPr anchor="b">
            <a:noAutofit/>
          </a:bodyPr>
          <a:lstStyle>
            <a:lvl1pPr marL="0" indent="0">
              <a:buNone/>
              <a:defRPr sz="28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Date Placeholder 6">
            <a:extLst>
              <a:ext uri="{FF2B5EF4-FFF2-40B4-BE49-F238E27FC236}">
                <a16:creationId xmlns:a16="http://schemas.microsoft.com/office/drawing/2014/main" id="{98CD63A9-E7CA-49AC-ACBE-FA8D1F9AA59E}"/>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6F221F0F-BE4E-4A93-B2EB-02933E330628}"/>
              </a:ext>
            </a:extLst>
          </p:cNvPr>
          <p:cNvSpPr>
            <a:spLocks noGrp="1"/>
          </p:cNvSpPr>
          <p:nvPr>
            <p:ph type="ftr" sz="quarter" idx="11"/>
          </p:nvPr>
        </p:nvSpPr>
        <p:spPr/>
        <p:txBody>
          <a:bodyPr/>
          <a:lstStyle/>
          <a:p>
            <a:endParaRPr lang="en-US" dirty="0"/>
          </a:p>
        </p:txBody>
      </p:sp>
      <p:sp>
        <p:nvSpPr>
          <p:cNvPr id="10" name="Rectangle 9">
            <a:extLst>
              <a:ext uri="{FF2B5EF4-FFF2-40B4-BE49-F238E27FC236}">
                <a16:creationId xmlns:a16="http://schemas.microsoft.com/office/drawing/2014/main" id="{1F777C50-0445-4424-9486-6AE6027BD038}"/>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1" name="Picture 10" descr="Great Lakes ADA Center Logo">
            <a:extLst>
              <a:ext uri="{FF2B5EF4-FFF2-40B4-BE49-F238E27FC236}">
                <a16:creationId xmlns:a16="http://schemas.microsoft.com/office/drawing/2014/main" id="{FBFBEB4D-1F79-48A5-83E1-5B296A7352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2" name="TextBox 11">
            <a:extLst>
              <a:ext uri="{FF2B5EF4-FFF2-40B4-BE49-F238E27FC236}">
                <a16:creationId xmlns:a16="http://schemas.microsoft.com/office/drawing/2014/main" id="{888978D7-9BD4-45C1-B334-30DF7DEC778C}"/>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4" name="Slide Number Placeholder 5">
            <a:extLst>
              <a:ext uri="{FF2B5EF4-FFF2-40B4-BE49-F238E27FC236}">
                <a16:creationId xmlns:a16="http://schemas.microsoft.com/office/drawing/2014/main" id="{D54A9D79-D4FF-46CC-85A3-841236EF8DCF}"/>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17" name="Content Placeholder 2">
            <a:extLst>
              <a:ext uri="{FF2B5EF4-FFF2-40B4-BE49-F238E27FC236}">
                <a16:creationId xmlns:a16="http://schemas.microsoft.com/office/drawing/2014/main" id="{144E307B-A373-41F5-A858-679BB34EDFAC}"/>
              </a:ext>
            </a:extLst>
          </p:cNvPr>
          <p:cNvSpPr>
            <a:spLocks noGrp="1"/>
          </p:cNvSpPr>
          <p:nvPr>
            <p:ph sz="half" idx="13"/>
          </p:nvPr>
        </p:nvSpPr>
        <p:spPr>
          <a:xfrm>
            <a:off x="838200" y="2573595"/>
            <a:ext cx="5334000" cy="3472727"/>
          </a:xfrm>
          <a:prstGeom prst="rect">
            <a:avLst/>
          </a:prstGeom>
        </p:spPr>
        <p:txBody>
          <a:bodyPr/>
          <a:lstStyle>
            <a:lvl1pPr marL="0" indent="0">
              <a:buNone/>
              <a:defRPr b="0">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a:extLst>
              <a:ext uri="{FF2B5EF4-FFF2-40B4-BE49-F238E27FC236}">
                <a16:creationId xmlns:a16="http://schemas.microsoft.com/office/drawing/2014/main" id="{3A6B19AB-6343-4688-8712-9DB1D0FEB8C2}"/>
              </a:ext>
            </a:extLst>
          </p:cNvPr>
          <p:cNvSpPr>
            <a:spLocks noGrp="1"/>
          </p:cNvSpPr>
          <p:nvPr>
            <p:ph sz="half" idx="14"/>
          </p:nvPr>
        </p:nvSpPr>
        <p:spPr>
          <a:xfrm>
            <a:off x="6404380" y="2569922"/>
            <a:ext cx="5334000" cy="3476400"/>
          </a:xfrm>
          <a:prstGeom prst="rect">
            <a:avLst/>
          </a:prstGeom>
        </p:spPr>
        <p:txBody>
          <a:bodyPr/>
          <a:lstStyle>
            <a:lvl1pPr marL="0" indent="0">
              <a:buNone/>
              <a:defRPr b="0">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9" name="Picture 18" descr="A blue and black logo&#10;&#10;Description automatically generated with medium confidence">
            <a:extLst>
              <a:ext uri="{FF2B5EF4-FFF2-40B4-BE49-F238E27FC236}">
                <a16:creationId xmlns:a16="http://schemas.microsoft.com/office/drawing/2014/main" id="{4E81C796-9A75-4B52-9431-4799EB1F40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20" name="Title 1">
            <a:extLst>
              <a:ext uri="{FF2B5EF4-FFF2-40B4-BE49-F238E27FC236}">
                <a16:creationId xmlns:a16="http://schemas.microsoft.com/office/drawing/2014/main" id="{6B6993ED-B142-4D9C-B3D8-D9AC6A174CF1}"/>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269661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102C23-2683-4B4B-AA23-37E6B1F8AB67}"/>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7E9F4F8C-3111-44C7-8636-B529776FF520}"/>
              </a:ext>
            </a:extLst>
          </p:cNvPr>
          <p:cNvSpPr>
            <a:spLocks noGrp="1"/>
          </p:cNvSpPr>
          <p:nvPr>
            <p:ph type="ftr" sz="quarter" idx="11"/>
          </p:nvPr>
        </p:nvSpPr>
        <p:spPr/>
        <p:txBody>
          <a:bodyPr/>
          <a:lstStyle/>
          <a:p>
            <a:endParaRPr lang="en-US" dirty="0"/>
          </a:p>
        </p:txBody>
      </p:sp>
      <p:sp>
        <p:nvSpPr>
          <p:cNvPr id="6" name="Rectangle 5">
            <a:extLst>
              <a:ext uri="{FF2B5EF4-FFF2-40B4-BE49-F238E27FC236}">
                <a16:creationId xmlns:a16="http://schemas.microsoft.com/office/drawing/2014/main" id="{8D7CB051-7C34-43BC-B62E-A2AC7EA49B45}"/>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7" name="Picture 6" descr="Great Lakes ADA Center Logo">
            <a:extLst>
              <a:ext uri="{FF2B5EF4-FFF2-40B4-BE49-F238E27FC236}">
                <a16:creationId xmlns:a16="http://schemas.microsoft.com/office/drawing/2014/main" id="{CB9B59AE-C96C-4C0B-A851-FBFC90FAED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8" name="TextBox 7">
            <a:extLst>
              <a:ext uri="{FF2B5EF4-FFF2-40B4-BE49-F238E27FC236}">
                <a16:creationId xmlns:a16="http://schemas.microsoft.com/office/drawing/2014/main" id="{1F1CD3B2-8302-42DA-B1F4-99AA733CF3D4}"/>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9" name="Slide Number Placeholder 5">
            <a:extLst>
              <a:ext uri="{FF2B5EF4-FFF2-40B4-BE49-F238E27FC236}">
                <a16:creationId xmlns:a16="http://schemas.microsoft.com/office/drawing/2014/main" id="{5DCCD664-C7F3-466C-9D7C-35A5A085B877}"/>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0" name="Picture 9" descr="A blue and black logo&#10;&#10;Description automatically generated with medium confidence">
            <a:extLst>
              <a:ext uri="{FF2B5EF4-FFF2-40B4-BE49-F238E27FC236}">
                <a16:creationId xmlns:a16="http://schemas.microsoft.com/office/drawing/2014/main" id="{1BC79AB4-4F85-4403-BE09-084B431A7C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2" name="Title 1">
            <a:extLst>
              <a:ext uri="{FF2B5EF4-FFF2-40B4-BE49-F238E27FC236}">
                <a16:creationId xmlns:a16="http://schemas.microsoft.com/office/drawing/2014/main" id="{C050C4CD-01E7-48D5-8ECC-647274FC5CA6}"/>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88909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33D2-6A5C-48E9-A65B-5BEA71498A52}"/>
              </a:ext>
            </a:extLst>
          </p:cNvPr>
          <p:cNvSpPr>
            <a:spLocks noGrp="1"/>
          </p:cNvSpPr>
          <p:nvPr>
            <p:ph type="title"/>
          </p:nvPr>
        </p:nvSpPr>
        <p:spPr>
          <a:xfrm>
            <a:off x="839788" y="987425"/>
            <a:ext cx="3932237" cy="1069974"/>
          </a:xfrm>
          <a:prstGeom prst="rect">
            <a:avLst/>
          </a:prstGeom>
        </p:spPr>
        <p:txBody>
          <a:bodyPr anchor="b">
            <a:noAutofit/>
          </a:bodyPr>
          <a:lstStyle>
            <a:lvl1pPr>
              <a:defRPr sz="36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7C5036BB-774C-4A49-A56A-24783B628134}"/>
              </a:ext>
            </a:extLst>
          </p:cNvPr>
          <p:cNvSpPr>
            <a:spLocks noGrp="1"/>
          </p:cNvSpPr>
          <p:nvPr>
            <p:ph type="body" sz="half" idx="2"/>
          </p:nvPr>
        </p:nvSpPr>
        <p:spPr>
          <a:xfrm>
            <a:off x="839788" y="2158210"/>
            <a:ext cx="3932237" cy="3710777"/>
          </a:xfrm>
          <a:prstGeom prst="rect">
            <a:avLst/>
          </a:prstGeom>
        </p:spPr>
        <p:txBody>
          <a:bodyPr>
            <a:normAutofit/>
          </a:bodyPr>
          <a:lstStyle>
            <a:lvl1pPr marL="0" indent="0">
              <a:buNone/>
              <a:defRPr sz="2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65706DE4-249F-4186-B59D-508D75FF3D3B}"/>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D35D79A-C33C-4C23-AA78-D88A74F47B99}"/>
              </a:ext>
            </a:extLst>
          </p:cNvPr>
          <p:cNvSpPr>
            <a:spLocks noGrp="1"/>
          </p:cNvSpPr>
          <p:nvPr>
            <p:ph type="ftr" sz="quarter" idx="11"/>
          </p:nvPr>
        </p:nvSpPr>
        <p:spPr/>
        <p:txBody>
          <a:bodyPr/>
          <a:lstStyle/>
          <a:p>
            <a:endParaRPr lang="en-US" dirty="0"/>
          </a:p>
        </p:txBody>
      </p:sp>
      <p:sp>
        <p:nvSpPr>
          <p:cNvPr id="8" name="Rectangle 7">
            <a:extLst>
              <a:ext uri="{FF2B5EF4-FFF2-40B4-BE49-F238E27FC236}">
                <a16:creationId xmlns:a16="http://schemas.microsoft.com/office/drawing/2014/main" id="{E3C3B159-F006-45E8-8757-6D1448F98D90}"/>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9" name="Picture 8" descr="Great Lakes ADA Center Logo">
            <a:extLst>
              <a:ext uri="{FF2B5EF4-FFF2-40B4-BE49-F238E27FC236}">
                <a16:creationId xmlns:a16="http://schemas.microsoft.com/office/drawing/2014/main" id="{AE0E6BC4-7CEC-42F2-A969-97780A91F8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0" name="TextBox 9">
            <a:extLst>
              <a:ext uri="{FF2B5EF4-FFF2-40B4-BE49-F238E27FC236}">
                <a16:creationId xmlns:a16="http://schemas.microsoft.com/office/drawing/2014/main" id="{E16CA744-EAA5-458D-93EE-F90E3D21A132}"/>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pic>
        <p:nvPicPr>
          <p:cNvPr id="11" name="Picture 10" descr="A blue and black logo&#10;&#10;Description automatically generated with medium confidence">
            <a:extLst>
              <a:ext uri="{FF2B5EF4-FFF2-40B4-BE49-F238E27FC236}">
                <a16:creationId xmlns:a16="http://schemas.microsoft.com/office/drawing/2014/main" id="{A0787189-DCFC-4BC5-87CE-87692C7DE4B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2" name="Slide Number Placeholder 5">
            <a:extLst>
              <a:ext uri="{FF2B5EF4-FFF2-40B4-BE49-F238E27FC236}">
                <a16:creationId xmlns:a16="http://schemas.microsoft.com/office/drawing/2014/main" id="{E7FE86DB-6C5F-43CB-B956-F77EF27C67C9}"/>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13" name="Content Placeholder 2">
            <a:extLst>
              <a:ext uri="{FF2B5EF4-FFF2-40B4-BE49-F238E27FC236}">
                <a16:creationId xmlns:a16="http://schemas.microsoft.com/office/drawing/2014/main" id="{49A905B8-E38D-4A42-B81E-9D9A6851F187}"/>
              </a:ext>
            </a:extLst>
          </p:cNvPr>
          <p:cNvSpPr>
            <a:spLocks noGrp="1"/>
          </p:cNvSpPr>
          <p:nvPr>
            <p:ph idx="1"/>
          </p:nvPr>
        </p:nvSpPr>
        <p:spPr>
          <a:xfrm>
            <a:off x="5020682" y="987426"/>
            <a:ext cx="6922398" cy="4881562"/>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nSpc>
                <a:spcPct val="100000"/>
              </a:lnSpc>
              <a:spcBef>
                <a:spcPts val="600"/>
              </a:spcBef>
              <a:defRPr sz="2600">
                <a:latin typeface="Arial" panose="020B0604020202020204" pitchFamily="34" charset="0"/>
                <a:cs typeface="Arial" panose="020B0604020202020204" pitchFamily="34" charset="0"/>
              </a:defRPr>
            </a:lvl2pPr>
            <a:lvl3pPr marL="1143000" indent="-182880">
              <a:lnSpc>
                <a:spcPct val="100000"/>
              </a:lnSpc>
              <a:spcBef>
                <a:spcPts val="600"/>
              </a:spcBef>
              <a:buSzPct val="90000"/>
              <a:buFont typeface="Wingdings" panose="05000000000000000000" pitchFamily="2" charset="2"/>
              <a:buChar char="§"/>
              <a:defRPr sz="2400">
                <a:latin typeface="Arial" panose="020B0604020202020204" pitchFamily="34" charset="0"/>
                <a:cs typeface="Arial" panose="020B0604020202020204" pitchFamily="34" charset="0"/>
              </a:defRPr>
            </a:lvl3pPr>
            <a:lvl4pPr marL="16002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4pPr>
            <a:lvl5pPr marL="2057400" indent="-182880">
              <a:lnSpc>
                <a:spcPct val="100000"/>
              </a:lnSpc>
              <a:spcBef>
                <a:spcPts val="600"/>
              </a:spcBef>
              <a:buSzPct val="100000"/>
              <a:buFont typeface="Arial" panose="020B0604020202020204" pitchFamily="34" charset="0"/>
              <a:buChar char="•"/>
              <a:defRPr sz="20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1464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A2F218-E0CC-46F0-B4DF-A1B7B469D00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5" name="Date Placeholder 4">
            <a:extLst>
              <a:ext uri="{FF2B5EF4-FFF2-40B4-BE49-F238E27FC236}">
                <a16:creationId xmlns:a16="http://schemas.microsoft.com/office/drawing/2014/main" id="{D29F0338-5875-43F6-A614-1A5E719EFCB6}"/>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3305C358-FDE1-46D8-AD25-6107FC3C5418}"/>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CA917260-5A80-4B47-A62F-E589239945BB}"/>
              </a:ext>
            </a:extLst>
          </p:cNvPr>
          <p:cNvSpPr>
            <a:spLocks noGrp="1"/>
          </p:cNvSpPr>
          <p:nvPr>
            <p:ph type="title"/>
          </p:nvPr>
        </p:nvSpPr>
        <p:spPr>
          <a:xfrm>
            <a:off x="839788" y="987425"/>
            <a:ext cx="3932237" cy="1069974"/>
          </a:xfrm>
          <a:prstGeom prst="rect">
            <a:avLst/>
          </a:prstGeom>
        </p:spPr>
        <p:txBody>
          <a:bodyPr anchor="b">
            <a:noAutofit/>
          </a:bodyPr>
          <a:lstStyle>
            <a:lvl1pPr>
              <a:defRPr sz="36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9" name="Text Placeholder 3">
            <a:extLst>
              <a:ext uri="{FF2B5EF4-FFF2-40B4-BE49-F238E27FC236}">
                <a16:creationId xmlns:a16="http://schemas.microsoft.com/office/drawing/2014/main" id="{66BD97FD-52D7-4D27-BC2D-E0503BA4E5B2}"/>
              </a:ext>
            </a:extLst>
          </p:cNvPr>
          <p:cNvSpPr>
            <a:spLocks noGrp="1"/>
          </p:cNvSpPr>
          <p:nvPr>
            <p:ph type="body" sz="half" idx="2"/>
          </p:nvPr>
        </p:nvSpPr>
        <p:spPr>
          <a:xfrm>
            <a:off x="839788" y="2158210"/>
            <a:ext cx="3932237" cy="3710777"/>
          </a:xfrm>
          <a:prstGeom prst="rect">
            <a:avLst/>
          </a:prstGeom>
        </p:spPr>
        <p:txBody>
          <a:bodyPr>
            <a:normAutofit/>
          </a:bodyPr>
          <a:lstStyle>
            <a:lvl1pPr marL="0" indent="0">
              <a:buNone/>
              <a:defRPr sz="2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0" name="Rectangle 9">
            <a:extLst>
              <a:ext uri="{FF2B5EF4-FFF2-40B4-BE49-F238E27FC236}">
                <a16:creationId xmlns:a16="http://schemas.microsoft.com/office/drawing/2014/main" id="{5EFACB75-0E86-421C-8F2B-8906B61C1F67}"/>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1" name="Picture 10" descr="Great Lakes ADA Center Logo">
            <a:extLst>
              <a:ext uri="{FF2B5EF4-FFF2-40B4-BE49-F238E27FC236}">
                <a16:creationId xmlns:a16="http://schemas.microsoft.com/office/drawing/2014/main" id="{8A64F6AE-200D-4215-85C3-5C2B397376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2" name="TextBox 11">
            <a:extLst>
              <a:ext uri="{FF2B5EF4-FFF2-40B4-BE49-F238E27FC236}">
                <a16:creationId xmlns:a16="http://schemas.microsoft.com/office/drawing/2014/main" id="{2CCC1008-3C55-4388-89C7-50AC30F7B0FE}"/>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pic>
        <p:nvPicPr>
          <p:cNvPr id="13" name="Picture 12" descr="A blue and black logo&#10;&#10;Description automatically generated with medium confidence">
            <a:extLst>
              <a:ext uri="{FF2B5EF4-FFF2-40B4-BE49-F238E27FC236}">
                <a16:creationId xmlns:a16="http://schemas.microsoft.com/office/drawing/2014/main" id="{96E22B44-F99A-4DC3-87BD-D3753A20D56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4" name="Slide Number Placeholder 5">
            <a:extLst>
              <a:ext uri="{FF2B5EF4-FFF2-40B4-BE49-F238E27FC236}">
                <a16:creationId xmlns:a16="http://schemas.microsoft.com/office/drawing/2014/main" id="{DA57BB0F-8EB9-47CD-A02F-5B60C3372853}"/>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654909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CAE80B-33E5-4BD5-B721-BAFC6CC43B66}"/>
              </a:ext>
            </a:extLst>
          </p:cNvPr>
          <p:cNvSpPr>
            <a:spLocks noGrp="1"/>
          </p:cNvSpPr>
          <p:nvPr>
            <p:ph type="title"/>
          </p:nvPr>
        </p:nvSpPr>
        <p:spPr>
          <a:xfrm>
            <a:off x="838200" y="410368"/>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0754B02-1727-4D4B-87CD-9B6C5CB15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A174867-AAC3-4132-A790-7D6AD7A771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72D7818-CE99-42D2-B43D-D2417FBC22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7" name="Slide Number Placeholder 5">
            <a:extLst>
              <a:ext uri="{FF2B5EF4-FFF2-40B4-BE49-F238E27FC236}">
                <a16:creationId xmlns:a16="http://schemas.microsoft.com/office/drawing/2014/main" id="{DB0EA154-45F9-4B33-A4D6-E616F925CDB5}"/>
              </a:ext>
            </a:extLst>
          </p:cNvPr>
          <p:cNvSpPr>
            <a:spLocks noGrp="1"/>
          </p:cNvSpPr>
          <p:nvPr>
            <p:ph type="sldNum" sz="quarter" idx="4"/>
          </p:nvPr>
        </p:nvSpPr>
        <p:spPr>
          <a:xfrm>
            <a:off x="9199880" y="6352540"/>
            <a:ext cx="2743200" cy="365125"/>
          </a:xfrm>
          <a:prstGeom prst="rect">
            <a:avLst/>
          </a:prstGeom>
        </p:spPr>
        <p:txBody>
          <a:bodyPr/>
          <a:lstStyle>
            <a:lvl1pPr algn="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72823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Lst>
  <p:hf hdr="0" ftr="0" dt="0"/>
  <p:txStyles>
    <p:titleStyle>
      <a:lvl1pPr algn="l" defTabSz="914400" rtl="0" eaLnBrk="1" latinLnBrk="0" hangingPunct="1">
        <a:lnSpc>
          <a:spcPct val="90000"/>
        </a:lnSpc>
        <a:spcBef>
          <a:spcPct val="0"/>
        </a:spcBef>
        <a:buNone/>
        <a:defRPr sz="5000" b="1" kern="1200">
          <a:solidFill>
            <a:srgbClr val="005580"/>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B325F-F7C4-47F9-AB0D-F4E85898A0A3}"/>
              </a:ext>
            </a:extLst>
          </p:cNvPr>
          <p:cNvSpPr>
            <a:spLocks noGrp="1"/>
          </p:cNvSpPr>
          <p:nvPr>
            <p:ph type="ctrTitle"/>
          </p:nvPr>
        </p:nvSpPr>
        <p:spPr>
          <a:xfrm>
            <a:off x="0" y="1111539"/>
            <a:ext cx="12192000" cy="2101510"/>
          </a:xfrm>
        </p:spPr>
        <p:txBody>
          <a:bodyPr>
            <a:noAutofit/>
          </a:bodyPr>
          <a:lstStyle/>
          <a:p>
            <a:pPr>
              <a:lnSpc>
                <a:spcPct val="100000"/>
              </a:lnSpc>
              <a:spcBef>
                <a:spcPts val="600"/>
              </a:spcBef>
            </a:pPr>
            <a:r>
              <a:rPr lang="en-US" sz="6000" dirty="0"/>
              <a:t>Americans with Disabilities Act  (ADA)</a:t>
            </a:r>
          </a:p>
        </p:txBody>
      </p:sp>
      <p:cxnSp>
        <p:nvCxnSpPr>
          <p:cNvPr id="7" name="Straight Connector 6">
            <a:extLst>
              <a:ext uri="{FF2B5EF4-FFF2-40B4-BE49-F238E27FC236}">
                <a16:creationId xmlns:a16="http://schemas.microsoft.com/office/drawing/2014/main" id="{FACD0B6F-466A-5600-572F-99890278C07C}"/>
              </a:ext>
              <a:ext uri="{C183D7F6-B498-43B3-948B-1728B52AA6E4}">
                <adec:decorative xmlns:adec="http://schemas.microsoft.com/office/drawing/2017/decorative" val="1"/>
              </a:ext>
            </a:extLst>
          </p:cNvPr>
          <p:cNvCxnSpPr>
            <a:cxnSpLocks/>
          </p:cNvCxnSpPr>
          <p:nvPr/>
        </p:nvCxnSpPr>
        <p:spPr>
          <a:xfrm>
            <a:off x="1123951" y="3393142"/>
            <a:ext cx="99441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D6DA53E-826D-4A69-82AC-DE11CE124D34}"/>
              </a:ext>
            </a:extLst>
          </p:cNvPr>
          <p:cNvSpPr>
            <a:spLocks noGrp="1"/>
          </p:cNvSpPr>
          <p:nvPr>
            <p:ph type="subTitle" idx="1"/>
          </p:nvPr>
        </p:nvSpPr>
        <p:spPr>
          <a:xfrm>
            <a:off x="776176" y="3455201"/>
            <a:ext cx="10908562" cy="1615212"/>
          </a:xfrm>
        </p:spPr>
        <p:txBody>
          <a:bodyPr/>
          <a:lstStyle/>
          <a:p>
            <a:pPr>
              <a:lnSpc>
                <a:spcPct val="100000"/>
              </a:lnSpc>
              <a:spcBef>
                <a:spcPts val="0"/>
              </a:spcBef>
              <a:spcAft>
                <a:spcPts val="1200"/>
              </a:spcAft>
            </a:pPr>
            <a:r>
              <a:rPr lang="en-US" sz="4000" dirty="0">
                <a:solidFill>
                  <a:srgbClr val="1A2026"/>
                </a:solidFill>
              </a:rPr>
              <a:t>Overview of the ADA</a:t>
            </a:r>
            <a:endParaRPr lang="en-US" sz="4000" dirty="0">
              <a:solidFill>
                <a:schemeClr val="tx1">
                  <a:lumMod val="75000"/>
                  <a:lumOff val="25000"/>
                </a:schemeClr>
              </a:solidFill>
            </a:endParaRPr>
          </a:p>
          <a:p>
            <a:pPr>
              <a:lnSpc>
                <a:spcPct val="100000"/>
              </a:lnSpc>
              <a:spcBef>
                <a:spcPts val="0"/>
              </a:spcBef>
            </a:pPr>
            <a:r>
              <a:rPr lang="en-US" sz="2800" b="0" dirty="0">
                <a:solidFill>
                  <a:schemeClr val="tx1">
                    <a:lumMod val="75000"/>
                    <a:lumOff val="25000"/>
                  </a:schemeClr>
                </a:solidFill>
              </a:rPr>
              <a:t>ADA Participation Action Research Consortium (PARC) </a:t>
            </a:r>
          </a:p>
          <a:p>
            <a:pPr>
              <a:lnSpc>
                <a:spcPct val="100000"/>
              </a:lnSpc>
              <a:spcBef>
                <a:spcPts val="0"/>
              </a:spcBef>
            </a:pPr>
            <a:r>
              <a:rPr lang="en-US" sz="2800" b="0" dirty="0">
                <a:solidFill>
                  <a:schemeClr val="tx1">
                    <a:lumMod val="75000"/>
                    <a:lumOff val="25000"/>
                  </a:schemeClr>
                </a:solidFill>
              </a:rPr>
              <a:t>Participation Equity Navigator Training</a:t>
            </a:r>
          </a:p>
        </p:txBody>
      </p:sp>
      <p:pic>
        <p:nvPicPr>
          <p:cNvPr id="5" name="Picture 4" descr="ADA National Network logo">
            <a:extLst>
              <a:ext uri="{FF2B5EF4-FFF2-40B4-BE49-F238E27FC236}">
                <a16:creationId xmlns:a16="http://schemas.microsoft.com/office/drawing/2014/main" id="{E38DE6DF-4A58-387E-B23B-6CD5C3A63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59" y="5492660"/>
            <a:ext cx="1624410" cy="2102177"/>
          </a:xfrm>
          <a:prstGeom prst="rect">
            <a:avLst/>
          </a:prstGeom>
        </p:spPr>
      </p:pic>
      <p:pic>
        <p:nvPicPr>
          <p:cNvPr id="1026" name="Picture 5" descr="Americans with Disabilities Act Participation Action Research Consortium logo">
            <a:extLst>
              <a:ext uri="{FF2B5EF4-FFF2-40B4-BE49-F238E27FC236}">
                <a16:creationId xmlns:a16="http://schemas.microsoft.com/office/drawing/2014/main" id="{551196FB-48BD-3D49-5A86-886D55CF77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8283" y="5180162"/>
            <a:ext cx="1735433" cy="1132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lide Number Placeholder 9">
            <a:extLst>
              <a:ext uri="{FF2B5EF4-FFF2-40B4-BE49-F238E27FC236}">
                <a16:creationId xmlns:a16="http://schemas.microsoft.com/office/drawing/2014/main" id="{C76734AB-28BF-47B3-94D6-2C2884B8B53B}"/>
              </a:ext>
            </a:extLst>
          </p:cNvPr>
          <p:cNvSpPr>
            <a:spLocks noGrp="1"/>
          </p:cNvSpPr>
          <p:nvPr>
            <p:ph type="sldNum" sz="quarter" idx="12"/>
          </p:nvPr>
        </p:nvSpPr>
        <p:spPr/>
        <p:txBody>
          <a:bodyPr/>
          <a:lstStyle/>
          <a:p>
            <a:fld id="{A9D5B481-CC43-4D95-B982-500CB2D3FC20}" type="slidenum">
              <a:rPr lang="en-US" smtClean="0"/>
              <a:pPr/>
              <a:t>1</a:t>
            </a:fld>
            <a:endParaRPr lang="en-US" dirty="0"/>
          </a:p>
        </p:txBody>
      </p:sp>
    </p:spTree>
    <p:extLst>
      <p:ext uri="{BB962C8B-B14F-4D97-AF65-F5344CB8AC3E}">
        <p14:creationId xmlns:p14="http://schemas.microsoft.com/office/powerpoint/2010/main" val="381740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85CF6-6EAA-0044-3829-990CCBA6EA48}"/>
              </a:ext>
            </a:extLst>
          </p:cNvPr>
          <p:cNvSpPr>
            <a:spLocks noGrp="1"/>
          </p:cNvSpPr>
          <p:nvPr>
            <p:ph type="title"/>
          </p:nvPr>
        </p:nvSpPr>
        <p:spPr>
          <a:xfrm>
            <a:off x="496515" y="735688"/>
            <a:ext cx="10515600" cy="961496"/>
          </a:xfrm>
        </p:spPr>
        <p:txBody>
          <a:bodyPr>
            <a:normAutofit/>
          </a:bodyPr>
          <a:lstStyle/>
          <a:p>
            <a:r>
              <a:rPr lang="en-US" sz="4400" dirty="0"/>
              <a:t>Broad Principles</a:t>
            </a:r>
          </a:p>
        </p:txBody>
      </p:sp>
      <p:sp>
        <p:nvSpPr>
          <p:cNvPr id="3" name="Content Placeholder 2">
            <a:extLst>
              <a:ext uri="{FF2B5EF4-FFF2-40B4-BE49-F238E27FC236}">
                <a16:creationId xmlns:a16="http://schemas.microsoft.com/office/drawing/2014/main" id="{5F1F519A-973C-4B85-657E-30277D2E7BD8}"/>
              </a:ext>
            </a:extLst>
          </p:cNvPr>
          <p:cNvSpPr>
            <a:spLocks noGrp="1"/>
          </p:cNvSpPr>
          <p:nvPr>
            <p:ph idx="1"/>
          </p:nvPr>
        </p:nvSpPr>
        <p:spPr>
          <a:xfrm>
            <a:off x="496515" y="1584436"/>
            <a:ext cx="6643337" cy="2076034"/>
          </a:xfrm>
        </p:spPr>
        <p:txBody>
          <a:bodyPr>
            <a:normAutofit/>
          </a:bodyPr>
          <a:lstStyle/>
          <a:p>
            <a:pPr marL="347472" lvl="0" indent="-347472" eaLnBrk="0" hangingPunct="0">
              <a:lnSpc>
                <a:spcPct val="100000"/>
              </a:lnSpc>
              <a:spcBef>
                <a:spcPts val="0"/>
              </a:spcBef>
              <a:spcAft>
                <a:spcPts val="1800"/>
              </a:spcAft>
              <a:buFont typeface="Arial" panose="020B0604020202020204" pitchFamily="34" charset="0"/>
              <a:buChar char="•"/>
            </a:pPr>
            <a:r>
              <a:rPr lang="en-US" sz="2400" b="0" i="0" dirty="0">
                <a:effectLst/>
              </a:rPr>
              <a:t>The ADA guarantees that people with disabilities have the </a:t>
            </a:r>
            <a:r>
              <a:rPr lang="en-US" sz="2400" i="0" dirty="0">
                <a:solidFill>
                  <a:srgbClr val="005580"/>
                </a:solidFill>
                <a:effectLst/>
              </a:rPr>
              <a:t>same opportunities </a:t>
            </a:r>
            <a:r>
              <a:rPr lang="en-US" sz="2400" b="0" i="0" dirty="0">
                <a:effectLst/>
              </a:rPr>
              <a:t>as everyone else to enjoy employment opportunities, purchase goods and services, and participate in programs</a:t>
            </a:r>
            <a:endParaRPr lang="en-US" sz="2400" kern="0" dirty="0"/>
          </a:p>
        </p:txBody>
      </p:sp>
      <p:pic>
        <p:nvPicPr>
          <p:cNvPr id="6" name="Picture 2" descr="Disability rights are civil rights">
            <a:extLst>
              <a:ext uri="{FF2B5EF4-FFF2-40B4-BE49-F238E27FC236}">
                <a16:creationId xmlns:a16="http://schemas.microsoft.com/office/drawing/2014/main" id="{A4374D92-C176-045C-9C24-1EC2007332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6710" y="1538416"/>
            <a:ext cx="3900208" cy="173139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F4874014-56E0-F2A2-D3CE-025B5DF91F6F}"/>
              </a:ext>
            </a:extLst>
          </p:cNvPr>
          <p:cNvSpPr txBox="1">
            <a:spLocks/>
          </p:cNvSpPr>
          <p:nvPr/>
        </p:nvSpPr>
        <p:spPr>
          <a:xfrm>
            <a:off x="496515" y="3485913"/>
            <a:ext cx="11446565" cy="3015648"/>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sz="2600" kern="1200" baseline="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7472" indent="-347472">
              <a:lnSpc>
                <a:spcPct val="120000"/>
              </a:lnSpc>
              <a:spcBef>
                <a:spcPts val="0"/>
              </a:spcBef>
              <a:spcAft>
                <a:spcPts val="600"/>
              </a:spcAft>
              <a:buFont typeface="Arial" panose="020B0604020202020204" pitchFamily="34" charset="0"/>
              <a:buChar char="•"/>
            </a:pPr>
            <a:r>
              <a:rPr lang="en-US" sz="2600" b="0" dirty="0"/>
              <a:t>The </a:t>
            </a:r>
            <a:r>
              <a:rPr lang="en-US" sz="2600" dirty="0">
                <a:solidFill>
                  <a:srgbClr val="005580"/>
                </a:solidFill>
              </a:rPr>
              <a:t>integration of people with disabilities </a:t>
            </a:r>
            <a:r>
              <a:rPr lang="en-US" sz="2600" b="0" dirty="0"/>
              <a:t>into the mainstream of American life is a fundamental purpose of the ADA (“integration mandate”)</a:t>
            </a:r>
          </a:p>
          <a:p>
            <a:pPr marL="1033272" lvl="1" indent="-347472">
              <a:lnSpc>
                <a:spcPct val="120000"/>
              </a:lnSpc>
              <a:spcBef>
                <a:spcPts val="0"/>
              </a:spcBef>
              <a:spcAft>
                <a:spcPts val="600"/>
              </a:spcAft>
              <a:buFontTx/>
              <a:buChar char="­"/>
            </a:pPr>
            <a:r>
              <a:rPr lang="en-US" sz="2400" dirty="0"/>
              <a:t>State and local governments that provide services to people with disabilities must offer those services in people’s homes and communities—not just in institutions</a:t>
            </a:r>
          </a:p>
          <a:p>
            <a:pPr marL="1033272" lvl="1" indent="-347472">
              <a:lnSpc>
                <a:spcPct val="120000"/>
              </a:lnSpc>
              <a:spcBef>
                <a:spcPts val="0"/>
              </a:spcBef>
              <a:spcAft>
                <a:spcPts val="600"/>
              </a:spcAft>
              <a:buFontTx/>
              <a:buChar char="­"/>
            </a:pPr>
            <a:r>
              <a:rPr lang="en-US" sz="2400" dirty="0"/>
              <a:t>Olmstead v. L.C., 527 U.S. 581 (1999)</a:t>
            </a:r>
          </a:p>
          <a:p>
            <a:pPr marL="1033272" lvl="1" indent="-347472">
              <a:lnSpc>
                <a:spcPct val="120000"/>
              </a:lnSpc>
              <a:spcBef>
                <a:spcPts val="0"/>
              </a:spcBef>
              <a:spcAft>
                <a:spcPts val="600"/>
              </a:spcAft>
              <a:buFontTx/>
              <a:buChar char="­"/>
            </a:pPr>
            <a:r>
              <a:rPr lang="en-US" sz="2400" dirty="0"/>
              <a:t>Community-based services are funded by federal, state, or local dollars many times through Medicaid</a:t>
            </a:r>
          </a:p>
        </p:txBody>
      </p:sp>
      <p:pic>
        <p:nvPicPr>
          <p:cNvPr id="8" name="Picture 7">
            <a:extLst>
              <a:ext uri="{FF2B5EF4-FFF2-40B4-BE49-F238E27FC236}">
                <a16:creationId xmlns:a16="http://schemas.microsoft.com/office/drawing/2014/main" id="{A1FCD769-DBFC-8C8F-F948-E8581A7B3A7C}"/>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21F51267-268C-99B6-D284-A9887F5312CF}"/>
              </a:ext>
            </a:extLst>
          </p:cNvPr>
          <p:cNvSpPr>
            <a:spLocks noGrp="1"/>
          </p:cNvSpPr>
          <p:nvPr>
            <p:ph type="sldNum" sz="quarter" idx="12"/>
          </p:nvPr>
        </p:nvSpPr>
        <p:spPr/>
        <p:txBody>
          <a:bodyPr/>
          <a:lstStyle/>
          <a:p>
            <a:fld id="{A9D5B481-CC43-4D95-B982-500CB2D3FC20}" type="slidenum">
              <a:rPr lang="en-US" smtClean="0"/>
              <a:pPr/>
              <a:t>2</a:t>
            </a:fld>
            <a:endParaRPr lang="en-US" dirty="0"/>
          </a:p>
        </p:txBody>
      </p:sp>
    </p:spTree>
    <p:extLst>
      <p:ext uri="{BB962C8B-B14F-4D97-AF65-F5344CB8AC3E}">
        <p14:creationId xmlns:p14="http://schemas.microsoft.com/office/powerpoint/2010/main" val="583990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AD4E1-59A5-C8B1-9B71-1F1D2E577DA5}"/>
              </a:ext>
            </a:extLst>
          </p:cNvPr>
          <p:cNvSpPr>
            <a:spLocks noGrp="1"/>
          </p:cNvSpPr>
          <p:nvPr>
            <p:ph type="title"/>
          </p:nvPr>
        </p:nvSpPr>
        <p:spPr>
          <a:xfrm>
            <a:off x="634562" y="725027"/>
            <a:ext cx="11308518" cy="961496"/>
          </a:xfrm>
        </p:spPr>
        <p:txBody>
          <a:bodyPr>
            <a:normAutofit/>
          </a:bodyPr>
          <a:lstStyle/>
          <a:p>
            <a:r>
              <a:rPr lang="en-US" sz="4400" dirty="0"/>
              <a:t>Who Has Rights Under the ADA? </a:t>
            </a:r>
          </a:p>
        </p:txBody>
      </p:sp>
      <p:sp>
        <p:nvSpPr>
          <p:cNvPr id="3" name="Content Placeholder 2">
            <a:extLst>
              <a:ext uri="{FF2B5EF4-FFF2-40B4-BE49-F238E27FC236}">
                <a16:creationId xmlns:a16="http://schemas.microsoft.com/office/drawing/2014/main" id="{D15E6744-78A8-81DF-A142-D926EAB4D29F}"/>
              </a:ext>
            </a:extLst>
          </p:cNvPr>
          <p:cNvSpPr>
            <a:spLocks noGrp="1"/>
          </p:cNvSpPr>
          <p:nvPr>
            <p:ph idx="1"/>
          </p:nvPr>
        </p:nvSpPr>
        <p:spPr>
          <a:xfrm>
            <a:off x="634562" y="1614428"/>
            <a:ext cx="10922876" cy="5103237"/>
          </a:xfrm>
        </p:spPr>
        <p:txBody>
          <a:bodyPr>
            <a:normAutofit/>
          </a:bodyPr>
          <a:lstStyle/>
          <a:p>
            <a:pPr marL="0" indent="0">
              <a:lnSpc>
                <a:spcPct val="100000"/>
              </a:lnSpc>
              <a:spcBef>
                <a:spcPts val="0"/>
              </a:spcBef>
              <a:spcAft>
                <a:spcPts val="600"/>
              </a:spcAft>
              <a:buNone/>
            </a:pPr>
            <a:r>
              <a:rPr lang="en-US" b="1" dirty="0"/>
              <a:t>ADA Protects </a:t>
            </a:r>
            <a:r>
              <a:rPr lang="en-US" dirty="0"/>
              <a:t>P</a:t>
            </a:r>
            <a:r>
              <a:rPr lang="en-US" b="1" dirty="0"/>
              <a:t>eople who:</a:t>
            </a:r>
          </a:p>
          <a:p>
            <a:pPr marL="342900" indent="-342900">
              <a:lnSpc>
                <a:spcPct val="100000"/>
              </a:lnSpc>
              <a:spcBef>
                <a:spcPts val="0"/>
              </a:spcBef>
              <a:spcAft>
                <a:spcPts val="600"/>
              </a:spcAft>
              <a:buFont typeface="Arial" panose="020B0604020202020204" pitchFamily="34" charset="0"/>
              <a:buChar char="•"/>
            </a:pPr>
            <a:r>
              <a:rPr lang="en-US" sz="2400" b="0" dirty="0"/>
              <a:t>Have a disability </a:t>
            </a:r>
            <a:r>
              <a:rPr lang="en-US" sz="2400" dirty="0">
                <a:solidFill>
                  <a:srgbClr val="005580"/>
                </a:solidFill>
              </a:rPr>
              <a:t>or</a:t>
            </a:r>
            <a:r>
              <a:rPr lang="en-US" sz="2400" b="0" dirty="0"/>
              <a:t> record of a disability </a:t>
            </a:r>
            <a:r>
              <a:rPr lang="en-US" sz="2400" dirty="0">
                <a:solidFill>
                  <a:srgbClr val="005580"/>
                </a:solidFill>
              </a:rPr>
              <a:t>AND</a:t>
            </a:r>
            <a:r>
              <a:rPr lang="en-US" sz="2400" b="1" dirty="0"/>
              <a:t> </a:t>
            </a:r>
            <a:r>
              <a:rPr lang="en-US" sz="2400" b="0" dirty="0"/>
              <a:t>meet the essential job-related requirements for a position </a:t>
            </a:r>
            <a:r>
              <a:rPr lang="en-US" sz="2400" dirty="0">
                <a:solidFill>
                  <a:srgbClr val="005580"/>
                </a:solidFill>
              </a:rPr>
              <a:t>OR</a:t>
            </a:r>
            <a:r>
              <a:rPr lang="en-US" sz="2400" b="0" dirty="0"/>
              <a:t> eligibility requirements for the receipt of services or participation in programs; </a:t>
            </a:r>
            <a:r>
              <a:rPr lang="en-US" sz="2400" dirty="0">
                <a:solidFill>
                  <a:srgbClr val="005580"/>
                </a:solidFill>
              </a:rPr>
              <a:t>or</a:t>
            </a:r>
            <a:r>
              <a:rPr lang="en-US" sz="2400" b="0" dirty="0">
                <a:solidFill>
                  <a:srgbClr val="005580"/>
                </a:solidFill>
              </a:rPr>
              <a:t> </a:t>
            </a:r>
          </a:p>
          <a:p>
            <a:pPr marL="342900" indent="-342900">
              <a:lnSpc>
                <a:spcPct val="100000"/>
              </a:lnSpc>
              <a:spcBef>
                <a:spcPts val="0"/>
              </a:spcBef>
              <a:spcAft>
                <a:spcPts val="600"/>
              </a:spcAft>
              <a:buFont typeface="Arial" panose="020B0604020202020204" pitchFamily="34" charset="0"/>
              <a:buChar char="•"/>
            </a:pPr>
            <a:r>
              <a:rPr lang="en-US" sz="2400" b="0" dirty="0"/>
              <a:t>Are regarded as having a disability; </a:t>
            </a:r>
            <a:r>
              <a:rPr lang="en-US" sz="2400" dirty="0">
                <a:solidFill>
                  <a:srgbClr val="005580"/>
                </a:solidFill>
              </a:rPr>
              <a:t>or</a:t>
            </a:r>
            <a:r>
              <a:rPr lang="en-US" sz="2400" b="0" dirty="0"/>
              <a:t> </a:t>
            </a:r>
          </a:p>
          <a:p>
            <a:pPr marL="342900" indent="-342900">
              <a:lnSpc>
                <a:spcPct val="100000"/>
              </a:lnSpc>
              <a:spcBef>
                <a:spcPts val="0"/>
              </a:spcBef>
              <a:spcAft>
                <a:spcPts val="600"/>
              </a:spcAft>
              <a:buFont typeface="Arial" panose="020B0604020202020204" pitchFamily="34" charset="0"/>
              <a:buChar char="•"/>
            </a:pPr>
            <a:r>
              <a:rPr lang="en-US" sz="2400" b="0" dirty="0"/>
              <a:t>Have an association with a person with a disability</a:t>
            </a:r>
          </a:p>
          <a:p>
            <a:pPr marL="342900" indent="-342900" eaLnBrk="1" hangingPunct="1">
              <a:lnSpc>
                <a:spcPct val="100000"/>
              </a:lnSpc>
              <a:spcBef>
                <a:spcPts val="0"/>
              </a:spcBef>
              <a:spcAft>
                <a:spcPts val="600"/>
              </a:spcAft>
              <a:buFont typeface="Arial" panose="020B0604020202020204" pitchFamily="34" charset="0"/>
              <a:buChar char="•"/>
            </a:pPr>
            <a:endParaRPr lang="en-US" sz="2400" b="0" dirty="0"/>
          </a:p>
          <a:p>
            <a:pPr lvl="1" indent="0">
              <a:buNone/>
            </a:pPr>
            <a:endParaRPr lang="en-US" sz="2400" dirty="0"/>
          </a:p>
          <a:p>
            <a:pPr marL="514350" lvl="0" indent="-514350" eaLnBrk="0" hangingPunct="0">
              <a:buFont typeface="Arial" panose="020B0604020202020204" pitchFamily="34" charset="0"/>
              <a:buChar char="•"/>
            </a:pPr>
            <a:endParaRPr lang="en-US" sz="2400" kern="0" dirty="0">
              <a:solidFill>
                <a:srgbClr val="000000"/>
              </a:solidFill>
            </a:endParaRPr>
          </a:p>
          <a:p>
            <a:endParaRPr lang="en-US" dirty="0"/>
          </a:p>
        </p:txBody>
      </p:sp>
      <p:pic>
        <p:nvPicPr>
          <p:cNvPr id="5" name="Picture 2" descr="an animated group of individuals with a variety of disabilities of varying skin tones.">
            <a:extLst>
              <a:ext uri="{FF2B5EF4-FFF2-40B4-BE49-F238E27FC236}">
                <a16:creationId xmlns:a16="http://schemas.microsoft.com/office/drawing/2014/main" id="{99DC1729-6E7A-5850-FB7C-0229C193B0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9904" y="4232270"/>
            <a:ext cx="3987636" cy="22015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FA4F55A-B766-A94D-686D-EDAE3AA1E490}"/>
              </a:ext>
            </a:extLst>
          </p:cNvPr>
          <p:cNvSpPr txBox="1"/>
          <p:nvPr/>
        </p:nvSpPr>
        <p:spPr>
          <a:xfrm>
            <a:off x="6096000" y="4332480"/>
            <a:ext cx="4682978" cy="1800493"/>
          </a:xfrm>
          <a:prstGeom prst="rect">
            <a:avLst/>
          </a:prstGeom>
          <a:noFill/>
        </p:spPr>
        <p:txBody>
          <a:bodyPr wrap="square">
            <a:spAutoFit/>
          </a:bodyPr>
          <a:lstStyle/>
          <a:p>
            <a:pPr>
              <a:spcAft>
                <a:spcPts val="600"/>
              </a:spcAft>
            </a:pPr>
            <a:r>
              <a:rPr lang="en-US" sz="2800" b="1" dirty="0"/>
              <a:t>What is a “disability”? </a:t>
            </a:r>
          </a:p>
          <a:p>
            <a:pPr>
              <a:spcAft>
                <a:spcPts val="600"/>
              </a:spcAft>
            </a:pPr>
            <a:r>
              <a:rPr lang="en-US" sz="2600" dirty="0"/>
              <a:t>A physical or mental impairment that substantially limits one or more major life activities</a:t>
            </a:r>
          </a:p>
        </p:txBody>
      </p:sp>
      <p:pic>
        <p:nvPicPr>
          <p:cNvPr id="8" name="Picture 7">
            <a:extLst>
              <a:ext uri="{FF2B5EF4-FFF2-40B4-BE49-F238E27FC236}">
                <a16:creationId xmlns:a16="http://schemas.microsoft.com/office/drawing/2014/main" id="{5B8A9AF5-2C88-424B-BAEF-71FAA2D0B681}"/>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665B58B2-4B76-3F1E-8238-32F492D046C0}"/>
              </a:ext>
            </a:extLst>
          </p:cNvPr>
          <p:cNvSpPr>
            <a:spLocks noGrp="1"/>
          </p:cNvSpPr>
          <p:nvPr>
            <p:ph type="sldNum" sz="quarter" idx="12"/>
          </p:nvPr>
        </p:nvSpPr>
        <p:spPr/>
        <p:txBody>
          <a:bodyPr/>
          <a:lstStyle/>
          <a:p>
            <a:fld id="{A9D5B481-CC43-4D95-B982-500CB2D3FC20}" type="slidenum">
              <a:rPr lang="en-US" smtClean="0"/>
              <a:pPr/>
              <a:t>3</a:t>
            </a:fld>
            <a:endParaRPr lang="en-US" dirty="0"/>
          </a:p>
        </p:txBody>
      </p:sp>
    </p:spTree>
    <p:extLst>
      <p:ext uri="{BB962C8B-B14F-4D97-AF65-F5344CB8AC3E}">
        <p14:creationId xmlns:p14="http://schemas.microsoft.com/office/powerpoint/2010/main" val="970176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56D6C-4E39-E7BC-C01A-541D11AC375B}"/>
              </a:ext>
            </a:extLst>
          </p:cNvPr>
          <p:cNvSpPr>
            <a:spLocks noGrp="1"/>
          </p:cNvSpPr>
          <p:nvPr>
            <p:ph type="title"/>
          </p:nvPr>
        </p:nvSpPr>
        <p:spPr>
          <a:xfrm>
            <a:off x="595503" y="947531"/>
            <a:ext cx="10583658" cy="961496"/>
          </a:xfrm>
        </p:spPr>
        <p:txBody>
          <a:bodyPr>
            <a:normAutofit/>
          </a:bodyPr>
          <a:lstStyle/>
          <a:p>
            <a:r>
              <a:rPr lang="en-US" sz="4400" dirty="0"/>
              <a:t>What’s Not Allowed</a:t>
            </a:r>
          </a:p>
        </p:txBody>
      </p:sp>
      <p:pic>
        <p:nvPicPr>
          <p:cNvPr id="5" name="Picture 4" descr="checklist, question marks and money marked out">
            <a:extLst>
              <a:ext uri="{FF2B5EF4-FFF2-40B4-BE49-F238E27FC236}">
                <a16:creationId xmlns:a16="http://schemas.microsoft.com/office/drawing/2014/main" id="{7510A812-7119-B767-71E1-4CB22E22F6B1}"/>
              </a:ext>
            </a:extLst>
          </p:cNvPr>
          <p:cNvPicPr>
            <a:picLocks noChangeAspect="1"/>
          </p:cNvPicPr>
          <p:nvPr/>
        </p:nvPicPr>
        <p:blipFill>
          <a:blip r:embed="rId3"/>
          <a:stretch>
            <a:fillRect/>
          </a:stretch>
        </p:blipFill>
        <p:spPr>
          <a:xfrm>
            <a:off x="778799" y="2345634"/>
            <a:ext cx="2976140" cy="2823238"/>
          </a:xfrm>
          <a:prstGeom prst="rect">
            <a:avLst/>
          </a:prstGeom>
        </p:spPr>
      </p:pic>
      <p:sp>
        <p:nvSpPr>
          <p:cNvPr id="3" name="Content Placeholder 2">
            <a:extLst>
              <a:ext uri="{FF2B5EF4-FFF2-40B4-BE49-F238E27FC236}">
                <a16:creationId xmlns:a16="http://schemas.microsoft.com/office/drawing/2014/main" id="{60C63627-BF99-63B6-F688-8994C5784666}"/>
              </a:ext>
            </a:extLst>
          </p:cNvPr>
          <p:cNvSpPr>
            <a:spLocks noGrp="1"/>
          </p:cNvSpPr>
          <p:nvPr>
            <p:ph idx="1"/>
          </p:nvPr>
        </p:nvSpPr>
        <p:spPr>
          <a:xfrm>
            <a:off x="4028661" y="2345634"/>
            <a:ext cx="7659756" cy="3564835"/>
          </a:xfrm>
        </p:spPr>
        <p:txBody>
          <a:bodyPr>
            <a:normAutofit/>
          </a:bodyPr>
          <a:lstStyle/>
          <a:p>
            <a:pPr marL="347472" indent="-347472">
              <a:lnSpc>
                <a:spcPct val="100000"/>
              </a:lnSpc>
              <a:spcBef>
                <a:spcPts val="0"/>
              </a:spcBef>
              <a:spcAft>
                <a:spcPts val="3000"/>
              </a:spcAft>
              <a:buFont typeface="Arial" panose="020B0604020202020204" pitchFamily="34" charset="0"/>
              <a:buChar char="•"/>
              <a:tabLst>
                <a:tab pos="342900" algn="l"/>
              </a:tabLst>
            </a:pPr>
            <a:r>
              <a:rPr lang="en-US" b="0" dirty="0">
                <a:solidFill>
                  <a:srgbClr val="000000"/>
                </a:solidFill>
              </a:rPr>
              <a:t>Eligibility criteria that screen out people with disabilities without legitimate safety reasons</a:t>
            </a:r>
          </a:p>
          <a:p>
            <a:pPr marL="347472" indent="-347472">
              <a:lnSpc>
                <a:spcPct val="100000"/>
              </a:lnSpc>
              <a:spcBef>
                <a:spcPts val="0"/>
              </a:spcBef>
              <a:spcAft>
                <a:spcPts val="3000"/>
              </a:spcAft>
              <a:buFont typeface="Arial" panose="020B0604020202020204" pitchFamily="34" charset="0"/>
              <a:buChar char="•"/>
              <a:tabLst>
                <a:tab pos="342900" algn="l"/>
              </a:tabLst>
            </a:pPr>
            <a:r>
              <a:rPr lang="en-US" b="0" dirty="0">
                <a:solidFill>
                  <a:srgbClr val="000000"/>
                </a:solidFill>
              </a:rPr>
              <a:t>Unnecessary inquiries into disability</a:t>
            </a:r>
          </a:p>
          <a:p>
            <a:pPr marL="347472" indent="-347472">
              <a:lnSpc>
                <a:spcPct val="100000"/>
              </a:lnSpc>
              <a:spcBef>
                <a:spcPts val="0"/>
              </a:spcBef>
              <a:spcAft>
                <a:spcPts val="3000"/>
              </a:spcAft>
              <a:buFont typeface="Arial" panose="020B0604020202020204" pitchFamily="34" charset="0"/>
              <a:buChar char="•"/>
              <a:tabLst>
                <a:tab pos="342900" algn="l"/>
              </a:tabLst>
            </a:pPr>
            <a:r>
              <a:rPr lang="en-US" b="0" dirty="0">
                <a:solidFill>
                  <a:srgbClr val="000000"/>
                </a:solidFill>
              </a:rPr>
              <a:t>Surcharges associated with compliance</a:t>
            </a:r>
          </a:p>
          <a:p>
            <a:pPr marL="285750" indent="-285750">
              <a:lnSpc>
                <a:spcPct val="100000"/>
              </a:lnSpc>
              <a:spcBef>
                <a:spcPts val="0"/>
              </a:spcBef>
              <a:spcAft>
                <a:spcPts val="1200"/>
              </a:spcAft>
              <a:buFont typeface="Arial" panose="020B0604020202020204" pitchFamily="34" charset="0"/>
              <a:buChar char="•"/>
              <a:tabLst>
                <a:tab pos="342900" algn="l"/>
              </a:tabLst>
            </a:pPr>
            <a:endParaRPr lang="en-US" sz="2600" b="0" dirty="0">
              <a:solidFill>
                <a:srgbClr val="000000"/>
              </a:solidFill>
            </a:endParaRPr>
          </a:p>
          <a:p>
            <a:pPr marL="285750" indent="-285750">
              <a:lnSpc>
                <a:spcPct val="100000"/>
              </a:lnSpc>
              <a:spcBef>
                <a:spcPts val="0"/>
              </a:spcBef>
              <a:spcAft>
                <a:spcPts val="1200"/>
              </a:spcAft>
              <a:buFont typeface="Arial" panose="020B0604020202020204" pitchFamily="34" charset="0"/>
              <a:buChar char="•"/>
              <a:tabLst>
                <a:tab pos="342900" algn="l"/>
              </a:tabLst>
            </a:pPr>
            <a:endParaRPr lang="en-US" sz="2600" b="0" dirty="0">
              <a:solidFill>
                <a:srgbClr val="000000"/>
              </a:solidFill>
            </a:endParaRPr>
          </a:p>
        </p:txBody>
      </p:sp>
      <p:sp>
        <p:nvSpPr>
          <p:cNvPr id="4" name="Slide Number Placeholder 3">
            <a:extLst>
              <a:ext uri="{FF2B5EF4-FFF2-40B4-BE49-F238E27FC236}">
                <a16:creationId xmlns:a16="http://schemas.microsoft.com/office/drawing/2014/main" id="{4D871AA5-C03A-A7D0-E2E4-CE378FAEEC2E}"/>
              </a:ext>
            </a:extLst>
          </p:cNvPr>
          <p:cNvSpPr>
            <a:spLocks noGrp="1"/>
          </p:cNvSpPr>
          <p:nvPr>
            <p:ph type="sldNum" sz="quarter" idx="12"/>
          </p:nvPr>
        </p:nvSpPr>
        <p:spPr/>
        <p:txBody>
          <a:bodyPr/>
          <a:lstStyle/>
          <a:p>
            <a:fld id="{A9D5B481-CC43-4D95-B982-500CB2D3FC20}" type="slidenum">
              <a:rPr lang="en-US" smtClean="0"/>
              <a:pPr/>
              <a:t>4</a:t>
            </a:fld>
            <a:endParaRPr lang="en-US" dirty="0"/>
          </a:p>
        </p:txBody>
      </p:sp>
      <p:pic>
        <p:nvPicPr>
          <p:cNvPr id="7" name="Picture 6">
            <a:extLst>
              <a:ext uri="{FF2B5EF4-FFF2-40B4-BE49-F238E27FC236}">
                <a16:creationId xmlns:a16="http://schemas.microsoft.com/office/drawing/2014/main" id="{22EB988C-75C4-7112-71B5-463AF4688AB5}"/>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4514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0977-2406-65F5-9A06-168189F4B513}"/>
              </a:ext>
            </a:extLst>
          </p:cNvPr>
          <p:cNvSpPr>
            <a:spLocks noGrp="1"/>
          </p:cNvSpPr>
          <p:nvPr>
            <p:ph type="title"/>
          </p:nvPr>
        </p:nvSpPr>
        <p:spPr>
          <a:xfrm>
            <a:off x="678733" y="793267"/>
            <a:ext cx="10515600" cy="961496"/>
          </a:xfrm>
        </p:spPr>
        <p:txBody>
          <a:bodyPr>
            <a:normAutofit/>
          </a:bodyPr>
          <a:lstStyle/>
          <a:p>
            <a:r>
              <a:rPr lang="en-US" sz="4400" dirty="0"/>
              <a:t>Eligibility Scenario</a:t>
            </a:r>
          </a:p>
        </p:txBody>
      </p:sp>
      <p:sp>
        <p:nvSpPr>
          <p:cNvPr id="3" name="Content Placeholder 2">
            <a:extLst>
              <a:ext uri="{FF2B5EF4-FFF2-40B4-BE49-F238E27FC236}">
                <a16:creationId xmlns:a16="http://schemas.microsoft.com/office/drawing/2014/main" id="{EEBF7707-F231-59BB-D499-F440FEE2C02E}"/>
              </a:ext>
            </a:extLst>
          </p:cNvPr>
          <p:cNvSpPr>
            <a:spLocks noGrp="1"/>
          </p:cNvSpPr>
          <p:nvPr>
            <p:ph idx="1"/>
          </p:nvPr>
        </p:nvSpPr>
        <p:spPr>
          <a:xfrm>
            <a:off x="678733" y="1711053"/>
            <a:ext cx="9598032" cy="4353680"/>
          </a:xfrm>
        </p:spPr>
        <p:txBody>
          <a:bodyPr>
            <a:normAutofit/>
          </a:bodyPr>
          <a:lstStyle/>
          <a:p>
            <a:pPr>
              <a:lnSpc>
                <a:spcPct val="100000"/>
              </a:lnSpc>
              <a:spcBef>
                <a:spcPts val="0"/>
              </a:spcBef>
              <a:spcAft>
                <a:spcPts val="1200"/>
              </a:spcAft>
            </a:pPr>
            <a:r>
              <a:rPr lang="en-US" sz="2600" dirty="0">
                <a:solidFill>
                  <a:prstClr val="black"/>
                </a:solidFill>
              </a:rPr>
              <a:t>A county recreation program requires that all participants in its scuba program pass a swimming test. </a:t>
            </a:r>
          </a:p>
          <a:p>
            <a:pPr marL="457200" indent="-457200">
              <a:lnSpc>
                <a:spcPct val="100000"/>
              </a:lnSpc>
              <a:spcBef>
                <a:spcPts val="0"/>
              </a:spcBef>
              <a:spcAft>
                <a:spcPts val="1200"/>
              </a:spcAft>
              <a:buFont typeface="Arial" panose="020B0604020202020204" pitchFamily="34" charset="0"/>
              <a:buChar char="•"/>
            </a:pPr>
            <a:r>
              <a:rPr lang="en-US" dirty="0">
                <a:solidFill>
                  <a:prstClr val="black"/>
                </a:solidFill>
              </a:rPr>
              <a:t>Is this legal?</a:t>
            </a:r>
          </a:p>
          <a:p>
            <a:pPr lvl="2">
              <a:spcBef>
                <a:spcPts val="0"/>
              </a:spcBef>
              <a:spcAft>
                <a:spcPts val="1200"/>
              </a:spcAft>
              <a:buFont typeface="Wingdings" panose="05000000000000000000" pitchFamily="2" charset="2"/>
              <a:buChar char="Ø"/>
            </a:pPr>
            <a:r>
              <a:rPr lang="en-US" sz="2600" b="1" dirty="0">
                <a:solidFill>
                  <a:srgbClr val="005580"/>
                </a:solidFill>
                <a:ea typeface="Calibri" panose="020F0502020204030204" pitchFamily="34" charset="0"/>
              </a:rPr>
              <a:t>YES</a:t>
            </a:r>
            <a:r>
              <a:rPr lang="en-US" sz="2600" dirty="0">
                <a:ea typeface="Calibri" panose="020F0502020204030204" pitchFamily="34" charset="0"/>
              </a:rPr>
              <a:t>. </a:t>
            </a:r>
            <a:r>
              <a:rPr lang="en-US" sz="2600" i="1" dirty="0">
                <a:ea typeface="Calibri" panose="020F0502020204030204" pitchFamily="34" charset="0"/>
              </a:rPr>
              <a:t>If</a:t>
            </a:r>
            <a:r>
              <a:rPr lang="en-US" sz="2600" dirty="0">
                <a:ea typeface="Calibri" panose="020F0502020204030204" pitchFamily="34" charset="0"/>
              </a:rPr>
              <a:t> the county can demonstrate that being able to swim is necessary for safe participation in the class. This is permitted even if requiring such a test would tend to screen out people with certain kinds of disabilities</a:t>
            </a:r>
          </a:p>
          <a:p>
            <a:endParaRPr lang="en-US" dirty="0"/>
          </a:p>
        </p:txBody>
      </p:sp>
      <p:pic>
        <p:nvPicPr>
          <p:cNvPr id="6" name="Picture 5" descr="person swimming">
            <a:extLst>
              <a:ext uri="{FF2B5EF4-FFF2-40B4-BE49-F238E27FC236}">
                <a16:creationId xmlns:a16="http://schemas.microsoft.com/office/drawing/2014/main" id="{0DB0B146-12A8-AF11-017F-2E8307B89CD1}"/>
              </a:ext>
            </a:extLst>
          </p:cNvPr>
          <p:cNvPicPr>
            <a:picLocks noChangeAspect="1"/>
          </p:cNvPicPr>
          <p:nvPr/>
        </p:nvPicPr>
        <p:blipFill>
          <a:blip r:embed="rId3"/>
          <a:stretch>
            <a:fillRect/>
          </a:stretch>
        </p:blipFill>
        <p:spPr>
          <a:xfrm>
            <a:off x="9853472" y="1423246"/>
            <a:ext cx="2204051" cy="1646606"/>
          </a:xfrm>
          <a:prstGeom prst="rect">
            <a:avLst/>
          </a:prstGeom>
        </p:spPr>
      </p:pic>
      <p:pic>
        <p:nvPicPr>
          <p:cNvPr id="7" name="Picture 6">
            <a:extLst>
              <a:ext uri="{FF2B5EF4-FFF2-40B4-BE49-F238E27FC236}">
                <a16:creationId xmlns:a16="http://schemas.microsoft.com/office/drawing/2014/main" id="{E07A275E-0CB4-7CC6-EC33-D8DD234F9494}"/>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4A5B3B63-7E96-6158-16B4-516C5669D17D}"/>
              </a:ext>
            </a:extLst>
          </p:cNvPr>
          <p:cNvSpPr>
            <a:spLocks noGrp="1"/>
          </p:cNvSpPr>
          <p:nvPr>
            <p:ph type="sldNum" sz="quarter" idx="12"/>
          </p:nvPr>
        </p:nvSpPr>
        <p:spPr/>
        <p:txBody>
          <a:bodyPr/>
          <a:lstStyle/>
          <a:p>
            <a:fld id="{A9D5B481-CC43-4D95-B982-500CB2D3FC20}" type="slidenum">
              <a:rPr lang="en-US" smtClean="0"/>
              <a:pPr/>
              <a:t>5</a:t>
            </a:fld>
            <a:endParaRPr lang="en-US" dirty="0"/>
          </a:p>
        </p:txBody>
      </p:sp>
    </p:spTree>
    <p:extLst>
      <p:ext uri="{BB962C8B-B14F-4D97-AF65-F5344CB8AC3E}">
        <p14:creationId xmlns:p14="http://schemas.microsoft.com/office/powerpoint/2010/main" val="178836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BBCC21-186B-D6B4-682C-E46858DDBE7C}"/>
              </a:ext>
            </a:extLst>
          </p:cNvPr>
          <p:cNvSpPr>
            <a:spLocks noGrp="1"/>
          </p:cNvSpPr>
          <p:nvPr>
            <p:ph type="title"/>
          </p:nvPr>
        </p:nvSpPr>
        <p:spPr>
          <a:xfrm>
            <a:off x="646782" y="716712"/>
            <a:ext cx="10515600" cy="961496"/>
          </a:xfrm>
        </p:spPr>
        <p:txBody>
          <a:bodyPr>
            <a:normAutofit/>
          </a:bodyPr>
          <a:lstStyle/>
          <a:p>
            <a:r>
              <a:rPr lang="en-US" sz="4400" dirty="0"/>
              <a:t>Direct Threat</a:t>
            </a:r>
          </a:p>
        </p:txBody>
      </p:sp>
      <p:pic>
        <p:nvPicPr>
          <p:cNvPr id="8" name="Picture 7" descr="explanation point inside a yellow triangle ">
            <a:extLst>
              <a:ext uri="{FF2B5EF4-FFF2-40B4-BE49-F238E27FC236}">
                <a16:creationId xmlns:a16="http://schemas.microsoft.com/office/drawing/2014/main" id="{F362D964-6611-4651-5AD8-D9C1C128BABD}"/>
              </a:ext>
            </a:extLst>
          </p:cNvPr>
          <p:cNvPicPr>
            <a:picLocks noChangeAspect="1"/>
          </p:cNvPicPr>
          <p:nvPr/>
        </p:nvPicPr>
        <p:blipFill>
          <a:blip r:embed="rId3"/>
          <a:stretch>
            <a:fillRect/>
          </a:stretch>
        </p:blipFill>
        <p:spPr>
          <a:xfrm>
            <a:off x="646782" y="1678208"/>
            <a:ext cx="1986060" cy="1720821"/>
          </a:xfrm>
          <a:prstGeom prst="rect">
            <a:avLst/>
          </a:prstGeom>
        </p:spPr>
      </p:pic>
      <p:sp>
        <p:nvSpPr>
          <p:cNvPr id="6" name="Content Placeholder 5">
            <a:extLst>
              <a:ext uri="{FF2B5EF4-FFF2-40B4-BE49-F238E27FC236}">
                <a16:creationId xmlns:a16="http://schemas.microsoft.com/office/drawing/2014/main" id="{71A109FD-F989-0684-8D0E-5823F335CC7C}"/>
              </a:ext>
            </a:extLst>
          </p:cNvPr>
          <p:cNvSpPr>
            <a:spLocks noGrp="1"/>
          </p:cNvSpPr>
          <p:nvPr>
            <p:ph idx="1"/>
          </p:nvPr>
        </p:nvSpPr>
        <p:spPr>
          <a:xfrm>
            <a:off x="2728535" y="1634815"/>
            <a:ext cx="9096704" cy="2102331"/>
          </a:xfrm>
        </p:spPr>
        <p:txBody>
          <a:bodyPr>
            <a:normAutofit/>
          </a:bodyPr>
          <a:lstStyle/>
          <a:p>
            <a:pPr>
              <a:lnSpc>
                <a:spcPct val="100000"/>
              </a:lnSpc>
            </a:pPr>
            <a:r>
              <a:rPr lang="en-US" sz="2400" b="0" dirty="0">
                <a:solidFill>
                  <a:srgbClr val="000000"/>
                </a:solidFill>
              </a:rPr>
              <a:t>ADA covered entities may exclude an individual with a disability if that individual poses a direct threat to the health and safety of others </a:t>
            </a:r>
            <a:r>
              <a:rPr lang="en-US" sz="2400" b="1" i="0" u="sng" dirty="0">
                <a:solidFill>
                  <a:srgbClr val="000000"/>
                </a:solidFill>
                <a:effectLst/>
              </a:rPr>
              <a:t>that cannot be eliminated or reduced</a:t>
            </a:r>
            <a:r>
              <a:rPr lang="en-US" sz="2400" b="1" i="0" dirty="0">
                <a:solidFill>
                  <a:srgbClr val="000000"/>
                </a:solidFill>
                <a:effectLst/>
              </a:rPr>
              <a:t> </a:t>
            </a:r>
            <a:r>
              <a:rPr lang="en-US" sz="2400" b="0" i="0" dirty="0">
                <a:solidFill>
                  <a:srgbClr val="000000"/>
                </a:solidFill>
                <a:effectLst/>
              </a:rPr>
              <a:t>to an acceptable level by modifying policies, practices, or procedures, or by providing auxiliary aids or services</a:t>
            </a:r>
          </a:p>
          <a:p>
            <a:endParaRPr lang="en-US" dirty="0"/>
          </a:p>
        </p:txBody>
      </p:sp>
      <p:sp>
        <p:nvSpPr>
          <p:cNvPr id="7" name="Rectangle 2">
            <a:extLst>
              <a:ext uri="{FF2B5EF4-FFF2-40B4-BE49-F238E27FC236}">
                <a16:creationId xmlns:a16="http://schemas.microsoft.com/office/drawing/2014/main" id="{840EE6C3-5B97-E03E-CB79-C507CCDE7DE6}"/>
              </a:ext>
            </a:extLst>
          </p:cNvPr>
          <p:cNvSpPr>
            <a:spLocks noChangeArrowheads="1"/>
          </p:cNvSpPr>
          <p:nvPr/>
        </p:nvSpPr>
        <p:spPr bwMode="auto">
          <a:xfrm>
            <a:off x="1091549" y="3641119"/>
            <a:ext cx="10733690" cy="241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600"/>
              </a:spcAft>
              <a:buClrTx/>
              <a:buSzTx/>
              <a:buFontTx/>
              <a:buNone/>
              <a:tabLst/>
            </a:pPr>
            <a:r>
              <a:rPr lang="en-US" altLang="en-US" sz="2400" b="1" dirty="0">
                <a:solidFill>
                  <a:srgbClr val="000000"/>
                </a:solidFill>
                <a:latin typeface="Arial" panose="020B0604020202020204" pitchFamily="34" charset="0"/>
                <a:cs typeface="Arial" panose="020B0604020202020204" pitchFamily="34" charset="0"/>
              </a:rPr>
              <a:t>Must </a:t>
            </a:r>
            <a:r>
              <a:rPr lang="en-US" sz="24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be based on reasonable judgment that relies on current medical evidence, or the best available objective evidence</a:t>
            </a:r>
            <a:r>
              <a:rPr lang="en-US" sz="2400" b="1" dirty="0">
                <a:solidFill>
                  <a:srgbClr val="000000"/>
                </a:solidFill>
                <a:latin typeface="Arial" panose="020B0604020202020204" pitchFamily="34" charset="0"/>
                <a:ea typeface="Calibri" panose="020F0502020204030204" pitchFamily="34" charset="0"/>
                <a:cs typeface="Arial" panose="020B0604020202020204" pitchFamily="34" charset="0"/>
              </a:rPr>
              <a:t>, to determine</a:t>
            </a:r>
            <a:r>
              <a:rPr kumimoji="0" lang="en-US" altLang="en-US" sz="2400" b="1" i="0"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2400" b="1" i="0"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342900" marR="0" lvl="0" indent="-34290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nature, duration, and severity of the risk;</a:t>
            </a:r>
          </a:p>
          <a:p>
            <a:pPr marL="342900" marR="0" lvl="0" indent="-34290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probability that the potential injury will actually occur; and,</a:t>
            </a:r>
          </a:p>
          <a:p>
            <a:pPr marL="342900" lvl="0" indent="-342900" eaLnBrk="0" fontAlgn="base" hangingPunct="0">
              <a:spcBef>
                <a:spcPct val="0"/>
              </a:spcBef>
              <a:spcAft>
                <a:spcPts val="600"/>
              </a:spcAft>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Whether reasonable modifications of policies, practices, or procedures will mitigate the risk </a:t>
            </a:r>
            <a:r>
              <a:rPr lang="en-US" altLang="en-US" sz="2200" dirty="0">
                <a:latin typeface="Arial" panose="020B0604020202020204" pitchFamily="34" charset="0"/>
                <a:cs typeface="Arial" panose="020B0604020202020204" pitchFamily="34" charset="0"/>
              </a:rPr>
              <a:t>to an acceptable level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or eliminate the risk</a:t>
            </a:r>
          </a:p>
        </p:txBody>
      </p:sp>
      <p:pic>
        <p:nvPicPr>
          <p:cNvPr id="3" name="Picture 2">
            <a:extLst>
              <a:ext uri="{FF2B5EF4-FFF2-40B4-BE49-F238E27FC236}">
                <a16:creationId xmlns:a16="http://schemas.microsoft.com/office/drawing/2014/main" id="{F41FCD1D-80C0-3C72-5E44-8D6ACDCA940E}"/>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8824E2F3-28DF-E871-8848-3DC3F16A9D61}"/>
              </a:ext>
            </a:extLst>
          </p:cNvPr>
          <p:cNvSpPr>
            <a:spLocks noGrp="1"/>
          </p:cNvSpPr>
          <p:nvPr>
            <p:ph type="sldNum" sz="quarter" idx="12"/>
          </p:nvPr>
        </p:nvSpPr>
        <p:spPr/>
        <p:txBody>
          <a:bodyPr/>
          <a:lstStyle/>
          <a:p>
            <a:fld id="{A9D5B481-CC43-4D95-B982-500CB2D3FC20}" type="slidenum">
              <a:rPr lang="en-US" smtClean="0"/>
              <a:pPr/>
              <a:t>6</a:t>
            </a:fld>
            <a:endParaRPr lang="en-US" dirty="0"/>
          </a:p>
        </p:txBody>
      </p:sp>
    </p:spTree>
    <p:extLst>
      <p:ext uri="{BB962C8B-B14F-4D97-AF65-F5344CB8AC3E}">
        <p14:creationId xmlns:p14="http://schemas.microsoft.com/office/powerpoint/2010/main" val="11324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ABE03-634F-32A2-0A17-85341DF8468E}"/>
              </a:ext>
            </a:extLst>
          </p:cNvPr>
          <p:cNvSpPr>
            <a:spLocks noGrp="1"/>
          </p:cNvSpPr>
          <p:nvPr>
            <p:ph type="title"/>
          </p:nvPr>
        </p:nvSpPr>
        <p:spPr>
          <a:xfrm>
            <a:off x="497499" y="913774"/>
            <a:ext cx="12192000" cy="961496"/>
          </a:xfrm>
        </p:spPr>
        <p:txBody>
          <a:bodyPr>
            <a:normAutofit/>
          </a:bodyPr>
          <a:lstStyle/>
          <a:p>
            <a:r>
              <a:rPr lang="en-US" sz="4400" dirty="0"/>
              <a:t>Exceptions/Limitations</a:t>
            </a:r>
          </a:p>
        </p:txBody>
      </p:sp>
      <p:sp>
        <p:nvSpPr>
          <p:cNvPr id="3" name="Content Placeholder 2">
            <a:extLst>
              <a:ext uri="{FF2B5EF4-FFF2-40B4-BE49-F238E27FC236}">
                <a16:creationId xmlns:a16="http://schemas.microsoft.com/office/drawing/2014/main" id="{1578DE9D-0CDE-A267-5000-4C7287A36F53}"/>
              </a:ext>
            </a:extLst>
          </p:cNvPr>
          <p:cNvSpPr>
            <a:spLocks noGrp="1"/>
          </p:cNvSpPr>
          <p:nvPr>
            <p:ph idx="1"/>
          </p:nvPr>
        </p:nvSpPr>
        <p:spPr>
          <a:xfrm>
            <a:off x="497499" y="1951904"/>
            <a:ext cx="11445581" cy="4353680"/>
          </a:xfrm>
        </p:spPr>
        <p:txBody>
          <a:bodyPr>
            <a:normAutofit/>
          </a:bodyPr>
          <a:lstStyle/>
          <a:p>
            <a:pPr algn="l">
              <a:lnSpc>
                <a:spcPct val="100000"/>
              </a:lnSpc>
              <a:spcBef>
                <a:spcPts val="0"/>
              </a:spcBef>
              <a:spcAft>
                <a:spcPts val="1800"/>
              </a:spcAft>
            </a:pPr>
            <a:r>
              <a:rPr lang="en-US" sz="2600" b="0" dirty="0">
                <a:solidFill>
                  <a:srgbClr val="000000"/>
                </a:solidFill>
                <a:highlight>
                  <a:srgbClr val="FFFFFF"/>
                </a:highlight>
              </a:rPr>
              <a:t>Covered entities d</a:t>
            </a:r>
            <a:r>
              <a:rPr lang="en-US" sz="2600" b="0" i="0" dirty="0">
                <a:solidFill>
                  <a:srgbClr val="000000"/>
                </a:solidFill>
                <a:effectLst/>
                <a:highlight>
                  <a:srgbClr val="FFFFFF"/>
                </a:highlight>
                <a:latin typeface="Arial" panose="020B0604020202020204" pitchFamily="34" charset="0"/>
              </a:rPr>
              <a:t>o not have to take any action that would:</a:t>
            </a:r>
          </a:p>
          <a:p>
            <a:pPr marL="347472" indent="-347472">
              <a:lnSpc>
                <a:spcPct val="100000"/>
              </a:lnSpc>
              <a:spcBef>
                <a:spcPts val="0"/>
              </a:spcBef>
              <a:spcAft>
                <a:spcPts val="1800"/>
              </a:spcAft>
              <a:buFont typeface="Arial" panose="020B0604020202020204" pitchFamily="34" charset="0"/>
              <a:buChar char="•"/>
            </a:pPr>
            <a:r>
              <a:rPr lang="en-US" sz="2400" dirty="0">
                <a:solidFill>
                  <a:srgbClr val="005580"/>
                </a:solidFill>
                <a:highlight>
                  <a:srgbClr val="FFFFFF"/>
                </a:highlight>
              </a:rPr>
              <a:t>Result in a </a:t>
            </a:r>
            <a:r>
              <a:rPr lang="en-US" sz="2400" i="0" dirty="0">
                <a:solidFill>
                  <a:srgbClr val="005580"/>
                </a:solidFill>
                <a:effectLst/>
                <a:highlight>
                  <a:srgbClr val="FFFFFF"/>
                </a:highlight>
                <a:latin typeface="Arial" panose="020B0604020202020204" pitchFamily="34" charset="0"/>
              </a:rPr>
              <a:t>Fundamental Alteration</a:t>
            </a:r>
            <a:r>
              <a:rPr lang="en-US" sz="2400" i="0" dirty="0">
                <a:solidFill>
                  <a:srgbClr val="000000"/>
                </a:solidFill>
                <a:effectLst/>
                <a:highlight>
                  <a:srgbClr val="FFFFFF"/>
                </a:highlight>
                <a:latin typeface="Arial" panose="020B0604020202020204" pitchFamily="34" charset="0"/>
              </a:rPr>
              <a:t>: </a:t>
            </a:r>
            <a:r>
              <a:rPr lang="en-US" sz="2400" b="0" dirty="0"/>
              <a:t>A change that is so significant that it alters the essential nature of the goods, services, facilities, privileges, advantages, or accommodations offered </a:t>
            </a:r>
            <a:endParaRPr lang="en-US" sz="2400" b="0" i="0" dirty="0">
              <a:solidFill>
                <a:srgbClr val="000000"/>
              </a:solidFill>
              <a:effectLst/>
              <a:highlight>
                <a:srgbClr val="FFFFFF"/>
              </a:highlight>
              <a:latin typeface="Arial" panose="020B0604020202020204" pitchFamily="34" charset="0"/>
            </a:endParaRPr>
          </a:p>
          <a:p>
            <a:pPr marL="347472" indent="-347472">
              <a:lnSpc>
                <a:spcPct val="100000"/>
              </a:lnSpc>
              <a:spcBef>
                <a:spcPts val="0"/>
              </a:spcBef>
              <a:spcAft>
                <a:spcPts val="1800"/>
              </a:spcAft>
              <a:buFont typeface="Arial" panose="020B0604020202020204" pitchFamily="34" charset="0"/>
              <a:buChar char="•"/>
            </a:pPr>
            <a:r>
              <a:rPr lang="en" sz="2400" dirty="0">
                <a:solidFill>
                  <a:srgbClr val="005580"/>
                </a:solidFill>
              </a:rPr>
              <a:t>Cause an Undue </a:t>
            </a:r>
            <a:r>
              <a:rPr lang="en-US" sz="2400" dirty="0">
                <a:solidFill>
                  <a:srgbClr val="005580"/>
                </a:solidFill>
              </a:rPr>
              <a:t>burden</a:t>
            </a:r>
            <a:r>
              <a:rPr lang="en-US" sz="2400" b="0" dirty="0"/>
              <a:t>: “Action requiring </a:t>
            </a:r>
            <a:r>
              <a:rPr lang="en-US" sz="2400" b="0" u="sng" dirty="0"/>
              <a:t>significant difficulty or expense</a:t>
            </a:r>
            <a:r>
              <a:rPr lang="en-US" sz="2400" b="0" dirty="0"/>
              <a:t>" when considered in light of several factors (all available resources, case-by-case determination) </a:t>
            </a:r>
          </a:p>
        </p:txBody>
      </p:sp>
      <p:sp>
        <p:nvSpPr>
          <p:cNvPr id="4" name="Slide Number Placeholder 3">
            <a:extLst>
              <a:ext uri="{FF2B5EF4-FFF2-40B4-BE49-F238E27FC236}">
                <a16:creationId xmlns:a16="http://schemas.microsoft.com/office/drawing/2014/main" id="{7C741E5B-256A-5495-14CE-A45E5DFBDA11}"/>
              </a:ext>
            </a:extLst>
          </p:cNvPr>
          <p:cNvSpPr>
            <a:spLocks noGrp="1"/>
          </p:cNvSpPr>
          <p:nvPr>
            <p:ph type="sldNum" sz="quarter" idx="12"/>
          </p:nvPr>
        </p:nvSpPr>
        <p:spPr/>
        <p:txBody>
          <a:bodyPr/>
          <a:lstStyle/>
          <a:p>
            <a:fld id="{A9D5B481-CC43-4D95-B982-500CB2D3FC20}" type="slidenum">
              <a:rPr lang="en-US" smtClean="0"/>
              <a:pPr/>
              <a:t>7</a:t>
            </a:fld>
            <a:endParaRPr lang="en-US" dirty="0"/>
          </a:p>
        </p:txBody>
      </p:sp>
      <p:sp>
        <p:nvSpPr>
          <p:cNvPr id="7" name="TextBox 6">
            <a:extLst>
              <a:ext uri="{FF2B5EF4-FFF2-40B4-BE49-F238E27FC236}">
                <a16:creationId xmlns:a16="http://schemas.microsoft.com/office/drawing/2014/main" id="{93198813-61F6-DE8C-631E-F715E75CD6CD}"/>
              </a:ext>
            </a:extLst>
          </p:cNvPr>
          <p:cNvSpPr txBox="1"/>
          <p:nvPr/>
        </p:nvSpPr>
        <p:spPr>
          <a:xfrm>
            <a:off x="2316878" y="5213992"/>
            <a:ext cx="7558244" cy="892552"/>
          </a:xfrm>
          <a:prstGeom prst="rect">
            <a:avLst/>
          </a:prstGeom>
          <a:solidFill>
            <a:srgbClr val="005580"/>
          </a:solidFill>
          <a:ln>
            <a:noFill/>
          </a:ln>
        </p:spPr>
        <p:txBody>
          <a:bodyPr wrap="square">
            <a:spAutoFit/>
          </a:bodyPr>
          <a:lstStyle/>
          <a:p>
            <a:pPr marL="342900" indent="-342900">
              <a:spcAft>
                <a:spcPts val="1200"/>
              </a:spcAft>
              <a:buClr>
                <a:schemeClr val="bg1"/>
              </a:buClr>
              <a:buFont typeface="Wingdings" panose="05000000000000000000" pitchFamily="2" charset="2"/>
              <a:buChar char="Ø"/>
            </a:pPr>
            <a:r>
              <a:rPr lang="en-US" sz="2600" b="1" dirty="0">
                <a:solidFill>
                  <a:schemeClr val="bg1"/>
                </a:solidFill>
                <a:latin typeface="Arial" panose="020B0604020202020204" pitchFamily="34" charset="0"/>
                <a:cs typeface="Arial" panose="020B0604020202020204" pitchFamily="34" charset="0"/>
              </a:rPr>
              <a:t>NOTE:</a:t>
            </a:r>
            <a:r>
              <a:rPr lang="en-US" sz="2600" dirty="0">
                <a:solidFill>
                  <a:schemeClr val="bg1"/>
                </a:solidFill>
                <a:latin typeface="Arial" panose="020B0604020202020204" pitchFamily="34" charset="0"/>
                <a:cs typeface="Arial" panose="020B0604020202020204" pitchFamily="34" charset="0"/>
              </a:rPr>
              <a:t> Entities still need to find another way to ensure access to the greatest extent possible!</a:t>
            </a:r>
          </a:p>
        </p:txBody>
      </p:sp>
      <p:pic>
        <p:nvPicPr>
          <p:cNvPr id="5" name="Picture 4" descr="caution sign on top of Gear with lightbulb">
            <a:extLst>
              <a:ext uri="{FF2B5EF4-FFF2-40B4-BE49-F238E27FC236}">
                <a16:creationId xmlns:a16="http://schemas.microsoft.com/office/drawing/2014/main" id="{96D20672-343E-6329-8EA7-C59DA64A655E}"/>
              </a:ext>
            </a:extLst>
          </p:cNvPr>
          <p:cNvPicPr>
            <a:picLocks noChangeAspect="1"/>
          </p:cNvPicPr>
          <p:nvPr/>
        </p:nvPicPr>
        <p:blipFill>
          <a:blip r:embed="rId3"/>
          <a:stretch>
            <a:fillRect/>
          </a:stretch>
        </p:blipFill>
        <p:spPr>
          <a:xfrm>
            <a:off x="9503473" y="837140"/>
            <a:ext cx="1830681" cy="1762029"/>
          </a:xfrm>
          <a:prstGeom prst="rect">
            <a:avLst/>
          </a:prstGeom>
          <a:noFill/>
        </p:spPr>
      </p:pic>
      <p:pic>
        <p:nvPicPr>
          <p:cNvPr id="6" name="Picture 5">
            <a:extLst>
              <a:ext uri="{FF2B5EF4-FFF2-40B4-BE49-F238E27FC236}">
                <a16:creationId xmlns:a16="http://schemas.microsoft.com/office/drawing/2014/main" id="{496D9973-445F-20EA-07D6-D32F27A5EBDD}"/>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278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AD4E1-59A5-C8B1-9B71-1F1D2E577DA5}"/>
              </a:ext>
            </a:extLst>
          </p:cNvPr>
          <p:cNvSpPr>
            <a:spLocks noGrp="1"/>
          </p:cNvSpPr>
          <p:nvPr>
            <p:ph type="title"/>
          </p:nvPr>
        </p:nvSpPr>
        <p:spPr>
          <a:xfrm>
            <a:off x="902862" y="1047418"/>
            <a:ext cx="10515600" cy="961496"/>
          </a:xfrm>
        </p:spPr>
        <p:txBody>
          <a:bodyPr>
            <a:normAutofit/>
          </a:bodyPr>
          <a:lstStyle/>
          <a:p>
            <a:r>
              <a:rPr lang="en-US" sz="4400" dirty="0"/>
              <a:t>Key Requirements</a:t>
            </a:r>
          </a:p>
        </p:txBody>
      </p:sp>
      <p:pic>
        <p:nvPicPr>
          <p:cNvPr id="5" name="Picture 4" descr="Destination symbol with a check mark inside">
            <a:extLst>
              <a:ext uri="{FF2B5EF4-FFF2-40B4-BE49-F238E27FC236}">
                <a16:creationId xmlns:a16="http://schemas.microsoft.com/office/drawing/2014/main" id="{C80BC995-7BDE-B021-7DDC-46FFCB060BD0}"/>
              </a:ext>
            </a:extLst>
          </p:cNvPr>
          <p:cNvPicPr>
            <a:picLocks noChangeAspect="1"/>
          </p:cNvPicPr>
          <p:nvPr/>
        </p:nvPicPr>
        <p:blipFill>
          <a:blip r:embed="rId3"/>
          <a:stretch>
            <a:fillRect/>
          </a:stretch>
        </p:blipFill>
        <p:spPr>
          <a:xfrm>
            <a:off x="8189222" y="896386"/>
            <a:ext cx="1790087" cy="2014850"/>
          </a:xfrm>
          <a:prstGeom prst="rect">
            <a:avLst/>
          </a:prstGeom>
        </p:spPr>
      </p:pic>
      <p:sp>
        <p:nvSpPr>
          <p:cNvPr id="3" name="Content Placeholder 2">
            <a:extLst>
              <a:ext uri="{FF2B5EF4-FFF2-40B4-BE49-F238E27FC236}">
                <a16:creationId xmlns:a16="http://schemas.microsoft.com/office/drawing/2014/main" id="{D15E6744-78A8-81DF-A142-D926EAB4D29F}"/>
              </a:ext>
            </a:extLst>
          </p:cNvPr>
          <p:cNvSpPr>
            <a:spLocks noGrp="1"/>
          </p:cNvSpPr>
          <p:nvPr>
            <p:ph idx="1"/>
          </p:nvPr>
        </p:nvSpPr>
        <p:spPr>
          <a:xfrm>
            <a:off x="902862" y="2270477"/>
            <a:ext cx="10952805" cy="3987469"/>
          </a:xfrm>
        </p:spPr>
        <p:txBody>
          <a:bodyPr>
            <a:normAutofit/>
          </a:bodyPr>
          <a:lstStyle/>
          <a:p>
            <a:pPr>
              <a:lnSpc>
                <a:spcPct val="100000"/>
              </a:lnSpc>
              <a:spcBef>
                <a:spcPct val="0"/>
              </a:spcBef>
              <a:spcAft>
                <a:spcPts val="3600"/>
              </a:spcAft>
            </a:pPr>
            <a:r>
              <a:rPr lang="en-US" sz="2600" dirty="0"/>
              <a:t>All Covered Entities Must:</a:t>
            </a:r>
          </a:p>
          <a:p>
            <a:pPr marL="342900" indent="-342900">
              <a:lnSpc>
                <a:spcPct val="100000"/>
              </a:lnSpc>
              <a:spcBef>
                <a:spcPct val="0"/>
              </a:spcBef>
              <a:spcAft>
                <a:spcPts val="3000"/>
              </a:spcAft>
              <a:buFont typeface="Arial" panose="020B0604020202020204" pitchFamily="34" charset="0"/>
              <a:buChar char="•"/>
            </a:pPr>
            <a:r>
              <a:rPr lang="en-US" sz="2400" b="0" dirty="0"/>
              <a:t>Follow </a:t>
            </a:r>
            <a:r>
              <a:rPr lang="en-US" sz="2400" dirty="0">
                <a:solidFill>
                  <a:srgbClr val="005580"/>
                </a:solidFill>
              </a:rPr>
              <a:t>2010 ADA Accessible Standards </a:t>
            </a:r>
            <a:r>
              <a:rPr lang="en-US" sz="2400" b="0" dirty="0"/>
              <a:t>for physical accessibility when building or alternating a building or facility</a:t>
            </a:r>
          </a:p>
          <a:p>
            <a:pPr marL="342900" indent="-342900">
              <a:lnSpc>
                <a:spcPct val="100000"/>
              </a:lnSpc>
              <a:spcBef>
                <a:spcPct val="0"/>
              </a:spcBef>
              <a:spcAft>
                <a:spcPts val="3000"/>
              </a:spcAft>
              <a:buFont typeface="Arial" panose="020B0604020202020204" pitchFamily="34" charset="0"/>
              <a:buChar char="•"/>
            </a:pPr>
            <a:r>
              <a:rPr lang="en-US" sz="2400" b="0" dirty="0"/>
              <a:t>Provide auxiliary aids and services to ensure </a:t>
            </a:r>
            <a:r>
              <a:rPr lang="en-US" sz="2400" dirty="0">
                <a:solidFill>
                  <a:srgbClr val="005580"/>
                </a:solidFill>
              </a:rPr>
              <a:t>effective communication</a:t>
            </a:r>
          </a:p>
          <a:p>
            <a:pPr marL="342900" indent="-342900">
              <a:lnSpc>
                <a:spcPct val="100000"/>
              </a:lnSpc>
              <a:spcBef>
                <a:spcPct val="0"/>
              </a:spcBef>
              <a:spcAft>
                <a:spcPts val="3000"/>
              </a:spcAft>
              <a:buFont typeface="Arial" panose="020B0604020202020204" pitchFamily="34" charset="0"/>
              <a:buChar char="•"/>
            </a:pPr>
            <a:r>
              <a:rPr lang="en-US" sz="2400" b="0" dirty="0"/>
              <a:t>Make </a:t>
            </a:r>
            <a:r>
              <a:rPr lang="en-US" sz="2400" dirty="0">
                <a:solidFill>
                  <a:srgbClr val="005580"/>
                </a:solidFill>
              </a:rPr>
              <a:t>reasonable accommodations &amp; modifications </a:t>
            </a:r>
            <a:r>
              <a:rPr lang="en-US" sz="2400" b="0" dirty="0"/>
              <a:t>to policies, practices, &amp; procedures</a:t>
            </a:r>
          </a:p>
          <a:p>
            <a:pPr>
              <a:lnSpc>
                <a:spcPct val="110000"/>
              </a:lnSpc>
              <a:spcBef>
                <a:spcPts val="600"/>
              </a:spcBef>
              <a:spcAft>
                <a:spcPts val="600"/>
              </a:spcAft>
            </a:pPr>
            <a:endParaRPr lang="en-US" sz="2200" b="0" dirty="0"/>
          </a:p>
          <a:p>
            <a:pPr lvl="1" indent="0">
              <a:buNone/>
            </a:pPr>
            <a:endParaRPr lang="en-US" sz="2200" dirty="0"/>
          </a:p>
          <a:p>
            <a:pPr marL="514350" lvl="0" indent="-514350" eaLnBrk="0" hangingPunct="0">
              <a:buFont typeface="Arial" panose="020B0604020202020204" pitchFamily="34" charset="0"/>
              <a:buChar char="•"/>
            </a:pPr>
            <a:endParaRPr lang="en-US" sz="2400" kern="0" dirty="0">
              <a:solidFill>
                <a:srgbClr val="000000"/>
              </a:solidFill>
            </a:endParaRPr>
          </a:p>
          <a:p>
            <a:endParaRPr lang="en-US" dirty="0"/>
          </a:p>
        </p:txBody>
      </p:sp>
      <p:pic>
        <p:nvPicPr>
          <p:cNvPr id="7" name="Picture 6">
            <a:extLst>
              <a:ext uri="{FF2B5EF4-FFF2-40B4-BE49-F238E27FC236}">
                <a16:creationId xmlns:a16="http://schemas.microsoft.com/office/drawing/2014/main" id="{C13E42C6-23F3-EBD7-7492-B6D71D460F55}"/>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665B58B2-4B76-3F1E-8238-32F492D046C0}"/>
              </a:ext>
            </a:extLst>
          </p:cNvPr>
          <p:cNvSpPr>
            <a:spLocks noGrp="1"/>
          </p:cNvSpPr>
          <p:nvPr>
            <p:ph type="sldNum" sz="quarter" idx="12"/>
          </p:nvPr>
        </p:nvSpPr>
        <p:spPr/>
        <p:txBody>
          <a:bodyPr/>
          <a:lstStyle/>
          <a:p>
            <a:fld id="{A9D5B481-CC43-4D95-B982-500CB2D3FC20}" type="slidenum">
              <a:rPr lang="en-US" smtClean="0"/>
              <a:pPr/>
              <a:t>8</a:t>
            </a:fld>
            <a:endParaRPr lang="en-US" dirty="0"/>
          </a:p>
        </p:txBody>
      </p:sp>
    </p:spTree>
    <p:extLst>
      <p:ext uri="{BB962C8B-B14F-4D97-AF65-F5344CB8AC3E}">
        <p14:creationId xmlns:p14="http://schemas.microsoft.com/office/powerpoint/2010/main" val="18164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6859B-F5B1-CC7D-0E73-4460267DD2F8}"/>
              </a:ext>
            </a:extLst>
          </p:cNvPr>
          <p:cNvSpPr>
            <a:spLocks noGrp="1"/>
          </p:cNvSpPr>
          <p:nvPr>
            <p:ph type="title"/>
          </p:nvPr>
        </p:nvSpPr>
        <p:spPr>
          <a:xfrm>
            <a:off x="482847" y="700490"/>
            <a:ext cx="11709153" cy="961496"/>
          </a:xfrm>
        </p:spPr>
        <p:txBody>
          <a:bodyPr>
            <a:normAutofit fontScale="90000"/>
          </a:bodyPr>
          <a:lstStyle/>
          <a:p>
            <a:r>
              <a:rPr lang="en-US" sz="4400" dirty="0"/>
              <a:t>Accessibility vs Accommodation/Modification</a:t>
            </a:r>
          </a:p>
        </p:txBody>
      </p:sp>
      <p:sp>
        <p:nvSpPr>
          <p:cNvPr id="3" name="Content Placeholder 2">
            <a:extLst>
              <a:ext uri="{FF2B5EF4-FFF2-40B4-BE49-F238E27FC236}">
                <a16:creationId xmlns:a16="http://schemas.microsoft.com/office/drawing/2014/main" id="{78150860-E4BC-50D6-2886-7BA5468A69C3}"/>
              </a:ext>
            </a:extLst>
          </p:cNvPr>
          <p:cNvSpPr>
            <a:spLocks noGrp="1"/>
          </p:cNvSpPr>
          <p:nvPr>
            <p:ph idx="1"/>
          </p:nvPr>
        </p:nvSpPr>
        <p:spPr>
          <a:xfrm>
            <a:off x="888247" y="1560072"/>
            <a:ext cx="11156270" cy="4894382"/>
          </a:xfrm>
        </p:spPr>
        <p:txBody>
          <a:bodyPr>
            <a:normAutofit/>
          </a:bodyPr>
          <a:lstStyle/>
          <a:p>
            <a:pPr>
              <a:lnSpc>
                <a:spcPct val="100000"/>
              </a:lnSpc>
              <a:spcBef>
                <a:spcPts val="0"/>
              </a:spcBef>
              <a:spcAft>
                <a:spcPts val="1200"/>
              </a:spcAft>
            </a:pPr>
            <a:r>
              <a:rPr lang="en-US" sz="2400" dirty="0">
                <a:solidFill>
                  <a:srgbClr val="005580"/>
                </a:solidFill>
              </a:rPr>
              <a:t>Accessibility</a:t>
            </a:r>
            <a:r>
              <a:rPr lang="en-US" sz="2400" b="0" dirty="0"/>
              <a:t>:</a:t>
            </a:r>
            <a:r>
              <a:rPr lang="en-US" sz="2400" dirty="0"/>
              <a:t> </a:t>
            </a:r>
            <a:r>
              <a:rPr lang="en-US" sz="2400" b="0" dirty="0"/>
              <a:t>proactive and strives to remove barriers during the design stage of a building or digital environment, as well as an event, program, or service</a:t>
            </a:r>
          </a:p>
          <a:p>
            <a:pPr marL="457200" indent="-457200">
              <a:lnSpc>
                <a:spcPct val="100000"/>
              </a:lnSpc>
              <a:spcBef>
                <a:spcPts val="0"/>
              </a:spcBef>
              <a:spcAft>
                <a:spcPts val="1200"/>
              </a:spcAft>
              <a:buFont typeface="Arial" panose="020B0604020202020204" pitchFamily="34" charset="0"/>
              <a:buChar char="•"/>
            </a:pPr>
            <a:r>
              <a:rPr lang="en-US" sz="2400" b="0" dirty="0"/>
              <a:t>Doesn’t require self-disclosure of a disability </a:t>
            </a:r>
          </a:p>
          <a:p>
            <a:pPr marL="457200" indent="-457200">
              <a:lnSpc>
                <a:spcPct val="100000"/>
              </a:lnSpc>
              <a:spcBef>
                <a:spcPts val="0"/>
              </a:spcBef>
              <a:spcAft>
                <a:spcPts val="1200"/>
              </a:spcAft>
              <a:buFont typeface="Arial" panose="020B0604020202020204" pitchFamily="34" charset="0"/>
              <a:buChar char="•"/>
            </a:pPr>
            <a:r>
              <a:rPr lang="en-US" sz="2400" b="0" dirty="0"/>
              <a:t>Accessibility requirements are the floor, not the ceiling</a:t>
            </a:r>
          </a:p>
          <a:p>
            <a:pPr marL="457200" indent="-457200">
              <a:lnSpc>
                <a:spcPct val="100000"/>
              </a:lnSpc>
              <a:spcBef>
                <a:spcPts val="0"/>
              </a:spcBef>
              <a:spcAft>
                <a:spcPts val="1200"/>
              </a:spcAft>
              <a:buFont typeface="Arial" panose="020B0604020202020204" pitchFamily="34" charset="0"/>
              <a:buChar char="•"/>
            </a:pPr>
            <a:r>
              <a:rPr lang="en-US" sz="2400" b="0" dirty="0"/>
              <a:t>When covered entities meet accessibility standards, they will have fewer accommodation</a:t>
            </a:r>
            <a:r>
              <a:rPr lang="en-US" sz="2400" b="0"/>
              <a:t>/modification </a:t>
            </a:r>
            <a:r>
              <a:rPr lang="en-US" sz="2400" b="0" dirty="0"/>
              <a:t>requests</a:t>
            </a:r>
          </a:p>
          <a:p>
            <a:pPr>
              <a:lnSpc>
                <a:spcPct val="100000"/>
              </a:lnSpc>
              <a:spcBef>
                <a:spcPts val="0"/>
              </a:spcBef>
              <a:spcAft>
                <a:spcPts val="1200"/>
              </a:spcAft>
            </a:pPr>
            <a:r>
              <a:rPr lang="en-US" sz="2400" dirty="0">
                <a:solidFill>
                  <a:srgbClr val="005580"/>
                </a:solidFill>
              </a:rPr>
              <a:t>Reasonable Accommodation (employment) &amp; Reasonable Modification (state/local government &amp; businesses)</a:t>
            </a:r>
            <a:r>
              <a:rPr lang="en-US" sz="2400" b="0" dirty="0"/>
              <a:t>:</a:t>
            </a:r>
            <a:r>
              <a:rPr lang="en-US" sz="2400" dirty="0">
                <a:solidFill>
                  <a:srgbClr val="005580"/>
                </a:solidFill>
              </a:rPr>
              <a:t> </a:t>
            </a:r>
            <a:r>
              <a:rPr lang="en-US" sz="2400" b="0" dirty="0"/>
              <a:t>r</a:t>
            </a:r>
            <a:r>
              <a:rPr lang="en-US" sz="2400" b="0" i="0" dirty="0">
                <a:solidFill>
                  <a:srgbClr val="333333"/>
                </a:solidFill>
                <a:effectLst/>
                <a:highlight>
                  <a:srgbClr val="FFFFFF"/>
                </a:highlight>
              </a:rPr>
              <a:t>eactive measure taken specifically to address the specific needs of an individual with a disability </a:t>
            </a:r>
          </a:p>
          <a:p>
            <a:pPr marL="457200" indent="-457200">
              <a:lnSpc>
                <a:spcPct val="100000"/>
              </a:lnSpc>
              <a:spcBef>
                <a:spcPts val="0"/>
              </a:spcBef>
              <a:spcAft>
                <a:spcPts val="1200"/>
              </a:spcAft>
              <a:buFont typeface="Arial" panose="020B0604020202020204" pitchFamily="34" charset="0"/>
              <a:buChar char="•"/>
            </a:pPr>
            <a:r>
              <a:rPr lang="en-US" sz="2400" b="0" dirty="0"/>
              <a:t>Requires self-disclosure of a disability </a:t>
            </a:r>
          </a:p>
          <a:p>
            <a:pPr>
              <a:lnSpc>
                <a:spcPct val="100000"/>
              </a:lnSpc>
              <a:spcBef>
                <a:spcPts val="0"/>
              </a:spcBef>
              <a:spcAft>
                <a:spcPts val="1200"/>
              </a:spcAft>
            </a:pPr>
            <a:endParaRPr lang="en-US" sz="2400" b="0" dirty="0"/>
          </a:p>
        </p:txBody>
      </p:sp>
      <p:sp>
        <p:nvSpPr>
          <p:cNvPr id="4" name="Slide Number Placeholder 3">
            <a:extLst>
              <a:ext uri="{FF2B5EF4-FFF2-40B4-BE49-F238E27FC236}">
                <a16:creationId xmlns:a16="http://schemas.microsoft.com/office/drawing/2014/main" id="{236A083A-BAC4-1EC1-87C0-272BF2DE76A2}"/>
              </a:ext>
            </a:extLst>
          </p:cNvPr>
          <p:cNvSpPr>
            <a:spLocks noGrp="1"/>
          </p:cNvSpPr>
          <p:nvPr>
            <p:ph type="sldNum" sz="quarter" idx="12"/>
          </p:nvPr>
        </p:nvSpPr>
        <p:spPr/>
        <p:txBody>
          <a:bodyPr/>
          <a:lstStyle/>
          <a:p>
            <a:fld id="{A9D5B481-CC43-4D95-B982-500CB2D3FC20}" type="slidenum">
              <a:rPr lang="en-US" smtClean="0"/>
              <a:pPr/>
              <a:t>9</a:t>
            </a:fld>
            <a:endParaRPr lang="en-US" dirty="0"/>
          </a:p>
        </p:txBody>
      </p:sp>
      <p:pic>
        <p:nvPicPr>
          <p:cNvPr id="6" name="Picture 5">
            <a:extLst>
              <a:ext uri="{FF2B5EF4-FFF2-40B4-BE49-F238E27FC236}">
                <a16:creationId xmlns:a16="http://schemas.microsoft.com/office/drawing/2014/main" id="{A8ABBAD4-A418-5521-0243-08A600FB7809}"/>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8697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33C4-8E42-7EEA-C5F8-2A33D0A3ED6A}"/>
              </a:ext>
            </a:extLst>
          </p:cNvPr>
          <p:cNvSpPr>
            <a:spLocks noGrp="1"/>
          </p:cNvSpPr>
          <p:nvPr>
            <p:ph type="title"/>
          </p:nvPr>
        </p:nvSpPr>
        <p:spPr/>
        <p:txBody>
          <a:bodyPr>
            <a:normAutofit/>
          </a:bodyPr>
          <a:lstStyle/>
          <a:p>
            <a:r>
              <a:rPr lang="en-US" sz="4400" dirty="0"/>
              <a:t>Conclusion</a:t>
            </a:r>
          </a:p>
        </p:txBody>
      </p:sp>
      <p:sp>
        <p:nvSpPr>
          <p:cNvPr id="3" name="Content Placeholder 2">
            <a:extLst>
              <a:ext uri="{FF2B5EF4-FFF2-40B4-BE49-F238E27FC236}">
                <a16:creationId xmlns:a16="http://schemas.microsoft.com/office/drawing/2014/main" id="{ACDA98C0-9479-3F7A-4B3A-972EC2252CA6}"/>
              </a:ext>
            </a:extLst>
          </p:cNvPr>
          <p:cNvSpPr>
            <a:spLocks noGrp="1"/>
          </p:cNvSpPr>
          <p:nvPr>
            <p:ph idx="1"/>
          </p:nvPr>
        </p:nvSpPr>
        <p:spPr>
          <a:xfrm>
            <a:off x="813819" y="1754762"/>
            <a:ext cx="10539981" cy="4460687"/>
          </a:xfrm>
        </p:spPr>
        <p:txBody>
          <a:bodyPr>
            <a:normAutofit/>
          </a:bodyPr>
          <a:lstStyle/>
          <a:p>
            <a:pPr marL="457200" indent="-457200">
              <a:lnSpc>
                <a:spcPct val="100000"/>
              </a:lnSpc>
              <a:spcBef>
                <a:spcPts val="0"/>
              </a:spcBef>
              <a:spcAft>
                <a:spcPts val="2400"/>
              </a:spcAft>
              <a:buFont typeface="Arial" panose="020B0604020202020204" pitchFamily="34" charset="0"/>
              <a:buChar char="•"/>
            </a:pPr>
            <a:r>
              <a:rPr lang="en-US" b="0" dirty="0"/>
              <a:t>To learn more about the concepts reviewed during this training, check out the ADA resources provided within this unit</a:t>
            </a:r>
          </a:p>
          <a:p>
            <a:pPr marL="457200" indent="-457200">
              <a:lnSpc>
                <a:spcPct val="100000"/>
              </a:lnSpc>
              <a:spcBef>
                <a:spcPts val="0"/>
              </a:spcBef>
              <a:spcAft>
                <a:spcPts val="2400"/>
              </a:spcAft>
              <a:buFont typeface="Arial" panose="020B0604020202020204" pitchFamily="34" charset="0"/>
              <a:buChar char="•"/>
            </a:pPr>
            <a:r>
              <a:rPr lang="en-US" b="0" dirty="0"/>
              <a:t>If you have questions about the ADA, call your regional ADA Center at 800-949-4232</a:t>
            </a:r>
          </a:p>
          <a:p>
            <a:pPr marL="457200" indent="-457200">
              <a:lnSpc>
                <a:spcPct val="100000"/>
              </a:lnSpc>
              <a:spcBef>
                <a:spcPts val="0"/>
              </a:spcBef>
              <a:spcAft>
                <a:spcPts val="2400"/>
              </a:spcAft>
              <a:buFont typeface="Arial" panose="020B0604020202020204" pitchFamily="34" charset="0"/>
              <a:buChar char="•"/>
            </a:pPr>
            <a:r>
              <a:rPr lang="en-US" dirty="0"/>
              <a:t>The next step is to view the </a:t>
            </a:r>
            <a:r>
              <a:rPr lang="en-US" i="1" dirty="0">
                <a:solidFill>
                  <a:srgbClr val="1A2026"/>
                </a:solidFill>
              </a:rPr>
              <a:t>Americans with Disabilities Act (ADA) – </a:t>
            </a:r>
            <a:r>
              <a:rPr lang="en-US" dirty="0">
                <a:solidFill>
                  <a:srgbClr val="1A2026"/>
                </a:solidFill>
              </a:rPr>
              <a:t>5 Titles of the ADA</a:t>
            </a:r>
            <a:endParaRPr lang="en-US" dirty="0"/>
          </a:p>
        </p:txBody>
      </p:sp>
      <p:pic>
        <p:nvPicPr>
          <p:cNvPr id="6" name="Picture 5">
            <a:extLst>
              <a:ext uri="{FF2B5EF4-FFF2-40B4-BE49-F238E27FC236}">
                <a16:creationId xmlns:a16="http://schemas.microsoft.com/office/drawing/2014/main" id="{6D623585-06AF-02DE-3CC8-2A4A4F30CC4E}"/>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447868"/>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D038725D-484C-DF34-3333-08810BF274C8}"/>
              </a:ext>
            </a:extLst>
          </p:cNvPr>
          <p:cNvSpPr>
            <a:spLocks noGrp="1"/>
          </p:cNvSpPr>
          <p:nvPr>
            <p:ph type="sldNum" sz="quarter" idx="12"/>
          </p:nvPr>
        </p:nvSpPr>
        <p:spPr/>
        <p:txBody>
          <a:bodyPr/>
          <a:lstStyle/>
          <a:p>
            <a:fld id="{A9D5B481-CC43-4D95-B982-500CB2D3FC20}" type="slidenum">
              <a:rPr lang="en-US" smtClean="0"/>
              <a:pPr/>
              <a:t>10</a:t>
            </a:fld>
            <a:endParaRPr lang="en-US" dirty="0"/>
          </a:p>
        </p:txBody>
      </p:sp>
    </p:spTree>
    <p:extLst>
      <p:ext uri="{BB962C8B-B14F-4D97-AF65-F5344CB8AC3E}">
        <p14:creationId xmlns:p14="http://schemas.microsoft.com/office/powerpoint/2010/main" val="983944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Great Lakes ADA Center PPT">
      <a:dk1>
        <a:sysClr val="windowText" lastClr="000000"/>
      </a:dk1>
      <a:lt1>
        <a:sysClr val="window" lastClr="FFFFFF"/>
      </a:lt1>
      <a:dk2>
        <a:srgbClr val="242852"/>
      </a:dk2>
      <a:lt2>
        <a:srgbClr val="ACCBF9"/>
      </a:lt2>
      <a:accent1>
        <a:srgbClr val="005580"/>
      </a:accent1>
      <a:accent2>
        <a:srgbClr val="297FD5"/>
      </a:accent2>
      <a:accent3>
        <a:srgbClr val="7F8FA9"/>
      </a:accent3>
      <a:accent4>
        <a:srgbClr val="4A66AC"/>
      </a:accent4>
      <a:accent5>
        <a:srgbClr val="5AA2AE"/>
      </a:accent5>
      <a:accent6>
        <a:srgbClr val="9D90A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
  <TotalTime>24979</TotalTime>
  <Words>2995</Words>
  <Application>Microsoft Office PowerPoint</Application>
  <PresentationFormat>Widescreen</PresentationFormat>
  <Paragraphs>204</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Courier New</vt:lpstr>
      <vt:lpstr>Symbol</vt:lpstr>
      <vt:lpstr>Times New Roman</vt:lpstr>
      <vt:lpstr>Wingdings</vt:lpstr>
      <vt:lpstr>Office Theme</vt:lpstr>
      <vt:lpstr>Americans with Disabilities Act  (ADA)</vt:lpstr>
      <vt:lpstr>Broad Principles</vt:lpstr>
      <vt:lpstr>Who Has Rights Under the ADA? </vt:lpstr>
      <vt:lpstr>What’s Not Allowed</vt:lpstr>
      <vt:lpstr>Eligibility Scenario</vt:lpstr>
      <vt:lpstr>Direct Threat</vt:lpstr>
      <vt:lpstr>Exceptions/Limitations</vt:lpstr>
      <vt:lpstr>Key Requirements</vt:lpstr>
      <vt:lpstr>Accessibility vs Accommodation/Modification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208</cp:revision>
  <dcterms:created xsi:type="dcterms:W3CDTF">2023-05-18T20:19:20Z</dcterms:created>
  <dcterms:modified xsi:type="dcterms:W3CDTF">2025-03-12T20:19:01Z</dcterms:modified>
</cp:coreProperties>
</file>