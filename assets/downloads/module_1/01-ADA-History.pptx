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handoutMasterIdLst>
    <p:handoutMasterId r:id="rId9"/>
  </p:handoutMasterIdLst>
  <p:sldIdLst>
    <p:sldId id="256" r:id="rId2"/>
    <p:sldId id="330" r:id="rId3"/>
    <p:sldId id="819" r:id="rId4"/>
    <p:sldId id="887" r:id="rId5"/>
    <p:sldId id="818" r:id="rId6"/>
    <p:sldId id="88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580"/>
    <a:srgbClr val="0E58C4"/>
    <a:srgbClr val="FFFFFF"/>
    <a:srgbClr val="404040"/>
    <a:srgbClr val="FEFFDE"/>
    <a:srgbClr val="1F5FA0"/>
    <a:srgbClr val="00BF62"/>
    <a:srgbClr val="0563C1"/>
    <a:srgbClr val="366F92"/>
    <a:srgbClr val="DBE7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97A84A-9577-4320-9B75-261A6F7FB89D}" v="256" dt="2025-03-14T23:45:53.3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906" autoAdjust="0"/>
  </p:normalViewPr>
  <p:slideViewPr>
    <p:cSldViewPr snapToGrid="0">
      <p:cViewPr varScale="1">
        <p:scale>
          <a:sx n="75" d="100"/>
          <a:sy n="75" d="100"/>
        </p:scale>
        <p:origin x="1356" y="5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277B8A-44BD-4F08-BEBA-9E3C00B472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42F70E0-F9B6-4B0A-B20F-DB31E7AE8E0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a:extLst>
              <a:ext uri="{FF2B5EF4-FFF2-40B4-BE49-F238E27FC236}">
                <a16:creationId xmlns:a16="http://schemas.microsoft.com/office/drawing/2014/main" id="{E8289513-846D-418A-A76C-BC9CA473043A}"/>
              </a:ext>
            </a:extLst>
          </p:cNvPr>
          <p:cNvSpPr>
            <a:spLocks noGrp="1"/>
          </p:cNvSpPr>
          <p:nvPr>
            <p:ph type="ftr" sz="quarter" idx="2"/>
          </p:nvPr>
        </p:nvSpPr>
        <p:spPr>
          <a:xfrm>
            <a:off x="0" y="8505023"/>
            <a:ext cx="3429000" cy="638978"/>
          </a:xfrm>
          <a:prstGeom prst="rect">
            <a:avLst/>
          </a:prstGeom>
        </p:spPr>
        <p:txBody>
          <a:bodyPr vert="horz" lIns="91440" tIns="45720" rIns="91440" bIns="45720" rtlCol="0" anchor="b"/>
          <a:lstStyle>
            <a:lvl1pPr algn="l">
              <a:defRPr sz="1200"/>
            </a:lvl1pPr>
          </a:lstStyle>
          <a:p>
            <a:r>
              <a:rPr lang="en-US"/>
              <a:t>ADA Overview</a:t>
            </a:r>
          </a:p>
          <a:p>
            <a:pPr>
              <a:lnSpc>
                <a:spcPct val="100000"/>
              </a:lnSpc>
              <a:spcBef>
                <a:spcPts val="0"/>
              </a:spcBef>
            </a:pPr>
            <a:r>
              <a:rPr lang="en-US" sz="1200">
                <a:solidFill>
                  <a:schemeClr val="tx1">
                    <a:lumMod val="75000"/>
                    <a:lumOff val="25000"/>
                  </a:schemeClr>
                </a:solidFill>
              </a:rPr>
              <a:t>ADA Participation Action Research Consortium</a:t>
            </a:r>
          </a:p>
          <a:p>
            <a:pPr>
              <a:lnSpc>
                <a:spcPct val="100000"/>
              </a:lnSpc>
              <a:spcBef>
                <a:spcPts val="0"/>
              </a:spcBef>
            </a:pPr>
            <a:r>
              <a:rPr lang="en-US" sz="1200">
                <a:solidFill>
                  <a:schemeClr val="tx1">
                    <a:lumMod val="75000"/>
                    <a:lumOff val="25000"/>
                  </a:schemeClr>
                </a:solidFill>
              </a:rPr>
              <a:t>Participation Equity Navigator Training</a:t>
            </a:r>
          </a:p>
        </p:txBody>
      </p:sp>
      <p:sp>
        <p:nvSpPr>
          <p:cNvPr id="5" name="Slide Number Placeholder 4">
            <a:extLst>
              <a:ext uri="{FF2B5EF4-FFF2-40B4-BE49-F238E27FC236}">
                <a16:creationId xmlns:a16="http://schemas.microsoft.com/office/drawing/2014/main" id="{84746CD0-92B4-48E8-AAB4-2AAB470A697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560DB5-8A82-4868-827B-BFA45EE4562B}" type="slidenum">
              <a:rPr lang="en-US" smtClean="0"/>
              <a:t>‹#›</a:t>
            </a:fld>
            <a:endParaRPr lang="en-US"/>
          </a:p>
        </p:txBody>
      </p:sp>
    </p:spTree>
    <p:extLst>
      <p:ext uri="{BB962C8B-B14F-4D97-AF65-F5344CB8AC3E}">
        <p14:creationId xmlns:p14="http://schemas.microsoft.com/office/powerpoint/2010/main" val="3447350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8FD230-E997-462B-B687-9E056212BBD0}" type="datetimeFigureOut">
              <a:rPr lang="en-US" smtClean="0"/>
              <a:t>3/17/2025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60467-868E-4120-BCCD-97469C488C52}" type="slidenum">
              <a:rPr lang="en-US" smtClean="0"/>
              <a:t>‹#›</a:t>
            </a:fld>
            <a:endParaRPr lang="en-US"/>
          </a:p>
        </p:txBody>
      </p:sp>
    </p:spTree>
    <p:extLst>
      <p:ext uri="{BB962C8B-B14F-4D97-AF65-F5344CB8AC3E}">
        <p14:creationId xmlns:p14="http://schemas.microsoft.com/office/powerpoint/2010/main" val="717933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bing.com/ck/a?!&amp;&amp;p=218a920846b5a4437c16eca74645397d6387718c56f74f77aad6995afc2c081cJmltdHM9MTc0MTU2NDgwMA&amp;ptn=3&amp;ver=2&amp;hsh=4&amp;fclid=0c14912f-6d9f-660e-3c98-81306c79673d&amp;psq=vocational+rehabilitation+programs&amp;u=a1aHR0cHM6Ly93d3cubm9sby5jb20vbGVnYWwtZW5jeWNsb3BlZGlhL3ZvY2F0aW9uYWwtcmVoYWJpbGl0YXRpb24taW5kaXZpZHVhbHMtd2l0aC1kaXNhYmlsaXRpZXMuaHRtbA&amp;ntb=1"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justice.gov/crt/section-4-voting-rights-act"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and welcome to the Americans with Disabilities Act - </a:t>
            </a:r>
            <a:r>
              <a:rPr lang="en-US" sz="1200" b="0" dirty="0">
                <a:solidFill>
                  <a:srgbClr val="1A2026"/>
                </a:solidFill>
              </a:rPr>
              <a:t>History of Disability Rights &amp; Legislation</a:t>
            </a:r>
            <a:r>
              <a:rPr lang="en-US" dirty="0"/>
              <a:t>. A presentation within module 1-Unit 2: ADA Basics of the ADA PARC Participation Equity Navigator Training. Please note that there is an accessible PDF and Rich Text Format handout of this presentation available in Brightspace within module 1, unit 2 of this training course. </a:t>
            </a:r>
          </a:p>
          <a:p>
            <a:r>
              <a:rPr lang="en-US" dirty="0"/>
              <a:t>Moving onto slide 2</a:t>
            </a:r>
          </a:p>
        </p:txBody>
      </p:sp>
      <p:sp>
        <p:nvSpPr>
          <p:cNvPr id="4" name="Slide Number Placeholder 3"/>
          <p:cNvSpPr>
            <a:spLocks noGrp="1"/>
          </p:cNvSpPr>
          <p:nvPr>
            <p:ph type="sldNum" sz="quarter" idx="5"/>
          </p:nvPr>
        </p:nvSpPr>
        <p:spPr/>
        <p:txBody>
          <a:bodyPr/>
          <a:lstStyle/>
          <a:p>
            <a:fld id="{40E60467-868E-4120-BCCD-97469C488C52}" type="slidenum">
              <a:rPr lang="en-US" smtClean="0"/>
              <a:t>1</a:t>
            </a:fld>
            <a:endParaRPr lang="en-US"/>
          </a:p>
        </p:txBody>
      </p:sp>
    </p:spTree>
    <p:extLst>
      <p:ext uri="{BB962C8B-B14F-4D97-AF65-F5344CB8AC3E}">
        <p14:creationId xmlns:p14="http://schemas.microsoft.com/office/powerpoint/2010/main" val="1996388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341313"/>
            <a:ext cx="5486400" cy="3086100"/>
          </a:xfrm>
        </p:spPr>
      </p:sp>
      <p:sp>
        <p:nvSpPr>
          <p:cNvPr id="3" name="Notes Placeholder 2"/>
          <p:cNvSpPr>
            <a:spLocks noGrp="1"/>
          </p:cNvSpPr>
          <p:nvPr>
            <p:ph type="body" idx="1"/>
          </p:nvPr>
        </p:nvSpPr>
        <p:spPr>
          <a:xfrm>
            <a:off x="170922" y="3689349"/>
            <a:ext cx="6466946" cy="4878917"/>
          </a:xfrm>
        </p:spPr>
        <p:txBody>
          <a:bodyPr/>
          <a:lstStyle/>
          <a:p>
            <a:pPr marL="171450" indent="-171450" algn="l">
              <a:lnSpc>
                <a:spcPts val="1650"/>
              </a:lnSpc>
              <a:buFont typeface="Arial" panose="020B0604020202020204" pitchFamily="34" charset="0"/>
              <a:buChar char="•"/>
            </a:pPr>
            <a:r>
              <a:rPr lang="en-US" sz="1200">
                <a:effectLst/>
                <a:latin typeface="Calibri" panose="020F0502020204030204" pitchFamily="34" charset="0"/>
                <a:ea typeface="Calibri" panose="020F0502020204030204" pitchFamily="34" charset="0"/>
              </a:rPr>
              <a:t>In</a:t>
            </a:r>
            <a:r>
              <a:rPr lang="en-US" sz="1200" b="0">
                <a:effectLst/>
                <a:latin typeface="Calibri" panose="020F0502020204030204" pitchFamily="34" charset="0"/>
                <a:ea typeface="Calibri" panose="020F0502020204030204" pitchFamily="34" charset="0"/>
              </a:rPr>
              <a:t> 1917</a:t>
            </a:r>
            <a:r>
              <a:rPr lang="en-US" sz="1200" b="1">
                <a:effectLst/>
                <a:latin typeface="Calibri" panose="020F0502020204030204" pitchFamily="34" charset="0"/>
                <a:ea typeface="Calibri" panose="020F0502020204030204" pitchFamily="34" charset="0"/>
              </a:rPr>
              <a:t>, </a:t>
            </a:r>
            <a:r>
              <a:rPr lang="en-US" sz="1200">
                <a:effectLst/>
                <a:latin typeface="Calibri" panose="020F0502020204030204" pitchFamily="34" charset="0"/>
                <a:ea typeface="Calibri" panose="020F0502020204030204" pitchFamily="34" charset="0"/>
              </a:rPr>
              <a:t>The Smith-Hughes Act </a:t>
            </a:r>
            <a:r>
              <a:rPr lang="en-US"/>
              <a:t>made federal monies available to states on a matching basis for vocational education programs. It established the Federal Board for Vocational Education, which later administered the veteran and civilian vocational rehabilitation programs otherwise known as Voc. Rehab. or VR. </a:t>
            </a:r>
            <a:r>
              <a:rPr lang="en-US" b="0" i="0" u="none" strike="noStrike">
                <a:solidFill>
                  <a:schemeClr val="tx1"/>
                </a:solidFill>
                <a:effectLst/>
                <a:latin typeface="Roboto" panose="02000000000000000000" pitchFamily="2" charset="0"/>
                <a:hlinkClick r:id="rId3">
                  <a:extLst>
                    <a:ext uri="{A12FA001-AC4F-418D-AE19-62706E023703}">
                      <ahyp:hlinkClr xmlns:ahyp="http://schemas.microsoft.com/office/drawing/2018/hyperlinkcolor" val="tx"/>
                    </a:ext>
                  </a:extLst>
                </a:hlinkClick>
              </a:rPr>
              <a:t>The goal is to help those with disabilities return to work and become economically independent. Participants may receive diagnosis, an individualized rehabilitation program, counseling and guidance, training, job placement, and services to support job retention</a:t>
            </a:r>
            <a:endParaRPr lang="en-US" b="0" i="0" u="none" strike="noStrike">
              <a:solidFill>
                <a:schemeClr val="tx1"/>
              </a:solidFill>
              <a:effectLst/>
              <a:latin typeface="Roboto" panose="02000000000000000000" pitchFamily="2" charset="0"/>
            </a:endParaRPr>
          </a:p>
          <a:p>
            <a:pPr marL="171450" marR="0" lvl="0" indent="-171450" algn="l" defTabSz="914400" rtl="0" eaLnBrk="1" fontAlgn="auto" latinLnBrk="0" hangingPunct="1">
              <a:lnSpc>
                <a:spcPts val="1650"/>
              </a:lnSpc>
              <a:spcBef>
                <a:spcPts val="0"/>
              </a:spcBef>
              <a:spcAft>
                <a:spcPts val="0"/>
              </a:spcAft>
              <a:buClrTx/>
              <a:buSzTx/>
              <a:buFont typeface="Arial" panose="020B0604020202020204" pitchFamily="34" charset="0"/>
              <a:buChar char="•"/>
              <a:tabLst/>
              <a:defRPr/>
            </a:pPr>
            <a:r>
              <a:rPr lang="en-US" sz="1200">
                <a:effectLst/>
                <a:latin typeface="Calibri" panose="020F0502020204030204" pitchFamily="34" charset="0"/>
                <a:ea typeface="Calibri" panose="020F0502020204030204" pitchFamily="34" charset="0"/>
              </a:rPr>
              <a:t>Displayed on this slide is a photo of the signing of the Smith-Hughes Act.</a:t>
            </a:r>
            <a:endParaRPr lang="en-US" sz="1200" u="none">
              <a:effectLst/>
              <a:latin typeface="Calibri" panose="020F0502020204030204" pitchFamily="34" charset="0"/>
              <a:ea typeface="Calibri" panose="020F0502020204030204" pitchFamily="34" charset="0"/>
            </a:endParaRPr>
          </a:p>
          <a:p>
            <a:pPr marL="0" marR="141605" indent="0" eaLnBrk="0" hangingPunct="0">
              <a:spcBef>
                <a:spcPts val="835"/>
              </a:spcBef>
              <a:spcAft>
                <a:spcPts val="0"/>
              </a:spcAft>
              <a:buFont typeface="Arial" panose="020B0604020202020204" pitchFamily="34" charset="0"/>
              <a:buNone/>
            </a:pPr>
            <a:r>
              <a:rPr lang="en-US" sz="1200" b="1">
                <a:effectLst/>
                <a:latin typeface="Calibri" panose="020F0502020204030204" pitchFamily="34" charset="0"/>
                <a:ea typeface="Calibri" panose="020F0502020204030204" pitchFamily="34" charset="0"/>
              </a:rPr>
              <a:t>Double Click</a:t>
            </a:r>
          </a:p>
          <a:p>
            <a:pPr marL="171450" indent="-171450">
              <a:buFont typeface="Arial" panose="020B0604020202020204" pitchFamily="34" charset="0"/>
              <a:buChar char="•"/>
            </a:pPr>
            <a:r>
              <a:rPr lang="en-US"/>
              <a:t>The University of California refused to admit Ed Roberts (who used a wheelchair) as a student despite the fact that he was fully qualified. Maintaining that this refusal was “for his own good,” college admission officials maintained that it would not be safe for Mr. Roberts to attend college. In 1962,  Ed, who founded the independent living movement, finally gained admission to the college after winning the lawsuit he filed. </a:t>
            </a:r>
          </a:p>
          <a:p>
            <a:pPr marL="171450" indent="-171450">
              <a:buFont typeface="Arial" panose="020B0604020202020204" pitchFamily="34" charset="0"/>
              <a:buChar char="•"/>
            </a:pPr>
            <a:r>
              <a:rPr lang="en-US" sz="1200">
                <a:effectLst/>
                <a:latin typeface="Calibri" panose="020F0502020204030204" pitchFamily="34" charset="0"/>
                <a:ea typeface="Calibri" panose="020F0502020204030204" pitchFamily="34" charset="0"/>
              </a:rPr>
              <a:t>Displayed on this slide is a photo of Ed Roberts next to a University campus </a:t>
            </a:r>
            <a:endParaRPr lang="en-US"/>
          </a:p>
          <a:p>
            <a:pPr marL="0" marR="0" lvl="0" indent="0" algn="l" defTabSz="914400" rtl="0" eaLnBrk="0" fontAlgn="auto" latinLnBrk="0" hangingPunct="0">
              <a:lnSpc>
                <a:spcPct val="100000"/>
              </a:lnSpc>
              <a:spcBef>
                <a:spcPts val="0"/>
              </a:spcBef>
              <a:spcAft>
                <a:spcPts val="0"/>
              </a:spcAft>
              <a:buClrTx/>
              <a:buSzTx/>
              <a:buFont typeface="Arial" panose="020B0604020202020204" pitchFamily="34" charset="0"/>
              <a:buNone/>
              <a:tabLst/>
              <a:defRPr/>
            </a:pPr>
            <a:r>
              <a:rPr lang="en-US" sz="1200" b="1">
                <a:effectLst/>
                <a:latin typeface="Calibri" panose="020F0502020204030204" pitchFamily="34" charset="0"/>
                <a:ea typeface="Calibri" panose="020F0502020204030204" pitchFamily="34" charset="0"/>
              </a:rPr>
              <a:t>Double Click</a:t>
            </a:r>
          </a:p>
          <a:p>
            <a:pPr marL="171450" indent="-171450">
              <a:buFont typeface="Arial" panose="020B0604020202020204" pitchFamily="34" charset="0"/>
              <a:buChar char="•"/>
            </a:pPr>
            <a:r>
              <a:rPr lang="en-US"/>
              <a:t>In 1973, the Rehabilitation Act was passed, prohibiting disability discrimination in federal programs and services. This legislation was important because it laid the groundwork for the ADA.</a:t>
            </a:r>
          </a:p>
          <a:p>
            <a:pPr marL="171450" indent="-171450">
              <a:buFont typeface="Arial" panose="020B0604020202020204" pitchFamily="34" charset="0"/>
              <a:buChar char="•"/>
            </a:pPr>
            <a:r>
              <a:rPr lang="en-US" sz="1200">
                <a:effectLst/>
                <a:latin typeface="Calibri" panose="020F0502020204030204" pitchFamily="34" charset="0"/>
                <a:ea typeface="Calibri" panose="020F0502020204030204" pitchFamily="34" charset="0"/>
              </a:rPr>
              <a:t>Displayed on this slide is a photo of </a:t>
            </a:r>
            <a:r>
              <a:rPr lang="en-US"/>
              <a:t>People with Disabilities protesting for the passing of the Rehabilitation Act </a:t>
            </a:r>
            <a:endParaRPr lang="en-US" sz="1200">
              <a:effectLst/>
              <a:latin typeface="Calibri" panose="020F0502020204030204" pitchFamily="34" charset="0"/>
              <a:ea typeface="Calibri" panose="020F0502020204030204" pitchFamily="34" charset="0"/>
            </a:endParaRPr>
          </a:p>
          <a:p>
            <a:pPr marL="0" indent="0">
              <a:buFont typeface="Arial" panose="020B0604020202020204" pitchFamily="34" charset="0"/>
              <a:buNone/>
            </a:pPr>
            <a:r>
              <a:rPr lang="en-US" sz="1200" b="1">
                <a:effectLst/>
                <a:latin typeface="Calibri" panose="020F0502020204030204" pitchFamily="34" charset="0"/>
                <a:ea typeface="Calibri" panose="020F0502020204030204" pitchFamily="34" charset="0"/>
              </a:rPr>
              <a:t>Double Click</a:t>
            </a:r>
          </a:p>
          <a:p>
            <a:pPr marL="171450" indent="-171450">
              <a:buFont typeface="Arial" panose="020B0604020202020204" pitchFamily="34" charset="0"/>
              <a:buChar char="•"/>
            </a:pPr>
            <a:r>
              <a:rPr lang="en-US"/>
              <a:t>Although the Rehabilitation Act was passed in 1973, the US Secretary of Health, Education and Welfare refused to sign the regulations for the Rehabilitation Act. This was important because, without regulations, this law was not enforceable. There were many “504-Sit ins” all over the country, but the San Francisco sit-in lasted 26 days and at any time, there were between 1 and 200 people with disabilities and allies occupying the building. </a:t>
            </a:r>
          </a:p>
          <a:p>
            <a:pPr marL="171450" indent="-171450">
              <a:buFont typeface="Arial" panose="020B0604020202020204" pitchFamily="34" charset="0"/>
              <a:buChar char="•"/>
            </a:pPr>
            <a:r>
              <a:rPr lang="en-US" sz="1200">
                <a:effectLst/>
                <a:latin typeface="Calibri" panose="020F0502020204030204" pitchFamily="34" charset="0"/>
                <a:ea typeface="Calibri" panose="020F0502020204030204" pitchFamily="34" charset="0"/>
              </a:rPr>
              <a:t>Displayed on this slide is a photo of a group of people with disabilities in 1977 participating in the sit-in protesting against the refusal to sign into law regulations to enforce the Rehabilitation Act </a:t>
            </a:r>
            <a:endParaRPr lang="en-US"/>
          </a:p>
          <a:p>
            <a:pPr marL="0" marR="0" lvl="0" indent="0" algn="l" defTabSz="914400" rtl="0" eaLnBrk="0" fontAlgn="auto" latinLnBrk="0" hangingPunct="0">
              <a:lnSpc>
                <a:spcPct val="100000"/>
              </a:lnSpc>
              <a:spcBef>
                <a:spcPts val="0"/>
              </a:spcBef>
              <a:spcAft>
                <a:spcPts val="0"/>
              </a:spcAft>
              <a:buClrTx/>
              <a:buSzTx/>
              <a:buFont typeface="Arial" panose="020B0604020202020204" pitchFamily="34" charset="0"/>
              <a:buNone/>
              <a:tabLst/>
              <a:defRPr/>
            </a:pPr>
            <a:r>
              <a:rPr lang="en-US" sz="1200"/>
              <a:t>Moving onto slide 3</a:t>
            </a:r>
          </a:p>
          <a:p>
            <a:pPr marL="0" marR="0" indent="0" eaLnBrk="0" hangingPunct="0">
              <a:spcBef>
                <a:spcPts val="0"/>
              </a:spcBef>
              <a:spcAft>
                <a:spcPts val="0"/>
              </a:spcAft>
              <a:buFont typeface="Arial" panose="020B0604020202020204" pitchFamily="34" charset="0"/>
              <a:buNone/>
            </a:pPr>
            <a:endParaRPr lang="en-US" sz="120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3386A64F-8DAC-45DB-93A6-F653170A2462}" type="slidenum">
              <a:rPr lang="en-US" smtClean="0"/>
              <a:t>2</a:t>
            </a:fld>
            <a:endParaRPr lang="en-US"/>
          </a:p>
        </p:txBody>
      </p:sp>
    </p:spTree>
    <p:extLst>
      <p:ext uri="{BB962C8B-B14F-4D97-AF65-F5344CB8AC3E}">
        <p14:creationId xmlns:p14="http://schemas.microsoft.com/office/powerpoint/2010/main" val="2607469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600"/>
              </a:spcAft>
            </a:pPr>
            <a:r>
              <a:rPr lang="en-US" b="0" dirty="0">
                <a:solidFill>
                  <a:srgbClr val="005580"/>
                </a:solidFill>
              </a:rPr>
              <a:t>Let’s break down the Rehabilitation Act</a:t>
            </a:r>
          </a:p>
          <a:p>
            <a:pPr>
              <a:spcBef>
                <a:spcPts val="0"/>
              </a:spcBef>
              <a:spcAft>
                <a:spcPts val="600"/>
              </a:spcAft>
            </a:pPr>
            <a:r>
              <a:rPr lang="en-US" b="1" dirty="0">
                <a:solidFill>
                  <a:srgbClr val="005580"/>
                </a:solidFill>
              </a:rPr>
              <a:t>Click</a:t>
            </a:r>
          </a:p>
          <a:p>
            <a:pPr>
              <a:spcBef>
                <a:spcPts val="0"/>
              </a:spcBef>
              <a:spcAft>
                <a:spcPts val="600"/>
              </a:spcAft>
            </a:pPr>
            <a:r>
              <a:rPr lang="en-US" b="0" dirty="0">
                <a:solidFill>
                  <a:srgbClr val="005580"/>
                </a:solidFill>
              </a:rPr>
              <a:t>Section 501: </a:t>
            </a:r>
            <a:r>
              <a:rPr lang="en-US" sz="2300" b="0" dirty="0">
                <a:solidFill>
                  <a:srgbClr val="212121"/>
                </a:solidFill>
              </a:rPr>
              <a:t>P</a:t>
            </a:r>
            <a:r>
              <a:rPr lang="en-US" sz="2300" b="0" i="0" dirty="0">
                <a:solidFill>
                  <a:srgbClr val="212121"/>
                </a:solidFill>
                <a:effectLst/>
              </a:rPr>
              <a:t>rohibits federal agencies from discriminating against qualified individuals with disabilities, using the same standards as Title I employment of the ADA. It requires federal agencies to take affirmative action in the hiring, placing, and advancing of individuals with disabilities. </a:t>
            </a:r>
            <a:r>
              <a:rPr lang="en-US" sz="3600" b="0" i="0" dirty="0">
                <a:solidFill>
                  <a:srgbClr val="2E2E2A"/>
                </a:solidFill>
                <a:effectLst/>
                <a:latin typeface="Public Sans Web"/>
              </a:rPr>
              <a:t>Section 501 is enforced by a federal agency’s Equal Employment Opportunity Office.</a:t>
            </a:r>
            <a:endParaRPr lang="en-US" sz="2300" b="0" i="0" dirty="0">
              <a:solidFill>
                <a:srgbClr val="212121"/>
              </a:solidFill>
              <a:effectLst/>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sz="2400" b="1" dirty="0">
                <a:solidFill>
                  <a:srgbClr val="005580"/>
                </a:solidFill>
              </a:rPr>
              <a:t>Click</a:t>
            </a:r>
            <a:endParaRPr lang="en-US" sz="2300" b="0" i="0" dirty="0">
              <a:solidFill>
                <a:srgbClr val="212121"/>
              </a:solidFill>
              <a:effectLst/>
            </a:endParaRPr>
          </a:p>
          <a:p>
            <a:pPr algn="l"/>
            <a:r>
              <a:rPr lang="en-US" b="0" dirty="0">
                <a:solidFill>
                  <a:srgbClr val="005580"/>
                </a:solidFill>
              </a:rPr>
              <a:t>Section 503: </a:t>
            </a:r>
            <a:r>
              <a:rPr lang="en-US" sz="2300" b="0" dirty="0">
                <a:solidFill>
                  <a:srgbClr val="212121"/>
                </a:solidFill>
              </a:rPr>
              <a:t>P</a:t>
            </a:r>
            <a:r>
              <a:rPr lang="en-US" sz="2300" b="0" i="0" dirty="0">
                <a:solidFill>
                  <a:srgbClr val="212121"/>
                </a:solidFill>
                <a:effectLst/>
              </a:rPr>
              <a:t>rohibits federal contractors and subcontractors from discriminating in employment against individuals with disabilities. It requires employers to take affirmative action to recruit, hire, promote, and retain these individuals. </a:t>
            </a:r>
            <a:r>
              <a:rPr lang="en-US" sz="3600" b="0" i="0" dirty="0">
                <a:solidFill>
                  <a:srgbClr val="2E2E2A"/>
                </a:solidFill>
                <a:effectLst/>
                <a:latin typeface="Public Sans Web"/>
              </a:rPr>
              <a:t>Section 503 is enforced by the </a:t>
            </a:r>
            <a:r>
              <a:rPr lang="en-US" sz="3600" dirty="0">
                <a:effectLst/>
              </a:rPr>
              <a:t>Office of Federal Contract Compliance Programs within the U.S. Department of Labor.</a:t>
            </a:r>
            <a:endParaRPr lang="en-US" sz="2300" b="0" i="0" dirty="0">
              <a:solidFill>
                <a:srgbClr val="212121"/>
              </a:solidFill>
              <a:effectLst/>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sz="2400" b="1" dirty="0">
                <a:solidFill>
                  <a:srgbClr val="005580"/>
                </a:solidFill>
              </a:rPr>
              <a:t>Click</a:t>
            </a:r>
          </a:p>
          <a:p>
            <a:pPr algn="l"/>
            <a:r>
              <a:rPr lang="en-US" sz="2400" b="0" dirty="0">
                <a:solidFill>
                  <a:srgbClr val="005580"/>
                </a:solidFill>
              </a:rPr>
              <a:t>Section 504: </a:t>
            </a:r>
            <a:r>
              <a:rPr lang="en-US" sz="2200" b="0" dirty="0"/>
              <a:t>S</a:t>
            </a:r>
            <a:r>
              <a:rPr lang="en-US" sz="2200" b="0" i="0" dirty="0">
                <a:effectLst/>
              </a:rPr>
              <a:t>tates that “no qualified individual with a disability in the United States shall be excluded from, denied the benefits of, or be subjected to discrimination under” any program or activity that either receives Federal financial assistance or is conducted by any Executive agency or the United States Postal Service. Requirements common to these regulations include reasonable accommodation for employees with disabilities, program access, effective communication with people who have hearing or vision disabilities, and new construction and alterations built with accessibility in mind. Individuals can </a:t>
            </a:r>
            <a:r>
              <a:rPr lang="en-US" sz="3600" b="0" i="0" dirty="0">
                <a:solidFill>
                  <a:srgbClr val="2E2E2A"/>
                </a:solidFill>
                <a:effectLst/>
                <a:latin typeface="Public Sans Web"/>
              </a:rPr>
              <a:t>contact the </a:t>
            </a:r>
            <a:r>
              <a:rPr lang="en-US" sz="3600" dirty="0">
                <a:effectLst/>
              </a:rPr>
              <a:t>U.S. Department of </a:t>
            </a:r>
            <a:r>
              <a:rPr lang="en-US" dirty="0"/>
              <a:t>Justice for</a:t>
            </a:r>
            <a:r>
              <a:rPr lang="en-US" sz="3600" b="0" i="0" dirty="0">
                <a:solidFill>
                  <a:srgbClr val="2E2E2A"/>
                </a:solidFill>
                <a:effectLst/>
                <a:latin typeface="Public Sans Web"/>
              </a:rPr>
              <a:t> information on what appropriate federal agency to contact regarding the enforcement of Section 504.</a:t>
            </a:r>
            <a:endParaRPr lang="en-US" sz="2200" b="0" i="0" dirty="0">
              <a:effectLst/>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sz="2400" b="1" dirty="0">
                <a:solidFill>
                  <a:srgbClr val="005580"/>
                </a:solidFill>
              </a:rPr>
              <a:t>Click</a:t>
            </a:r>
            <a:endParaRPr lang="en-US" sz="2200" b="0" i="0" dirty="0">
              <a:effectLst/>
            </a:endParaRPr>
          </a:p>
          <a:p>
            <a:pPr algn="l"/>
            <a:r>
              <a:rPr lang="en-US" sz="2400" b="0" dirty="0">
                <a:solidFill>
                  <a:srgbClr val="005580"/>
                </a:solidFill>
              </a:rPr>
              <a:t>Section 508: </a:t>
            </a:r>
            <a:r>
              <a:rPr lang="en-US" sz="2200" b="0" dirty="0"/>
              <a:t>R</a:t>
            </a:r>
            <a:r>
              <a:rPr lang="en-US" sz="2200" b="0" i="0" dirty="0">
                <a:effectLst/>
              </a:rPr>
              <a:t>equires Federal electronic and information technology to be accessible to people with disabilities, including employees and members of the public. It establishes requirements for electronic and information technology developed, maintained, procured, or used by the Federal government. </a:t>
            </a:r>
            <a:r>
              <a:rPr lang="en-US" sz="3600" b="0" i="0" dirty="0">
                <a:solidFill>
                  <a:srgbClr val="2E2E2A"/>
                </a:solidFill>
                <a:effectLst/>
                <a:latin typeface="Public Sans Web"/>
              </a:rPr>
              <a:t>For more information on section 508, </a:t>
            </a:r>
            <a:r>
              <a:rPr lang="en-US" sz="3600" b="0" i="0" dirty="0">
                <a:effectLst/>
              </a:rPr>
              <a:t>Individuals can </a:t>
            </a:r>
            <a:r>
              <a:rPr lang="en-US" sz="3600" b="0" i="0" dirty="0">
                <a:solidFill>
                  <a:srgbClr val="2E2E2A"/>
                </a:solidFill>
                <a:effectLst/>
                <a:latin typeface="Public Sans Web"/>
              </a:rPr>
              <a:t>contact the </a:t>
            </a:r>
            <a:r>
              <a:rPr lang="en-US" sz="3600" dirty="0">
                <a:effectLst/>
              </a:rPr>
              <a:t>U.S. General Services Administration, Office of Enterprise Planning and Governance</a:t>
            </a:r>
            <a:endParaRPr lang="en-US" sz="2200" b="0" i="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Moving onto slide 4</a:t>
            </a:r>
          </a:p>
          <a:p>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3</a:t>
            </a:fld>
            <a:endParaRPr lang="en-US"/>
          </a:p>
        </p:txBody>
      </p:sp>
    </p:spTree>
    <p:extLst>
      <p:ext uri="{BB962C8B-B14F-4D97-AF65-F5344CB8AC3E}">
        <p14:creationId xmlns:p14="http://schemas.microsoft.com/office/powerpoint/2010/main" val="3947136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i="0" dirty="0">
                <a:effectLst/>
                <a:latin typeface="-apple-system"/>
              </a:rPr>
              <a:t>On March 12, 1990, more than 1000 disability activists went to Washington to protest the US Congress stalling the passage of the Americans with Disabilities Act prohibiting discrimination of people with disabilities. When the group reached the capitol steps, they pulled themselves out of their wheelchairs and began to crawl up the steps to dramatically protest the lack of access for people with disabilities.</a:t>
            </a:r>
          </a:p>
          <a:p>
            <a:pPr marL="0" indent="0">
              <a:buFont typeface="Arial" panose="020B0604020202020204" pitchFamily="34" charset="0"/>
              <a:buNone/>
            </a:pPr>
            <a:r>
              <a:rPr lang="en-US" dirty="0"/>
              <a:t>Displayed on this slide is a photo of two young woman crawling up the US capitol steps with photographers in front of them taking pictures.</a:t>
            </a:r>
          </a:p>
          <a:p>
            <a:pPr marL="0" indent="0">
              <a:buFont typeface="Arial" panose="020B0604020202020204" pitchFamily="34" charset="0"/>
              <a:buNone/>
            </a:pPr>
            <a:r>
              <a:rPr lang="en-US" b="1" dirty="0"/>
              <a:t>Double Click</a:t>
            </a:r>
          </a:p>
          <a:p>
            <a:pPr marL="171450" indent="-171450">
              <a:buFont typeface="Arial" panose="020B0604020202020204" pitchFamily="34" charset="0"/>
              <a:buChar char="•"/>
            </a:pPr>
            <a:r>
              <a:rPr lang="en-US" b="0" i="0" dirty="0">
                <a:solidFill>
                  <a:srgbClr val="000000"/>
                </a:solidFill>
                <a:effectLst/>
                <a:latin typeface="Muli"/>
              </a:rPr>
              <a:t>Six months later, following the bill’s remarkably swift passage through the House, President George H. W. Bush signed the ADA into law on July 26, 1990. </a:t>
            </a:r>
            <a:endParaRPr lang="en-US" dirty="0"/>
          </a:p>
          <a:p>
            <a:r>
              <a:rPr lang="en-US" dirty="0"/>
              <a:t>Displayed on this slide is a photo of President George Bush signing the ADA into law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Moving onto slide 5</a:t>
            </a:r>
          </a:p>
          <a:p>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4</a:t>
            </a:fld>
            <a:endParaRPr lang="en-US"/>
          </a:p>
        </p:txBody>
      </p:sp>
    </p:spTree>
    <p:extLst>
      <p:ext uri="{BB962C8B-B14F-4D97-AF65-F5344CB8AC3E}">
        <p14:creationId xmlns:p14="http://schemas.microsoft.com/office/powerpoint/2010/main" val="4239193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On this slide is a legislative timeline of some civil rights laws providing protections to Americans with disabilities. Many of these laws provide protections that the ADA does not cover. Let's take a look at some of them.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t>CLICK</a:t>
            </a: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262222"/>
                </a:solidFill>
                <a:effectLst/>
                <a:latin typeface="Open Sans" panose="020B0606030504020204" pitchFamily="34" charset="0"/>
              </a:rPr>
              <a:t>The </a:t>
            </a:r>
            <a:r>
              <a:rPr lang="en-US" b="0" i="0" u="none" strike="noStrike" dirty="0">
                <a:solidFill>
                  <a:srgbClr val="1A71AE"/>
                </a:solidFill>
                <a:effectLst/>
                <a:latin typeface="Open Sans" panose="020B0606030504020204" pitchFamily="34" charset="0"/>
                <a:hlinkClick r:id="rId3"/>
              </a:rPr>
              <a:t>Voting Rights Act</a:t>
            </a:r>
            <a:r>
              <a:rPr lang="en-US" b="0" i="0" dirty="0">
                <a:solidFill>
                  <a:srgbClr val="262222"/>
                </a:solidFill>
                <a:effectLst/>
                <a:latin typeface="Open Sans" panose="020B0606030504020204" pitchFamily="34" charset="0"/>
              </a:rPr>
              <a:t> was passed in 1965 and established the right for voters who are blind or have other disabilities to receive assistance from a person of their choice. It also prohibits making the right to vote contingent on a citizen's ability to read or write, attaining a specific level of education or passing an interpretation test.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t>CLICK</a:t>
            </a:r>
            <a:endParaRPr lang="en-US" dirty="0"/>
          </a:p>
          <a:p>
            <a:pPr marL="171450" indent="-171450">
              <a:buFont typeface="Arial" panose="020B0604020202020204" pitchFamily="34" charset="0"/>
              <a:buChar char="•"/>
            </a:pPr>
            <a:r>
              <a:rPr lang="en-US" dirty="0"/>
              <a:t>Architectural Barriers Act of 1968 requires access to facilities designed, built, altered, or leased with federal funds or by federal agencies. It ensures accessibility in the built environment for people with disabilities through the Act’s accessibility standards.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t>CLICK</a:t>
            </a:r>
            <a:endParaRPr lang="en-US" dirty="0"/>
          </a:p>
          <a:p>
            <a:pPr marL="171450" indent="-171450">
              <a:buFont typeface="Arial" panose="020B0604020202020204" pitchFamily="34" charset="0"/>
              <a:buChar char="•"/>
            </a:pPr>
            <a:r>
              <a:rPr lang="en-US" dirty="0"/>
              <a:t>The Individuals with Disabilities Education Act of 1975 or IDEA requires public schools to make available to all eligible children with disabilities a free appropriate public education in the least restrictive environment appropriate to their individual needs. IDEA requires public school systems to develop appropriate Individualized Education Programs (IEPs) for each child.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t>CLICK</a:t>
            </a:r>
            <a:endParaRPr lang="en-US" dirty="0"/>
          </a:p>
          <a:p>
            <a:pPr marL="171450" indent="-171450">
              <a:buFont typeface="Arial" panose="020B0604020202020204" pitchFamily="34" charset="0"/>
              <a:buChar char="•"/>
            </a:pPr>
            <a:r>
              <a:rPr lang="en-US" dirty="0"/>
              <a:t>The Air Carrier Access Act of 1986 </a:t>
            </a:r>
            <a:r>
              <a:rPr lang="en-US" b="0" i="0" dirty="0">
                <a:solidFill>
                  <a:srgbClr val="343F4E"/>
                </a:solidFill>
                <a:effectLst/>
                <a:latin typeface="Source Sans Pro" panose="020B0503030403020204" pitchFamily="34" charset="0"/>
              </a:rPr>
              <a:t>prohibits discrimination on the basis of disability in air travel. The Department of Transportation, or DOT, has a rule defining the rights of passengers and the obligations of airlines under this law. This rule applies to all flights of U.S. airlines and to flights to or from the United States by foreign airlines. DOT’s rule addresses prohibited discriminatory practices; for example, airlines may not require a person with a disability to travel with another person, except in certain limited circumstances. The rule also addresses the accessibility of aircraft and other services and accommodations required by airlines.  </a:t>
            </a:r>
          </a:p>
          <a:p>
            <a:pPr marL="0" indent="0">
              <a:buFont typeface="Arial" panose="020B0604020202020204" pitchFamily="34" charset="0"/>
              <a:buNone/>
            </a:pPr>
            <a:r>
              <a:rPr lang="en-US" b="1" dirty="0"/>
              <a:t>CLICK</a:t>
            </a:r>
            <a:endParaRPr lang="en-US" dirty="0"/>
          </a:p>
          <a:p>
            <a:pPr marL="171450" indent="-171450">
              <a:buFont typeface="Arial" panose="020B0604020202020204" pitchFamily="34" charset="0"/>
              <a:buChar char="•"/>
            </a:pPr>
            <a:r>
              <a:rPr lang="en-US" dirty="0"/>
              <a:t>The Fair Housing Act, as amended in 1988, prohibits housing discrimination on the basis of race, color, religion, sex, disability, familial status, and national origin. The Fair Housing Act requires owners of housing facilities to make reasonable exceptions in their policies and operations to afford people with disabilities equal housing opportunities. It also requires landlords to allow tenants with disabilities to make reasonable access-related modifications to their private living space, as well as to common-use spaces. The Act further requires that new multifamily housing with four or more units be designed and built to allow access for persons with disabilities by following the Fair Housing Act design and construction requirements. This law is enforced by the US Department of Housing and Urban Development, otherwise known as HUD.</a:t>
            </a:r>
          </a:p>
          <a:p>
            <a:pPr marL="0" indent="0">
              <a:buFont typeface="Arial" panose="020B0604020202020204" pitchFamily="34" charset="0"/>
              <a:buNone/>
            </a:pPr>
            <a:r>
              <a:rPr lang="en-US" b="1" dirty="0"/>
              <a:t>CLICK</a:t>
            </a:r>
            <a:endParaRPr lang="en-US" dirty="0"/>
          </a:p>
          <a:p>
            <a:pPr marL="171450" indent="-171450">
              <a:buFont typeface="Arial" panose="020B0604020202020204" pitchFamily="34" charset="0"/>
              <a:buChar char="•"/>
            </a:pPr>
            <a:r>
              <a:rPr lang="en-US" dirty="0"/>
              <a:t>In 2008, the ADA was further strengthened with the passage of ADA Amendments Act in response to several Supreme Court decisions that weakened the law by placing narrow restrictions on who could be given the protections of the law. When Congress passed the ADA Amendments Act, they made it clear that the original intent of the ADA was to provide broad coverage, that determining if a person has a disability as defined by the ADA should be straightforward forward, and that covered entities are to spend more time focusing on the removal of disability-related barriers.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t>CLICK</a:t>
            </a:r>
            <a:endParaRPr lang="en-US" dirty="0"/>
          </a:p>
          <a:p>
            <a:pPr marL="171450" indent="-171450">
              <a:buFont typeface="Arial" panose="020B0604020202020204" pitchFamily="34" charset="0"/>
              <a:buChar char="•"/>
            </a:pPr>
            <a:r>
              <a:rPr lang="en-US" dirty="0"/>
              <a:t>Additionally, it is important to note that the 21st Century Communications and Video Accessibility Act Of 2010 updates federal communications law to increase the access of persons with disabilities to modern communications. This Act makes sure that accessibility laws enacted in the 1980s and 1990s are brought up to date with 21st-century technologies, including new digital, broadband, and mobile innovations.</a:t>
            </a:r>
          </a:p>
          <a:p>
            <a:pPr marL="0" indent="0">
              <a:buFont typeface="Arial" panose="020B0604020202020204" pitchFamily="34" charset="0"/>
              <a:buNone/>
            </a:pPr>
            <a:r>
              <a:rPr lang="en-US" dirty="0"/>
              <a:t>Moving onto our final slide, slide 6</a:t>
            </a:r>
          </a:p>
          <a:p>
            <a:pPr marL="139700" lvl="0" indent="0" algn="l" rtl="0">
              <a:spcBef>
                <a:spcPts val="0"/>
              </a:spcBef>
              <a:spcAft>
                <a:spcPts val="0"/>
              </a:spcAft>
              <a:buSzPts val="1400"/>
              <a:buNone/>
            </a:pPr>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5</a:t>
            </a:fld>
            <a:endParaRPr lang="en-US"/>
          </a:p>
        </p:txBody>
      </p:sp>
    </p:spTree>
    <p:extLst>
      <p:ext uri="{BB962C8B-B14F-4D97-AF65-F5344CB8AC3E}">
        <p14:creationId xmlns:p14="http://schemas.microsoft.com/office/powerpoint/2010/main" val="1271025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To learn more about the concepts reviewed during this training, check out the ADA resources provided in this unit within Brightspace.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200" b="1" dirty="0">
                <a:solidFill>
                  <a:schemeClr val="tx1"/>
                </a:solidFill>
              </a:rPr>
              <a:t>CLICK</a:t>
            </a:r>
            <a:endParaRPr lang="en-US"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If you have questions about the ADA, call your regional ADA Center at 800-949-4232</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200" b="1" dirty="0">
                <a:solidFill>
                  <a:schemeClr val="tx1"/>
                </a:solidFill>
              </a:rPr>
              <a:t>CLICK</a:t>
            </a:r>
            <a:endParaRPr lang="en-US" altLang="en-US" sz="1200" b="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concludes the </a:t>
            </a:r>
            <a:r>
              <a:rPr lang="en-US" i="1" dirty="0">
                <a:solidFill>
                  <a:srgbClr val="1A2026"/>
                </a:solidFill>
              </a:rPr>
              <a:t>Americans with Disabilities Act</a:t>
            </a:r>
            <a:r>
              <a:rPr lang="en-US" dirty="0"/>
              <a:t>- </a:t>
            </a:r>
            <a:r>
              <a:rPr lang="en-US" sz="1200" b="0" dirty="0">
                <a:solidFill>
                  <a:srgbClr val="1A2026"/>
                </a:solidFill>
              </a:rPr>
              <a:t>History of Disability Rights and Legislation</a:t>
            </a:r>
            <a:r>
              <a:rPr lang="en-US" dirty="0"/>
              <a:t> presentation.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next step is to view the </a:t>
            </a:r>
            <a:r>
              <a:rPr lang="en-US" i="1" dirty="0">
                <a:solidFill>
                  <a:srgbClr val="1A2026"/>
                </a:solidFill>
              </a:rPr>
              <a:t>Americans with Disabilities Act–Overview of the ADA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i="1" dirty="0">
                <a:solidFill>
                  <a:srgbClr val="1A2026"/>
                </a:solidFill>
              </a:rPr>
              <a:t>Thank you</a:t>
            </a:r>
            <a:endParaRPr lang="en-US" i="1" dirty="0"/>
          </a:p>
        </p:txBody>
      </p:sp>
      <p:sp>
        <p:nvSpPr>
          <p:cNvPr id="4" name="Slide Number Placeholder 3"/>
          <p:cNvSpPr>
            <a:spLocks noGrp="1"/>
          </p:cNvSpPr>
          <p:nvPr>
            <p:ph type="sldNum" sz="quarter" idx="5"/>
          </p:nvPr>
        </p:nvSpPr>
        <p:spPr/>
        <p:txBody>
          <a:bodyPr/>
          <a:lstStyle/>
          <a:p>
            <a:fld id="{40E60467-868E-4120-BCCD-97469C488C52}" type="slidenum">
              <a:rPr lang="en-US" smtClean="0"/>
              <a:t>6</a:t>
            </a:fld>
            <a:endParaRPr lang="en-US"/>
          </a:p>
        </p:txBody>
      </p:sp>
    </p:spTree>
    <p:extLst>
      <p:ext uri="{BB962C8B-B14F-4D97-AF65-F5344CB8AC3E}">
        <p14:creationId xmlns:p14="http://schemas.microsoft.com/office/powerpoint/2010/main" val="39576161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6B697-AADF-4B5B-BDFA-7C5EEA36DACB}"/>
              </a:ext>
            </a:extLst>
          </p:cNvPr>
          <p:cNvSpPr>
            <a:spLocks noGrp="1"/>
          </p:cNvSpPr>
          <p:nvPr>
            <p:ph type="ctrTitle"/>
          </p:nvPr>
        </p:nvSpPr>
        <p:spPr>
          <a:xfrm>
            <a:off x="0" y="2503487"/>
            <a:ext cx="12192000" cy="1006475"/>
          </a:xfrm>
          <a:prstGeom prst="rect">
            <a:avLst/>
          </a:prstGeom>
        </p:spPr>
        <p:txBody>
          <a:bodyPr anchor="b">
            <a:normAutofit/>
          </a:bodyPr>
          <a:lstStyle>
            <a:lvl1pPr algn="ctr">
              <a:defRPr sz="5000" b="1">
                <a:solidFill>
                  <a:srgbClr val="005580"/>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DF369B17-3B56-4E4B-8C66-CB4E097840CA}"/>
              </a:ext>
            </a:extLst>
          </p:cNvPr>
          <p:cNvSpPr>
            <a:spLocks noGrp="1"/>
          </p:cNvSpPr>
          <p:nvPr>
            <p:ph type="subTitle" idx="1"/>
          </p:nvPr>
        </p:nvSpPr>
        <p:spPr>
          <a:xfrm>
            <a:off x="1524000" y="3686012"/>
            <a:ext cx="9144000" cy="445987"/>
          </a:xfrm>
          <a:prstGeom prst="rect">
            <a:avLst/>
          </a:prstGeom>
        </p:spPr>
        <p:txBody>
          <a:bodyPr>
            <a:noAutofit/>
          </a:bodyPr>
          <a:lstStyle>
            <a:lvl1pPr marL="0" indent="0" algn="ctr">
              <a:buNone/>
              <a:defRPr sz="26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8AE8C83D-9332-4AA3-A687-19395E8264DF}"/>
              </a:ext>
            </a:extLst>
          </p:cNvPr>
          <p:cNvSpPr>
            <a:spLocks noGrp="1"/>
          </p:cNvSpPr>
          <p:nvPr>
            <p:ph type="sldNum" sz="quarter" idx="12"/>
          </p:nvPr>
        </p:nvSpPr>
        <p:spPr>
          <a:xfrm>
            <a:off x="9199880" y="6352540"/>
            <a:ext cx="2743200" cy="365125"/>
          </a:xfrm>
          <a:prstGeom prst="rect">
            <a:avLst/>
          </a:prstGeom>
        </p:spPr>
        <p:txBody>
          <a:bodyPr/>
          <a:lstStyle>
            <a:lvl1pPr algn="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a:p>
        </p:txBody>
      </p:sp>
      <p:sp>
        <p:nvSpPr>
          <p:cNvPr id="7" name="Rectangle 6">
            <a:extLst>
              <a:ext uri="{FF2B5EF4-FFF2-40B4-BE49-F238E27FC236}">
                <a16:creationId xmlns:a16="http://schemas.microsoft.com/office/drawing/2014/main" id="{9E3E90D3-3A88-4C42-9FC7-3F8911146C6E}"/>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a:solidFill>
                <a:prstClr val="white"/>
              </a:solidFill>
            </a:endParaRPr>
          </a:p>
        </p:txBody>
      </p:sp>
      <p:pic>
        <p:nvPicPr>
          <p:cNvPr id="10" name="Picture 9" descr="Great Lakes ADA Center Logo">
            <a:extLst>
              <a:ext uri="{FF2B5EF4-FFF2-40B4-BE49-F238E27FC236}">
                <a16:creationId xmlns:a16="http://schemas.microsoft.com/office/drawing/2014/main" id="{063C4914-6CDC-4E2A-8601-8D963CA7C5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1" name="TextBox 10">
            <a:extLst>
              <a:ext uri="{FF2B5EF4-FFF2-40B4-BE49-F238E27FC236}">
                <a16:creationId xmlns:a16="http://schemas.microsoft.com/office/drawing/2014/main" id="{7A4361BA-743B-4239-B1F2-F6EBEDCC2EC1}"/>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a:solidFill>
                  <a:schemeClr val="bg1"/>
                </a:solidFill>
                <a:latin typeface="Arial" panose="020B0604020202020204" pitchFamily="34" charset="0"/>
                <a:cs typeface="Arial" panose="020B0604020202020204" pitchFamily="34" charset="0"/>
              </a:rPr>
              <a:t>www.adagreatlakes.org</a:t>
            </a:r>
          </a:p>
        </p:txBody>
      </p:sp>
    </p:spTree>
    <p:extLst>
      <p:ext uri="{BB962C8B-B14F-4D97-AF65-F5344CB8AC3E}">
        <p14:creationId xmlns:p14="http://schemas.microsoft.com/office/powerpoint/2010/main" val="4192679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A45C6-2D39-4CAA-AAB8-1B99E4A13C91}"/>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438BC5F2-7BED-4188-839B-AB7B42659ED6}"/>
              </a:ext>
            </a:extLst>
          </p:cNvPr>
          <p:cNvSpPr>
            <a:spLocks noGrp="1"/>
          </p:cNvSpPr>
          <p:nvPr>
            <p:ph idx="1"/>
          </p:nvPr>
        </p:nvSpPr>
        <p:spPr>
          <a:xfrm>
            <a:off x="838200" y="1823283"/>
            <a:ext cx="10515600" cy="435368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nSpc>
                <a:spcPct val="100000"/>
              </a:lnSpc>
              <a:spcBef>
                <a:spcPts val="600"/>
              </a:spcBef>
              <a:defRPr sz="2600" baseline="0">
                <a:latin typeface="Arial" panose="020B0604020202020204" pitchFamily="34" charset="0"/>
                <a:cs typeface="Arial" panose="020B0604020202020204" pitchFamily="34" charset="0"/>
              </a:defRPr>
            </a:lvl2pPr>
            <a:lvl3pPr marL="1143000" indent="-182880">
              <a:lnSpc>
                <a:spcPct val="100000"/>
              </a:lnSpc>
              <a:spcBef>
                <a:spcPts val="600"/>
              </a:spcBef>
              <a:buSzPct val="90000"/>
              <a:buFont typeface="Wingdings" panose="05000000000000000000" pitchFamily="2" charset="2"/>
              <a:buChar char="§"/>
              <a:defRPr sz="2400">
                <a:latin typeface="Arial" panose="020B0604020202020204" pitchFamily="34" charset="0"/>
                <a:cs typeface="Arial" panose="020B0604020202020204" pitchFamily="34" charset="0"/>
              </a:defRPr>
            </a:lvl3pPr>
            <a:lvl4pPr marL="16002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4pPr>
            <a:lvl5pPr marL="20574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C30E95-B5EC-4389-84F8-9D8ACD4E178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17380DD-8276-4811-83A9-3D963CE4FD7A}"/>
              </a:ext>
            </a:extLst>
          </p:cNvPr>
          <p:cNvSpPr>
            <a:spLocks noGrp="1"/>
          </p:cNvSpPr>
          <p:nvPr>
            <p:ph type="ftr" sz="quarter" idx="11"/>
          </p:nvPr>
        </p:nvSpPr>
        <p:spPr/>
        <p:txBody>
          <a:bodyPr/>
          <a:lstStyle/>
          <a:p>
            <a:endParaRPr lang="en-US"/>
          </a:p>
        </p:txBody>
      </p:sp>
      <p:sp>
        <p:nvSpPr>
          <p:cNvPr id="7" name="Rectangle 6">
            <a:extLst>
              <a:ext uri="{FF2B5EF4-FFF2-40B4-BE49-F238E27FC236}">
                <a16:creationId xmlns:a16="http://schemas.microsoft.com/office/drawing/2014/main" id="{3805A767-A071-4356-B862-8141438BE659}"/>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a:solidFill>
                <a:prstClr val="white"/>
              </a:solidFill>
            </a:endParaRPr>
          </a:p>
        </p:txBody>
      </p:sp>
      <p:pic>
        <p:nvPicPr>
          <p:cNvPr id="8" name="Picture 7" descr="Great Lakes ADA Center Logo">
            <a:extLst>
              <a:ext uri="{FF2B5EF4-FFF2-40B4-BE49-F238E27FC236}">
                <a16:creationId xmlns:a16="http://schemas.microsoft.com/office/drawing/2014/main" id="{F7512FE2-31F3-45F6-AB6E-262603B756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9" name="TextBox 8">
            <a:extLst>
              <a:ext uri="{FF2B5EF4-FFF2-40B4-BE49-F238E27FC236}">
                <a16:creationId xmlns:a16="http://schemas.microsoft.com/office/drawing/2014/main" id="{A10A531D-88C5-4E50-B1B1-77921D291A6D}"/>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a:solidFill>
                  <a:schemeClr val="bg1"/>
                </a:solidFill>
                <a:latin typeface="Arial" panose="020B0604020202020204" pitchFamily="34" charset="0"/>
                <a:cs typeface="Arial" panose="020B0604020202020204" pitchFamily="34" charset="0"/>
              </a:rPr>
              <a:t>www.adagreatlakes.org</a:t>
            </a:r>
          </a:p>
        </p:txBody>
      </p:sp>
      <p:sp>
        <p:nvSpPr>
          <p:cNvPr id="10" name="Slide Number Placeholder 5">
            <a:extLst>
              <a:ext uri="{FF2B5EF4-FFF2-40B4-BE49-F238E27FC236}">
                <a16:creationId xmlns:a16="http://schemas.microsoft.com/office/drawing/2014/main" id="{5E718D1A-8C96-4B6D-AE6F-5F520AEB52BD}"/>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a:p>
        </p:txBody>
      </p:sp>
      <p:pic>
        <p:nvPicPr>
          <p:cNvPr id="12" name="Picture 11" descr="A blue and black logo&#10;&#10;Description automatically generated with medium confidence">
            <a:extLst>
              <a:ext uri="{FF2B5EF4-FFF2-40B4-BE49-F238E27FC236}">
                <a16:creationId xmlns:a16="http://schemas.microsoft.com/office/drawing/2014/main" id="{9316E9A4-964C-46CE-873A-2C0820133B5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Tree>
    <p:extLst>
      <p:ext uri="{BB962C8B-B14F-4D97-AF65-F5344CB8AC3E}">
        <p14:creationId xmlns:p14="http://schemas.microsoft.com/office/powerpoint/2010/main" val="1726645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1C3E6-4F14-4493-A95F-5AE51C3867FA}"/>
              </a:ext>
            </a:extLst>
          </p:cNvPr>
          <p:cNvSpPr>
            <a:spLocks noGrp="1"/>
          </p:cNvSpPr>
          <p:nvPr>
            <p:ph type="title"/>
          </p:nvPr>
        </p:nvSpPr>
        <p:spPr>
          <a:xfrm>
            <a:off x="831850" y="1709738"/>
            <a:ext cx="10515600" cy="2852737"/>
          </a:xfrm>
          <a:prstGeom prst="rect">
            <a:avLst/>
          </a:prstGeom>
        </p:spPr>
        <p:txBody>
          <a:bodyPr anchor="b">
            <a:normAutofit/>
          </a:bodyPr>
          <a:lstStyle>
            <a:lvl1pPr>
              <a:defRPr sz="5000" b="1">
                <a:solidFill>
                  <a:srgbClr val="005580"/>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B30AC31A-C92F-4518-ABEE-8CD6CA202F4A}"/>
              </a:ext>
            </a:extLst>
          </p:cNvPr>
          <p:cNvSpPr>
            <a:spLocks noGrp="1"/>
          </p:cNvSpPr>
          <p:nvPr>
            <p:ph type="body" idx="1"/>
          </p:nvPr>
        </p:nvSpPr>
        <p:spPr>
          <a:xfrm>
            <a:off x="831850" y="4589463"/>
            <a:ext cx="10515600" cy="1500187"/>
          </a:xfrm>
          <a:prstGeom prst="rect">
            <a:avLst/>
          </a:prstGeom>
        </p:spPr>
        <p:txBody>
          <a:bodyPr/>
          <a:lstStyle>
            <a:lvl1pPr marL="0" indent="0">
              <a:buNone/>
              <a:defRPr sz="2400" b="0">
                <a:solidFill>
                  <a:schemeClr val="tx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5140FE-8272-4BBE-AC7A-76C6704F22F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8BE251F-0289-47CA-A1F7-AA5CE80E9FAF}"/>
              </a:ext>
            </a:extLst>
          </p:cNvPr>
          <p:cNvSpPr>
            <a:spLocks noGrp="1"/>
          </p:cNvSpPr>
          <p:nvPr>
            <p:ph type="ftr" sz="quarter" idx="11"/>
          </p:nvPr>
        </p:nvSpPr>
        <p:spPr/>
        <p:txBody>
          <a:bodyPr/>
          <a:lstStyle/>
          <a:p>
            <a:endParaRPr lang="en-US"/>
          </a:p>
        </p:txBody>
      </p:sp>
      <p:sp>
        <p:nvSpPr>
          <p:cNvPr id="7" name="Rectangle 6">
            <a:extLst>
              <a:ext uri="{FF2B5EF4-FFF2-40B4-BE49-F238E27FC236}">
                <a16:creationId xmlns:a16="http://schemas.microsoft.com/office/drawing/2014/main" id="{B4AF4C47-64C5-420C-A05B-CC30B5FCE271}"/>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a:solidFill>
                <a:prstClr val="white"/>
              </a:solidFill>
            </a:endParaRPr>
          </a:p>
        </p:txBody>
      </p:sp>
      <p:pic>
        <p:nvPicPr>
          <p:cNvPr id="8" name="Picture 7" descr="Great Lakes ADA Center Logo">
            <a:extLst>
              <a:ext uri="{FF2B5EF4-FFF2-40B4-BE49-F238E27FC236}">
                <a16:creationId xmlns:a16="http://schemas.microsoft.com/office/drawing/2014/main" id="{61A85098-592F-4DC9-8019-4353E5F509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9" name="TextBox 8">
            <a:extLst>
              <a:ext uri="{FF2B5EF4-FFF2-40B4-BE49-F238E27FC236}">
                <a16:creationId xmlns:a16="http://schemas.microsoft.com/office/drawing/2014/main" id="{AD9BE9B6-9CD1-4605-AE7B-F009A0F30DB1}"/>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a:solidFill>
                  <a:schemeClr val="bg1"/>
                </a:solidFill>
                <a:latin typeface="Arial" panose="020B0604020202020204" pitchFamily="34" charset="0"/>
                <a:cs typeface="Arial" panose="020B0604020202020204" pitchFamily="34" charset="0"/>
              </a:rPr>
              <a:t>www.adagreatlakes.org</a:t>
            </a:r>
          </a:p>
        </p:txBody>
      </p:sp>
      <p:sp>
        <p:nvSpPr>
          <p:cNvPr id="10" name="Slide Number Placeholder 5">
            <a:extLst>
              <a:ext uri="{FF2B5EF4-FFF2-40B4-BE49-F238E27FC236}">
                <a16:creationId xmlns:a16="http://schemas.microsoft.com/office/drawing/2014/main" id="{CA5FB1DC-BCDB-4814-B3F4-C086DC3D0551}"/>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a:p>
        </p:txBody>
      </p:sp>
    </p:spTree>
    <p:extLst>
      <p:ext uri="{BB962C8B-B14F-4D97-AF65-F5344CB8AC3E}">
        <p14:creationId xmlns:p14="http://schemas.microsoft.com/office/powerpoint/2010/main" val="835784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1E0C3B-3AD2-40B9-B584-A8CB95D95665}"/>
              </a:ext>
            </a:extLst>
          </p:cNvPr>
          <p:cNvSpPr>
            <a:spLocks noGrp="1"/>
          </p:cNvSpPr>
          <p:nvPr>
            <p:ph sz="half" idx="1"/>
          </p:nvPr>
        </p:nvSpPr>
        <p:spPr>
          <a:xfrm>
            <a:off x="838200" y="1823283"/>
            <a:ext cx="5334000" cy="422304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446652-59E9-447E-8DE5-DDC23C203AD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7186E85-3B71-426E-970C-250A0BF767DC}"/>
              </a:ext>
            </a:extLst>
          </p:cNvPr>
          <p:cNvSpPr>
            <a:spLocks noGrp="1"/>
          </p:cNvSpPr>
          <p:nvPr>
            <p:ph type="ftr" sz="quarter" idx="11"/>
          </p:nvPr>
        </p:nvSpPr>
        <p:spPr/>
        <p:txBody>
          <a:bodyPr/>
          <a:lstStyle/>
          <a:p>
            <a:endParaRPr lang="en-US"/>
          </a:p>
        </p:txBody>
      </p:sp>
      <p:sp>
        <p:nvSpPr>
          <p:cNvPr id="8" name="Rectangle 7">
            <a:extLst>
              <a:ext uri="{FF2B5EF4-FFF2-40B4-BE49-F238E27FC236}">
                <a16:creationId xmlns:a16="http://schemas.microsoft.com/office/drawing/2014/main" id="{06D4CC1D-9749-47F2-9F1C-4395A5EB78DC}"/>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a:solidFill>
                <a:prstClr val="white"/>
              </a:solidFill>
            </a:endParaRPr>
          </a:p>
        </p:txBody>
      </p:sp>
      <p:pic>
        <p:nvPicPr>
          <p:cNvPr id="9" name="Picture 8" descr="Great Lakes ADA Center Logo">
            <a:extLst>
              <a:ext uri="{FF2B5EF4-FFF2-40B4-BE49-F238E27FC236}">
                <a16:creationId xmlns:a16="http://schemas.microsoft.com/office/drawing/2014/main" id="{9B4D940D-154E-4428-8CD8-15247DAD60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0" name="TextBox 9">
            <a:extLst>
              <a:ext uri="{FF2B5EF4-FFF2-40B4-BE49-F238E27FC236}">
                <a16:creationId xmlns:a16="http://schemas.microsoft.com/office/drawing/2014/main" id="{CED8A158-8BB6-417C-B6BF-41D3646CAEFE}"/>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a:solidFill>
                  <a:schemeClr val="bg1"/>
                </a:solidFill>
                <a:latin typeface="Arial" panose="020B0604020202020204" pitchFamily="34" charset="0"/>
                <a:cs typeface="Arial" panose="020B0604020202020204" pitchFamily="34" charset="0"/>
              </a:rPr>
              <a:t>www.adagreatlakes.org</a:t>
            </a:r>
          </a:p>
        </p:txBody>
      </p:sp>
      <p:sp>
        <p:nvSpPr>
          <p:cNvPr id="12" name="Slide Number Placeholder 5">
            <a:extLst>
              <a:ext uri="{FF2B5EF4-FFF2-40B4-BE49-F238E27FC236}">
                <a16:creationId xmlns:a16="http://schemas.microsoft.com/office/drawing/2014/main" id="{75BFECCB-0466-4C1B-B5D4-ED9D5EFED82E}"/>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a:p>
        </p:txBody>
      </p:sp>
      <p:pic>
        <p:nvPicPr>
          <p:cNvPr id="13" name="Picture 12" descr="A blue and black logo&#10;&#10;Description automatically generated with medium confidence">
            <a:extLst>
              <a:ext uri="{FF2B5EF4-FFF2-40B4-BE49-F238E27FC236}">
                <a16:creationId xmlns:a16="http://schemas.microsoft.com/office/drawing/2014/main" id="{F3681B53-9206-4AC5-96C2-FE910C0A122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4" name="Content Placeholder 2">
            <a:extLst>
              <a:ext uri="{FF2B5EF4-FFF2-40B4-BE49-F238E27FC236}">
                <a16:creationId xmlns:a16="http://schemas.microsoft.com/office/drawing/2014/main" id="{1A1D122C-5EA1-4887-BE48-3D0CC2063A5B}"/>
              </a:ext>
            </a:extLst>
          </p:cNvPr>
          <p:cNvSpPr>
            <a:spLocks noGrp="1"/>
          </p:cNvSpPr>
          <p:nvPr>
            <p:ph sz="half" idx="13"/>
          </p:nvPr>
        </p:nvSpPr>
        <p:spPr>
          <a:xfrm>
            <a:off x="6183560" y="1823282"/>
            <a:ext cx="5334000" cy="422304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
            <a:extLst>
              <a:ext uri="{FF2B5EF4-FFF2-40B4-BE49-F238E27FC236}">
                <a16:creationId xmlns:a16="http://schemas.microsoft.com/office/drawing/2014/main" id="{1869BF63-28BC-4E67-80CA-4A26E9AE9EDE}"/>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601110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B89D18-FEBB-4366-AAF1-9E031C54EE16}"/>
              </a:ext>
            </a:extLst>
          </p:cNvPr>
          <p:cNvSpPr>
            <a:spLocks noGrp="1"/>
          </p:cNvSpPr>
          <p:nvPr>
            <p:ph type="body" idx="1"/>
          </p:nvPr>
        </p:nvSpPr>
        <p:spPr>
          <a:xfrm>
            <a:off x="839787" y="1823283"/>
            <a:ext cx="5311755" cy="681792"/>
          </a:xfrm>
          <a:prstGeom prst="rect">
            <a:avLst/>
          </a:prstGeom>
        </p:spPr>
        <p:txBody>
          <a:bodyPr anchor="b">
            <a:noAutofit/>
          </a:bodyPr>
          <a:lstStyle>
            <a:lvl1pPr marL="0" indent="0">
              <a:buNone/>
              <a:defRPr sz="28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A0C0206A-6894-4182-86E8-7AD013C4B233}"/>
              </a:ext>
            </a:extLst>
          </p:cNvPr>
          <p:cNvSpPr>
            <a:spLocks noGrp="1"/>
          </p:cNvSpPr>
          <p:nvPr>
            <p:ph type="body" sz="quarter" idx="3"/>
          </p:nvPr>
        </p:nvSpPr>
        <p:spPr>
          <a:xfrm>
            <a:off x="6415503" y="1821446"/>
            <a:ext cx="5311755" cy="681793"/>
          </a:xfrm>
          <a:prstGeom prst="rect">
            <a:avLst/>
          </a:prstGeom>
        </p:spPr>
        <p:txBody>
          <a:bodyPr anchor="b">
            <a:noAutofit/>
          </a:bodyPr>
          <a:lstStyle>
            <a:lvl1pPr marL="0" indent="0">
              <a:buNone/>
              <a:defRPr sz="28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a:extLst>
              <a:ext uri="{FF2B5EF4-FFF2-40B4-BE49-F238E27FC236}">
                <a16:creationId xmlns:a16="http://schemas.microsoft.com/office/drawing/2014/main" id="{98CD63A9-E7CA-49AC-ACBE-FA8D1F9AA59E}"/>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6F221F0F-BE4E-4A93-B2EB-02933E330628}"/>
              </a:ext>
            </a:extLst>
          </p:cNvPr>
          <p:cNvSpPr>
            <a:spLocks noGrp="1"/>
          </p:cNvSpPr>
          <p:nvPr>
            <p:ph type="ftr" sz="quarter" idx="11"/>
          </p:nvPr>
        </p:nvSpPr>
        <p:spPr/>
        <p:txBody>
          <a:bodyPr/>
          <a:lstStyle/>
          <a:p>
            <a:endParaRPr lang="en-US"/>
          </a:p>
        </p:txBody>
      </p:sp>
      <p:sp>
        <p:nvSpPr>
          <p:cNvPr id="10" name="Rectangle 9">
            <a:extLst>
              <a:ext uri="{FF2B5EF4-FFF2-40B4-BE49-F238E27FC236}">
                <a16:creationId xmlns:a16="http://schemas.microsoft.com/office/drawing/2014/main" id="{1F777C50-0445-4424-9486-6AE6027BD038}"/>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a:solidFill>
                <a:prstClr val="white"/>
              </a:solidFill>
            </a:endParaRPr>
          </a:p>
        </p:txBody>
      </p:sp>
      <p:pic>
        <p:nvPicPr>
          <p:cNvPr id="11" name="Picture 10" descr="Great Lakes ADA Center Logo">
            <a:extLst>
              <a:ext uri="{FF2B5EF4-FFF2-40B4-BE49-F238E27FC236}">
                <a16:creationId xmlns:a16="http://schemas.microsoft.com/office/drawing/2014/main" id="{FBFBEB4D-1F79-48A5-83E1-5B296A7352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2" name="TextBox 11">
            <a:extLst>
              <a:ext uri="{FF2B5EF4-FFF2-40B4-BE49-F238E27FC236}">
                <a16:creationId xmlns:a16="http://schemas.microsoft.com/office/drawing/2014/main" id="{888978D7-9BD4-45C1-B334-30DF7DEC778C}"/>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a:solidFill>
                  <a:schemeClr val="bg1"/>
                </a:solidFill>
                <a:latin typeface="Arial" panose="020B0604020202020204" pitchFamily="34" charset="0"/>
                <a:cs typeface="Arial" panose="020B0604020202020204" pitchFamily="34" charset="0"/>
              </a:rPr>
              <a:t>www.adagreatlakes.org</a:t>
            </a:r>
          </a:p>
        </p:txBody>
      </p:sp>
      <p:sp>
        <p:nvSpPr>
          <p:cNvPr id="14" name="Slide Number Placeholder 5">
            <a:extLst>
              <a:ext uri="{FF2B5EF4-FFF2-40B4-BE49-F238E27FC236}">
                <a16:creationId xmlns:a16="http://schemas.microsoft.com/office/drawing/2014/main" id="{D54A9D79-D4FF-46CC-85A3-841236EF8DCF}"/>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a:p>
        </p:txBody>
      </p:sp>
      <p:sp>
        <p:nvSpPr>
          <p:cNvPr id="17" name="Content Placeholder 2">
            <a:extLst>
              <a:ext uri="{FF2B5EF4-FFF2-40B4-BE49-F238E27FC236}">
                <a16:creationId xmlns:a16="http://schemas.microsoft.com/office/drawing/2014/main" id="{144E307B-A373-41F5-A858-679BB34EDFAC}"/>
              </a:ext>
            </a:extLst>
          </p:cNvPr>
          <p:cNvSpPr>
            <a:spLocks noGrp="1"/>
          </p:cNvSpPr>
          <p:nvPr>
            <p:ph sz="half" idx="13"/>
          </p:nvPr>
        </p:nvSpPr>
        <p:spPr>
          <a:xfrm>
            <a:off x="838200" y="2573595"/>
            <a:ext cx="5334000" cy="3472727"/>
          </a:xfrm>
          <a:prstGeom prst="rect">
            <a:avLst/>
          </a:prstGeom>
        </p:spPr>
        <p:txBody>
          <a:bodyPr/>
          <a:lstStyle>
            <a:lvl1pPr marL="0" indent="0">
              <a:buNone/>
              <a:defRPr b="0">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a:extLst>
              <a:ext uri="{FF2B5EF4-FFF2-40B4-BE49-F238E27FC236}">
                <a16:creationId xmlns:a16="http://schemas.microsoft.com/office/drawing/2014/main" id="{3A6B19AB-6343-4688-8712-9DB1D0FEB8C2}"/>
              </a:ext>
            </a:extLst>
          </p:cNvPr>
          <p:cNvSpPr>
            <a:spLocks noGrp="1"/>
          </p:cNvSpPr>
          <p:nvPr>
            <p:ph sz="half" idx="14"/>
          </p:nvPr>
        </p:nvSpPr>
        <p:spPr>
          <a:xfrm>
            <a:off x="6404380" y="2569922"/>
            <a:ext cx="5334000" cy="3476400"/>
          </a:xfrm>
          <a:prstGeom prst="rect">
            <a:avLst/>
          </a:prstGeom>
        </p:spPr>
        <p:txBody>
          <a:bodyPr/>
          <a:lstStyle>
            <a:lvl1pPr marL="0" indent="0">
              <a:buNone/>
              <a:defRPr b="0">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9" name="Picture 18" descr="A blue and black logo&#10;&#10;Description automatically generated with medium confidence">
            <a:extLst>
              <a:ext uri="{FF2B5EF4-FFF2-40B4-BE49-F238E27FC236}">
                <a16:creationId xmlns:a16="http://schemas.microsoft.com/office/drawing/2014/main" id="{4E81C796-9A75-4B52-9431-4799EB1F40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20" name="Title 1">
            <a:extLst>
              <a:ext uri="{FF2B5EF4-FFF2-40B4-BE49-F238E27FC236}">
                <a16:creationId xmlns:a16="http://schemas.microsoft.com/office/drawing/2014/main" id="{6B6993ED-B142-4D9C-B3D8-D9AC6A174CF1}"/>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269661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102C23-2683-4B4B-AA23-37E6B1F8AB67}"/>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E9F4F8C-3111-44C7-8636-B529776FF520}"/>
              </a:ext>
            </a:extLst>
          </p:cNvPr>
          <p:cNvSpPr>
            <a:spLocks noGrp="1"/>
          </p:cNvSpPr>
          <p:nvPr>
            <p:ph type="ftr" sz="quarter" idx="11"/>
          </p:nvPr>
        </p:nvSpPr>
        <p:spPr/>
        <p:txBody>
          <a:bodyPr/>
          <a:lstStyle/>
          <a:p>
            <a:endParaRPr lang="en-US"/>
          </a:p>
        </p:txBody>
      </p:sp>
      <p:sp>
        <p:nvSpPr>
          <p:cNvPr id="6" name="Rectangle 5">
            <a:extLst>
              <a:ext uri="{FF2B5EF4-FFF2-40B4-BE49-F238E27FC236}">
                <a16:creationId xmlns:a16="http://schemas.microsoft.com/office/drawing/2014/main" id="{8D7CB051-7C34-43BC-B62E-A2AC7EA49B45}"/>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a:solidFill>
                <a:prstClr val="white"/>
              </a:solidFill>
            </a:endParaRPr>
          </a:p>
        </p:txBody>
      </p:sp>
      <p:pic>
        <p:nvPicPr>
          <p:cNvPr id="7" name="Picture 6" descr="Great Lakes ADA Center Logo">
            <a:extLst>
              <a:ext uri="{FF2B5EF4-FFF2-40B4-BE49-F238E27FC236}">
                <a16:creationId xmlns:a16="http://schemas.microsoft.com/office/drawing/2014/main" id="{CB9B59AE-C96C-4C0B-A851-FBFC90FAED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8" name="TextBox 7">
            <a:extLst>
              <a:ext uri="{FF2B5EF4-FFF2-40B4-BE49-F238E27FC236}">
                <a16:creationId xmlns:a16="http://schemas.microsoft.com/office/drawing/2014/main" id="{1F1CD3B2-8302-42DA-B1F4-99AA733CF3D4}"/>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a:solidFill>
                  <a:schemeClr val="bg1"/>
                </a:solidFill>
                <a:latin typeface="Arial" panose="020B0604020202020204" pitchFamily="34" charset="0"/>
                <a:cs typeface="Arial" panose="020B0604020202020204" pitchFamily="34" charset="0"/>
              </a:rPr>
              <a:t>www.adagreatlakes.org</a:t>
            </a:r>
          </a:p>
        </p:txBody>
      </p:sp>
      <p:sp>
        <p:nvSpPr>
          <p:cNvPr id="9" name="Slide Number Placeholder 5">
            <a:extLst>
              <a:ext uri="{FF2B5EF4-FFF2-40B4-BE49-F238E27FC236}">
                <a16:creationId xmlns:a16="http://schemas.microsoft.com/office/drawing/2014/main" id="{5DCCD664-C7F3-466C-9D7C-35A5A085B877}"/>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a:p>
        </p:txBody>
      </p:sp>
      <p:pic>
        <p:nvPicPr>
          <p:cNvPr id="10" name="Picture 9" descr="A blue and black logo&#10;&#10;Description automatically generated with medium confidence">
            <a:extLst>
              <a:ext uri="{FF2B5EF4-FFF2-40B4-BE49-F238E27FC236}">
                <a16:creationId xmlns:a16="http://schemas.microsoft.com/office/drawing/2014/main" id="{1BC79AB4-4F85-4403-BE09-084B431A7C3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2" name="Title 1">
            <a:extLst>
              <a:ext uri="{FF2B5EF4-FFF2-40B4-BE49-F238E27FC236}">
                <a16:creationId xmlns:a16="http://schemas.microsoft.com/office/drawing/2014/main" id="{C050C4CD-01E7-48D5-8ECC-647274FC5CA6}"/>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88909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33D2-6A5C-48E9-A65B-5BEA71498A52}"/>
              </a:ext>
            </a:extLst>
          </p:cNvPr>
          <p:cNvSpPr>
            <a:spLocks noGrp="1"/>
          </p:cNvSpPr>
          <p:nvPr>
            <p:ph type="title"/>
          </p:nvPr>
        </p:nvSpPr>
        <p:spPr>
          <a:xfrm>
            <a:off x="839788" y="987425"/>
            <a:ext cx="3932237" cy="1069974"/>
          </a:xfrm>
          <a:prstGeom prst="rect">
            <a:avLst/>
          </a:prstGeom>
        </p:spPr>
        <p:txBody>
          <a:bodyPr anchor="b">
            <a:noAutofit/>
          </a:bodyPr>
          <a:lstStyle>
            <a:lvl1pPr>
              <a:defRPr sz="3600" b="1">
                <a:solidFill>
                  <a:srgbClr val="005580"/>
                </a:solidFill>
                <a:latin typeface="Arial" panose="020B0604020202020204" pitchFamily="34" charset="0"/>
                <a:cs typeface="Arial" panose="020B0604020202020204" pitchFamily="34" charset="0"/>
              </a:defRPr>
            </a:lvl1pPr>
          </a:lstStyle>
          <a:p>
            <a:r>
              <a:rPr lang="en-US"/>
              <a:t>Click to edit Master title style</a:t>
            </a:r>
          </a:p>
        </p:txBody>
      </p:sp>
      <p:sp>
        <p:nvSpPr>
          <p:cNvPr id="4" name="Text Placeholder 3">
            <a:extLst>
              <a:ext uri="{FF2B5EF4-FFF2-40B4-BE49-F238E27FC236}">
                <a16:creationId xmlns:a16="http://schemas.microsoft.com/office/drawing/2014/main" id="{7C5036BB-774C-4A49-A56A-24783B628134}"/>
              </a:ext>
            </a:extLst>
          </p:cNvPr>
          <p:cNvSpPr>
            <a:spLocks noGrp="1"/>
          </p:cNvSpPr>
          <p:nvPr>
            <p:ph type="body" sz="half" idx="2"/>
          </p:nvPr>
        </p:nvSpPr>
        <p:spPr>
          <a:xfrm>
            <a:off x="839788" y="2158210"/>
            <a:ext cx="3932237" cy="3710777"/>
          </a:xfrm>
          <a:prstGeom prst="rect">
            <a:avLst/>
          </a:prstGeom>
        </p:spPr>
        <p:txBody>
          <a:bodyPr>
            <a:normAutofit/>
          </a:bodyPr>
          <a:lstStyle>
            <a:lvl1pPr marL="0" indent="0">
              <a:buNone/>
              <a:defRPr sz="2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706DE4-249F-4186-B59D-508D75FF3D3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D35D79A-C33C-4C23-AA78-D88A74F47B99}"/>
              </a:ext>
            </a:extLst>
          </p:cNvPr>
          <p:cNvSpPr>
            <a:spLocks noGrp="1"/>
          </p:cNvSpPr>
          <p:nvPr>
            <p:ph type="ftr" sz="quarter" idx="11"/>
          </p:nvPr>
        </p:nvSpPr>
        <p:spPr/>
        <p:txBody>
          <a:bodyPr/>
          <a:lstStyle/>
          <a:p>
            <a:endParaRPr lang="en-US"/>
          </a:p>
        </p:txBody>
      </p:sp>
      <p:sp>
        <p:nvSpPr>
          <p:cNvPr id="8" name="Rectangle 7">
            <a:extLst>
              <a:ext uri="{FF2B5EF4-FFF2-40B4-BE49-F238E27FC236}">
                <a16:creationId xmlns:a16="http://schemas.microsoft.com/office/drawing/2014/main" id="{E3C3B159-F006-45E8-8757-6D1448F98D90}"/>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a:solidFill>
                <a:prstClr val="white"/>
              </a:solidFill>
            </a:endParaRPr>
          </a:p>
        </p:txBody>
      </p:sp>
      <p:pic>
        <p:nvPicPr>
          <p:cNvPr id="9" name="Picture 8" descr="Great Lakes ADA Center Logo">
            <a:extLst>
              <a:ext uri="{FF2B5EF4-FFF2-40B4-BE49-F238E27FC236}">
                <a16:creationId xmlns:a16="http://schemas.microsoft.com/office/drawing/2014/main" id="{AE0E6BC4-7CEC-42F2-A969-97780A91F8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0" name="TextBox 9">
            <a:extLst>
              <a:ext uri="{FF2B5EF4-FFF2-40B4-BE49-F238E27FC236}">
                <a16:creationId xmlns:a16="http://schemas.microsoft.com/office/drawing/2014/main" id="{E16CA744-EAA5-458D-93EE-F90E3D21A132}"/>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a:solidFill>
                  <a:schemeClr val="bg1"/>
                </a:solidFill>
                <a:latin typeface="Arial" panose="020B0604020202020204" pitchFamily="34" charset="0"/>
                <a:cs typeface="Arial" panose="020B0604020202020204" pitchFamily="34" charset="0"/>
              </a:rPr>
              <a:t>www.adagreatlakes.org</a:t>
            </a:r>
          </a:p>
        </p:txBody>
      </p:sp>
      <p:pic>
        <p:nvPicPr>
          <p:cNvPr id="11" name="Picture 10" descr="A blue and black logo&#10;&#10;Description automatically generated with medium confidence">
            <a:extLst>
              <a:ext uri="{FF2B5EF4-FFF2-40B4-BE49-F238E27FC236}">
                <a16:creationId xmlns:a16="http://schemas.microsoft.com/office/drawing/2014/main" id="{A0787189-DCFC-4BC5-87CE-87692C7DE4B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2" name="Slide Number Placeholder 5">
            <a:extLst>
              <a:ext uri="{FF2B5EF4-FFF2-40B4-BE49-F238E27FC236}">
                <a16:creationId xmlns:a16="http://schemas.microsoft.com/office/drawing/2014/main" id="{E7FE86DB-6C5F-43CB-B956-F77EF27C67C9}"/>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a:p>
        </p:txBody>
      </p:sp>
      <p:sp>
        <p:nvSpPr>
          <p:cNvPr id="13" name="Content Placeholder 2">
            <a:extLst>
              <a:ext uri="{FF2B5EF4-FFF2-40B4-BE49-F238E27FC236}">
                <a16:creationId xmlns:a16="http://schemas.microsoft.com/office/drawing/2014/main" id="{49A905B8-E38D-4A42-B81E-9D9A6851F187}"/>
              </a:ext>
            </a:extLst>
          </p:cNvPr>
          <p:cNvSpPr>
            <a:spLocks noGrp="1"/>
          </p:cNvSpPr>
          <p:nvPr>
            <p:ph idx="1"/>
          </p:nvPr>
        </p:nvSpPr>
        <p:spPr>
          <a:xfrm>
            <a:off x="5020682" y="987426"/>
            <a:ext cx="6922398" cy="4881562"/>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nSpc>
                <a:spcPct val="100000"/>
              </a:lnSpc>
              <a:spcBef>
                <a:spcPts val="600"/>
              </a:spcBef>
              <a:defRPr sz="2600">
                <a:latin typeface="Arial" panose="020B0604020202020204" pitchFamily="34" charset="0"/>
                <a:cs typeface="Arial" panose="020B0604020202020204" pitchFamily="34" charset="0"/>
              </a:defRPr>
            </a:lvl2pPr>
            <a:lvl3pPr marL="1143000" indent="-182880">
              <a:lnSpc>
                <a:spcPct val="100000"/>
              </a:lnSpc>
              <a:spcBef>
                <a:spcPts val="600"/>
              </a:spcBef>
              <a:buSzPct val="90000"/>
              <a:buFont typeface="Wingdings" panose="05000000000000000000" pitchFamily="2" charset="2"/>
              <a:buChar char="§"/>
              <a:defRPr sz="2400">
                <a:latin typeface="Arial" panose="020B0604020202020204" pitchFamily="34" charset="0"/>
                <a:cs typeface="Arial" panose="020B0604020202020204" pitchFamily="34" charset="0"/>
              </a:defRPr>
            </a:lvl3pPr>
            <a:lvl4pPr marL="16002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4pPr>
            <a:lvl5pPr marL="2057400" indent="-182880">
              <a:lnSpc>
                <a:spcPct val="100000"/>
              </a:lnSpc>
              <a:spcBef>
                <a:spcPts val="600"/>
              </a:spcBef>
              <a:buSzPct val="100000"/>
              <a:buFont typeface="Arial" panose="020B0604020202020204" pitchFamily="34" charset="0"/>
              <a:buChar char="•"/>
              <a:defRPr sz="20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464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A2F218-E0CC-46F0-B4DF-A1B7B469D00A}"/>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 name="Date Placeholder 4">
            <a:extLst>
              <a:ext uri="{FF2B5EF4-FFF2-40B4-BE49-F238E27FC236}">
                <a16:creationId xmlns:a16="http://schemas.microsoft.com/office/drawing/2014/main" id="{D29F0338-5875-43F6-A614-1A5E719EFCB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05C358-FDE1-46D8-AD25-6107FC3C5418}"/>
              </a:ext>
            </a:extLst>
          </p:cNvPr>
          <p:cNvSpPr>
            <a:spLocks noGrp="1"/>
          </p:cNvSpPr>
          <p:nvPr>
            <p:ph type="ftr" sz="quarter" idx="11"/>
          </p:nvPr>
        </p:nvSpPr>
        <p:spPr/>
        <p:txBody>
          <a:bodyPr/>
          <a:lstStyle/>
          <a:p>
            <a:endParaRPr lang="en-US"/>
          </a:p>
        </p:txBody>
      </p:sp>
      <p:sp>
        <p:nvSpPr>
          <p:cNvPr id="8" name="Title 1">
            <a:extLst>
              <a:ext uri="{FF2B5EF4-FFF2-40B4-BE49-F238E27FC236}">
                <a16:creationId xmlns:a16="http://schemas.microsoft.com/office/drawing/2014/main" id="{CA917260-5A80-4B47-A62F-E589239945BB}"/>
              </a:ext>
            </a:extLst>
          </p:cNvPr>
          <p:cNvSpPr>
            <a:spLocks noGrp="1"/>
          </p:cNvSpPr>
          <p:nvPr>
            <p:ph type="title"/>
          </p:nvPr>
        </p:nvSpPr>
        <p:spPr>
          <a:xfrm>
            <a:off x="839788" y="987425"/>
            <a:ext cx="3932237" cy="1069974"/>
          </a:xfrm>
          <a:prstGeom prst="rect">
            <a:avLst/>
          </a:prstGeom>
        </p:spPr>
        <p:txBody>
          <a:bodyPr anchor="b">
            <a:noAutofit/>
          </a:bodyPr>
          <a:lstStyle>
            <a:lvl1pPr>
              <a:defRPr sz="3600" b="1">
                <a:solidFill>
                  <a:srgbClr val="005580"/>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Text Placeholder 3">
            <a:extLst>
              <a:ext uri="{FF2B5EF4-FFF2-40B4-BE49-F238E27FC236}">
                <a16:creationId xmlns:a16="http://schemas.microsoft.com/office/drawing/2014/main" id="{66BD97FD-52D7-4D27-BC2D-E0503BA4E5B2}"/>
              </a:ext>
            </a:extLst>
          </p:cNvPr>
          <p:cNvSpPr>
            <a:spLocks noGrp="1"/>
          </p:cNvSpPr>
          <p:nvPr>
            <p:ph type="body" sz="half" idx="2"/>
          </p:nvPr>
        </p:nvSpPr>
        <p:spPr>
          <a:xfrm>
            <a:off x="839788" y="2158210"/>
            <a:ext cx="3932237" cy="3710777"/>
          </a:xfrm>
          <a:prstGeom prst="rect">
            <a:avLst/>
          </a:prstGeom>
        </p:spPr>
        <p:txBody>
          <a:bodyPr>
            <a:normAutofit/>
          </a:bodyPr>
          <a:lstStyle>
            <a:lvl1pPr marL="0" indent="0">
              <a:buNone/>
              <a:defRPr sz="2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Rectangle 9">
            <a:extLst>
              <a:ext uri="{FF2B5EF4-FFF2-40B4-BE49-F238E27FC236}">
                <a16:creationId xmlns:a16="http://schemas.microsoft.com/office/drawing/2014/main" id="{5EFACB75-0E86-421C-8F2B-8906B61C1F67}"/>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a:solidFill>
                <a:prstClr val="white"/>
              </a:solidFill>
            </a:endParaRPr>
          </a:p>
        </p:txBody>
      </p:sp>
      <p:pic>
        <p:nvPicPr>
          <p:cNvPr id="11" name="Picture 10" descr="Great Lakes ADA Center Logo">
            <a:extLst>
              <a:ext uri="{FF2B5EF4-FFF2-40B4-BE49-F238E27FC236}">
                <a16:creationId xmlns:a16="http://schemas.microsoft.com/office/drawing/2014/main" id="{8A64F6AE-200D-4215-85C3-5C2B397376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2" name="TextBox 11">
            <a:extLst>
              <a:ext uri="{FF2B5EF4-FFF2-40B4-BE49-F238E27FC236}">
                <a16:creationId xmlns:a16="http://schemas.microsoft.com/office/drawing/2014/main" id="{2CCC1008-3C55-4388-89C7-50AC30F7B0FE}"/>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a:solidFill>
                  <a:schemeClr val="bg1"/>
                </a:solidFill>
                <a:latin typeface="Arial" panose="020B0604020202020204" pitchFamily="34" charset="0"/>
                <a:cs typeface="Arial" panose="020B0604020202020204" pitchFamily="34" charset="0"/>
              </a:rPr>
              <a:t>www.adagreatlakes.org</a:t>
            </a:r>
          </a:p>
        </p:txBody>
      </p:sp>
      <p:pic>
        <p:nvPicPr>
          <p:cNvPr id="13" name="Picture 12" descr="A blue and black logo&#10;&#10;Description automatically generated with medium confidence">
            <a:extLst>
              <a:ext uri="{FF2B5EF4-FFF2-40B4-BE49-F238E27FC236}">
                <a16:creationId xmlns:a16="http://schemas.microsoft.com/office/drawing/2014/main" id="{96E22B44-F99A-4DC3-87BD-D3753A20D56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4" name="Slide Number Placeholder 5">
            <a:extLst>
              <a:ext uri="{FF2B5EF4-FFF2-40B4-BE49-F238E27FC236}">
                <a16:creationId xmlns:a16="http://schemas.microsoft.com/office/drawing/2014/main" id="{DA57BB0F-8EB9-47CD-A02F-5B60C3372853}"/>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a:p>
        </p:txBody>
      </p:sp>
    </p:spTree>
    <p:extLst>
      <p:ext uri="{BB962C8B-B14F-4D97-AF65-F5344CB8AC3E}">
        <p14:creationId xmlns:p14="http://schemas.microsoft.com/office/powerpoint/2010/main" val="654909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CAE80B-33E5-4BD5-B721-BAFC6CC43B66}"/>
              </a:ext>
            </a:extLst>
          </p:cNvPr>
          <p:cNvSpPr>
            <a:spLocks noGrp="1"/>
          </p:cNvSpPr>
          <p:nvPr>
            <p:ph type="title"/>
          </p:nvPr>
        </p:nvSpPr>
        <p:spPr>
          <a:xfrm>
            <a:off x="838200" y="410368"/>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754B02-1727-4D4B-87CD-9B6C5CB15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174867-AAC3-4132-A790-7D6AD7A771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272D7818-CE99-42D2-B43D-D2417FBC22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7" name="Slide Number Placeholder 5">
            <a:extLst>
              <a:ext uri="{FF2B5EF4-FFF2-40B4-BE49-F238E27FC236}">
                <a16:creationId xmlns:a16="http://schemas.microsoft.com/office/drawing/2014/main" id="{DB0EA154-45F9-4B33-A4D6-E616F925CDB5}"/>
              </a:ext>
            </a:extLst>
          </p:cNvPr>
          <p:cNvSpPr>
            <a:spLocks noGrp="1"/>
          </p:cNvSpPr>
          <p:nvPr>
            <p:ph type="sldNum" sz="quarter" idx="4"/>
          </p:nvPr>
        </p:nvSpPr>
        <p:spPr>
          <a:xfrm>
            <a:off x="9199880" y="6352540"/>
            <a:ext cx="2743200" cy="365125"/>
          </a:xfrm>
          <a:prstGeom prst="rect">
            <a:avLst/>
          </a:prstGeom>
        </p:spPr>
        <p:txBody>
          <a:bodyPr/>
          <a:lstStyle>
            <a:lvl1pPr algn="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a:p>
        </p:txBody>
      </p:sp>
    </p:spTree>
    <p:extLst>
      <p:ext uri="{BB962C8B-B14F-4D97-AF65-F5344CB8AC3E}">
        <p14:creationId xmlns:p14="http://schemas.microsoft.com/office/powerpoint/2010/main" val="72823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Lst>
  <p:hf hdr="0" ftr="0" dt="0"/>
  <p:txStyles>
    <p:titleStyle>
      <a:lvl1pPr algn="l" defTabSz="914400" rtl="0" eaLnBrk="1" latinLnBrk="0" hangingPunct="1">
        <a:lnSpc>
          <a:spcPct val="90000"/>
        </a:lnSpc>
        <a:spcBef>
          <a:spcPct val="0"/>
        </a:spcBef>
        <a:buNone/>
        <a:defRPr sz="5000" b="1" kern="1200">
          <a:solidFill>
            <a:srgbClr val="005580"/>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1pPr>
      <a:lvl2pPr marL="685800" indent="-182880" algn="l" defTabSz="914400" rtl="0" eaLnBrk="1" latinLnBrk="0" hangingPunct="1">
        <a:lnSpc>
          <a:spcPct val="100000"/>
        </a:lnSpc>
        <a:spcBef>
          <a:spcPts val="600"/>
        </a:spcBef>
        <a:buFont typeface="Arial" panose="020B0604020202020204" pitchFamily="34" charset="0"/>
        <a:buChar char="•"/>
        <a:defRPr sz="2600" kern="120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B325F-F7C4-47F9-AB0D-F4E85898A0A3}"/>
              </a:ext>
            </a:extLst>
          </p:cNvPr>
          <p:cNvSpPr>
            <a:spLocks noGrp="1"/>
          </p:cNvSpPr>
          <p:nvPr>
            <p:ph type="ctrTitle"/>
          </p:nvPr>
        </p:nvSpPr>
        <p:spPr>
          <a:xfrm>
            <a:off x="0" y="1111539"/>
            <a:ext cx="12192000" cy="2101510"/>
          </a:xfrm>
        </p:spPr>
        <p:txBody>
          <a:bodyPr>
            <a:noAutofit/>
          </a:bodyPr>
          <a:lstStyle/>
          <a:p>
            <a:pPr>
              <a:lnSpc>
                <a:spcPct val="100000"/>
              </a:lnSpc>
              <a:spcBef>
                <a:spcPts val="600"/>
              </a:spcBef>
            </a:pPr>
            <a:r>
              <a:rPr lang="en-US" sz="6000"/>
              <a:t>Americans with Disabilities Act  (ADA)</a:t>
            </a:r>
          </a:p>
        </p:txBody>
      </p:sp>
      <p:cxnSp>
        <p:nvCxnSpPr>
          <p:cNvPr id="7" name="Straight Connector 6">
            <a:extLst>
              <a:ext uri="{FF2B5EF4-FFF2-40B4-BE49-F238E27FC236}">
                <a16:creationId xmlns:a16="http://schemas.microsoft.com/office/drawing/2014/main" id="{FACD0B6F-466A-5600-572F-99890278C07C}"/>
              </a:ext>
              <a:ext uri="{C183D7F6-B498-43B3-948B-1728B52AA6E4}">
                <adec:decorative xmlns:adec="http://schemas.microsoft.com/office/drawing/2017/decorative" val="1"/>
              </a:ext>
            </a:extLst>
          </p:cNvPr>
          <p:cNvCxnSpPr>
            <a:cxnSpLocks/>
          </p:cNvCxnSpPr>
          <p:nvPr/>
        </p:nvCxnSpPr>
        <p:spPr>
          <a:xfrm>
            <a:off x="1123951" y="3393142"/>
            <a:ext cx="99441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D6DA53E-826D-4A69-82AC-DE11CE124D34}"/>
              </a:ext>
            </a:extLst>
          </p:cNvPr>
          <p:cNvSpPr>
            <a:spLocks noGrp="1"/>
          </p:cNvSpPr>
          <p:nvPr>
            <p:ph type="subTitle" idx="1"/>
          </p:nvPr>
        </p:nvSpPr>
        <p:spPr>
          <a:xfrm>
            <a:off x="776176" y="3455201"/>
            <a:ext cx="10908562" cy="1615212"/>
          </a:xfrm>
        </p:spPr>
        <p:txBody>
          <a:bodyPr/>
          <a:lstStyle/>
          <a:p>
            <a:pPr>
              <a:lnSpc>
                <a:spcPct val="100000"/>
              </a:lnSpc>
              <a:spcBef>
                <a:spcPts val="0"/>
              </a:spcBef>
              <a:spcAft>
                <a:spcPts val="1200"/>
              </a:spcAft>
            </a:pPr>
            <a:r>
              <a:rPr lang="en-US" sz="4000">
                <a:solidFill>
                  <a:srgbClr val="1A2026"/>
                </a:solidFill>
              </a:rPr>
              <a:t>History of Disability Rights &amp; Legislation</a:t>
            </a:r>
            <a:endParaRPr lang="en-US" sz="4000">
              <a:solidFill>
                <a:schemeClr val="tx1">
                  <a:lumMod val="75000"/>
                  <a:lumOff val="25000"/>
                </a:schemeClr>
              </a:solidFill>
            </a:endParaRPr>
          </a:p>
          <a:p>
            <a:pPr>
              <a:lnSpc>
                <a:spcPct val="100000"/>
              </a:lnSpc>
              <a:spcBef>
                <a:spcPts val="0"/>
              </a:spcBef>
            </a:pPr>
            <a:r>
              <a:rPr lang="en-US" sz="2800" b="0">
                <a:solidFill>
                  <a:schemeClr val="tx1">
                    <a:lumMod val="75000"/>
                    <a:lumOff val="25000"/>
                  </a:schemeClr>
                </a:solidFill>
              </a:rPr>
              <a:t>ADA Participation Action Research Consortium (PARC) </a:t>
            </a:r>
          </a:p>
          <a:p>
            <a:pPr>
              <a:lnSpc>
                <a:spcPct val="100000"/>
              </a:lnSpc>
              <a:spcBef>
                <a:spcPts val="0"/>
              </a:spcBef>
            </a:pPr>
            <a:r>
              <a:rPr lang="en-US" sz="2800" b="0">
                <a:solidFill>
                  <a:schemeClr val="tx1">
                    <a:lumMod val="75000"/>
                    <a:lumOff val="25000"/>
                  </a:schemeClr>
                </a:solidFill>
              </a:rPr>
              <a:t>Participation Equity Navigator Training</a:t>
            </a:r>
          </a:p>
        </p:txBody>
      </p:sp>
      <p:pic>
        <p:nvPicPr>
          <p:cNvPr id="5" name="Picture 4" descr="ADA National Network logo">
            <a:extLst>
              <a:ext uri="{FF2B5EF4-FFF2-40B4-BE49-F238E27FC236}">
                <a16:creationId xmlns:a16="http://schemas.microsoft.com/office/drawing/2014/main" id="{E38DE6DF-4A58-387E-B23B-6CD5C3A63E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459" y="5492660"/>
            <a:ext cx="1624410" cy="2102177"/>
          </a:xfrm>
          <a:prstGeom prst="rect">
            <a:avLst/>
          </a:prstGeom>
        </p:spPr>
      </p:pic>
      <p:pic>
        <p:nvPicPr>
          <p:cNvPr id="1026" name="Picture 5" descr="Americans with Disabilities Act Participation Action Research Consortium logo">
            <a:extLst>
              <a:ext uri="{FF2B5EF4-FFF2-40B4-BE49-F238E27FC236}">
                <a16:creationId xmlns:a16="http://schemas.microsoft.com/office/drawing/2014/main" id="{551196FB-48BD-3D49-5A86-886D55CF77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8283" y="5180162"/>
            <a:ext cx="1735433" cy="1132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lide Number Placeholder 9">
            <a:extLst>
              <a:ext uri="{FF2B5EF4-FFF2-40B4-BE49-F238E27FC236}">
                <a16:creationId xmlns:a16="http://schemas.microsoft.com/office/drawing/2014/main" id="{C76734AB-28BF-47B3-94D6-2C2884B8B53B}"/>
              </a:ext>
            </a:extLst>
          </p:cNvPr>
          <p:cNvSpPr>
            <a:spLocks noGrp="1"/>
          </p:cNvSpPr>
          <p:nvPr>
            <p:ph type="sldNum" sz="quarter" idx="12"/>
          </p:nvPr>
        </p:nvSpPr>
        <p:spPr/>
        <p:txBody>
          <a:bodyPr/>
          <a:lstStyle/>
          <a:p>
            <a:fld id="{A9D5B481-CC43-4D95-B982-500CB2D3FC20}" type="slidenum">
              <a:rPr lang="en-US" smtClean="0"/>
              <a:pPr/>
              <a:t>1</a:t>
            </a:fld>
            <a:endParaRPr lang="en-US"/>
          </a:p>
        </p:txBody>
      </p:sp>
    </p:spTree>
    <p:extLst>
      <p:ext uri="{BB962C8B-B14F-4D97-AF65-F5344CB8AC3E}">
        <p14:creationId xmlns:p14="http://schemas.microsoft.com/office/powerpoint/2010/main" val="608265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1365" y="698274"/>
            <a:ext cx="8526491" cy="1143000"/>
          </a:xfrm>
        </p:spPr>
        <p:txBody>
          <a:bodyPr>
            <a:normAutofit/>
          </a:bodyPr>
          <a:lstStyle/>
          <a:p>
            <a:r>
              <a:rPr lang="en-US" sz="4400"/>
              <a:t>Disability Rights &amp; Legislation</a:t>
            </a:r>
          </a:p>
        </p:txBody>
      </p:sp>
      <p:sp>
        <p:nvSpPr>
          <p:cNvPr id="3" name="Content Placeholder 2"/>
          <p:cNvSpPr>
            <a:spLocks noGrp="1"/>
          </p:cNvSpPr>
          <p:nvPr>
            <p:ph idx="1"/>
          </p:nvPr>
        </p:nvSpPr>
        <p:spPr>
          <a:xfrm>
            <a:off x="673390" y="1675935"/>
            <a:ext cx="8504466" cy="5041729"/>
          </a:xfrm>
        </p:spPr>
        <p:txBody>
          <a:bodyPr>
            <a:normAutofit fontScale="92500" lnSpcReduction="20000"/>
          </a:bodyPr>
          <a:lstStyle/>
          <a:p>
            <a:pPr marL="342900" indent="-342900">
              <a:lnSpc>
                <a:spcPct val="120000"/>
              </a:lnSpc>
              <a:spcBef>
                <a:spcPts val="0"/>
              </a:spcBef>
              <a:spcAft>
                <a:spcPts val="1200"/>
              </a:spcAft>
              <a:buFont typeface="Arial" panose="020B0604020202020204" pitchFamily="34" charset="0"/>
              <a:buChar char="•"/>
            </a:pPr>
            <a:r>
              <a:rPr lang="en-US" sz="2400" b="0"/>
              <a:t>In 1917, the </a:t>
            </a:r>
            <a:r>
              <a:rPr lang="en-US" sz="2400">
                <a:solidFill>
                  <a:srgbClr val="005580"/>
                </a:solidFill>
              </a:rPr>
              <a:t>Smith-Hughes Act </a:t>
            </a:r>
            <a:r>
              <a:rPr lang="en-US" sz="2400" b="0"/>
              <a:t>established the federal-state program in vocational education, as well as created a Federal Board of Vocational Education with the authority and responsibility for vocational rehabilitation of disabled veterans</a:t>
            </a:r>
          </a:p>
          <a:p>
            <a:pPr marL="342900" indent="-342900">
              <a:lnSpc>
                <a:spcPct val="120000"/>
              </a:lnSpc>
              <a:spcBef>
                <a:spcPts val="0"/>
              </a:spcBef>
              <a:spcAft>
                <a:spcPts val="1200"/>
              </a:spcAft>
              <a:buFont typeface="Arial" panose="020B0604020202020204" pitchFamily="34" charset="0"/>
              <a:buChar char="•"/>
            </a:pPr>
            <a:r>
              <a:rPr lang="en-US" sz="2400" b="0"/>
              <a:t>In 1962, </a:t>
            </a:r>
            <a:r>
              <a:rPr lang="en-US" sz="2400">
                <a:solidFill>
                  <a:srgbClr val="005580"/>
                </a:solidFill>
              </a:rPr>
              <a:t>Ed Roberts </a:t>
            </a:r>
            <a:r>
              <a:rPr lang="en-US" sz="2400" b="0"/>
              <a:t>(who used a wheelchair) finally gained admission to the University of California after winning a lawsuit</a:t>
            </a:r>
          </a:p>
          <a:p>
            <a:pPr marL="342900" indent="-342900">
              <a:lnSpc>
                <a:spcPct val="120000"/>
              </a:lnSpc>
              <a:spcBef>
                <a:spcPts val="0"/>
              </a:spcBef>
              <a:spcAft>
                <a:spcPts val="1200"/>
              </a:spcAft>
              <a:buFont typeface="Arial" panose="020B0604020202020204" pitchFamily="34" charset="0"/>
              <a:buChar char="•"/>
            </a:pPr>
            <a:r>
              <a:rPr lang="en-US" sz="2400" b="0"/>
              <a:t>In 1973, the </a:t>
            </a:r>
            <a:r>
              <a:rPr lang="en-US" sz="2400">
                <a:solidFill>
                  <a:srgbClr val="005580"/>
                </a:solidFill>
              </a:rPr>
              <a:t>Rehabilitation Act</a:t>
            </a:r>
            <a:r>
              <a:rPr lang="en-US" sz="2400" b="0"/>
              <a:t> was passed, prohibiting disability discrimination in federal programs and services</a:t>
            </a:r>
          </a:p>
          <a:p>
            <a:pPr marL="342900" indent="-342900">
              <a:lnSpc>
                <a:spcPct val="120000"/>
              </a:lnSpc>
              <a:spcBef>
                <a:spcPts val="0"/>
              </a:spcBef>
              <a:spcAft>
                <a:spcPts val="1200"/>
              </a:spcAft>
              <a:buFont typeface="Arial" panose="020B0604020202020204" pitchFamily="34" charset="0"/>
              <a:buChar char="•"/>
            </a:pPr>
            <a:r>
              <a:rPr lang="en-US" sz="2400" b="0"/>
              <a:t>The longest “sit-in” ever conducted at a US federal building was in 1977 when people were protesting the US Secretary of Dept. of Health, Education &amp; Welfare’s refusal to sign into law regulations to enforce the Rehabilitation Act</a:t>
            </a:r>
          </a:p>
          <a:p>
            <a:pPr marL="342900" indent="-342900">
              <a:lnSpc>
                <a:spcPct val="100000"/>
              </a:lnSpc>
              <a:spcBef>
                <a:spcPts val="0"/>
              </a:spcBef>
              <a:spcAft>
                <a:spcPts val="2400"/>
              </a:spcAft>
              <a:buFont typeface="Arial" panose="020B0604020202020204" pitchFamily="34" charset="0"/>
              <a:buChar char="•"/>
            </a:pPr>
            <a:endParaRPr lang="en-US" sz="2400" b="0"/>
          </a:p>
          <a:p>
            <a:pPr>
              <a:spcBef>
                <a:spcPts val="0"/>
              </a:spcBef>
              <a:spcAft>
                <a:spcPts val="1200"/>
              </a:spcAft>
            </a:pPr>
            <a:endParaRPr lang="en-US" sz="2400"/>
          </a:p>
        </p:txBody>
      </p:sp>
      <p:pic>
        <p:nvPicPr>
          <p:cNvPr id="4098" name="Picture 2" descr="Signing of the Smith-Hughs Act">
            <a:extLst>
              <a:ext uri="{FF2B5EF4-FFF2-40B4-BE49-F238E27FC236}">
                <a16:creationId xmlns:a16="http://schemas.microsoft.com/office/drawing/2014/main" id="{4152972B-3E54-82D0-A52A-A984042B3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9880" y="1024032"/>
            <a:ext cx="2340755" cy="126547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uEd Roberts next to a University campus.">
            <a:extLst>
              <a:ext uri="{FF2B5EF4-FFF2-40B4-BE49-F238E27FC236}">
                <a16:creationId xmlns:a16="http://schemas.microsoft.com/office/drawing/2014/main" id="{496B43F9-CDDC-24AE-0477-44E0FB349A15}"/>
              </a:ext>
            </a:extLst>
          </p:cNvPr>
          <p:cNvPicPr>
            <a:picLocks noChangeAspect="1"/>
          </p:cNvPicPr>
          <p:nvPr/>
        </p:nvPicPr>
        <p:blipFill>
          <a:blip r:embed="rId4"/>
          <a:stretch>
            <a:fillRect/>
          </a:stretch>
        </p:blipFill>
        <p:spPr>
          <a:xfrm>
            <a:off x="9199880" y="2475562"/>
            <a:ext cx="2318730" cy="1182765"/>
          </a:xfrm>
          <a:prstGeom prst="rect">
            <a:avLst/>
          </a:prstGeom>
        </p:spPr>
      </p:pic>
      <p:pic>
        <p:nvPicPr>
          <p:cNvPr id="6" name="Picture 2" descr="People with Disabilities protesting for the  Rehabilitation Act">
            <a:extLst>
              <a:ext uri="{FF2B5EF4-FFF2-40B4-BE49-F238E27FC236}">
                <a16:creationId xmlns:a16="http://schemas.microsoft.com/office/drawing/2014/main" id="{BE00CBA5-CC99-8D59-E8E4-69DE7EB1AF1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36560" y="3836989"/>
            <a:ext cx="1979933" cy="12886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Group of People with disabilities in 1977 participating in the sit-in protesting against the refusal to sign into law regulations to enforce the Rehabilitation Act.">
            <a:extLst>
              <a:ext uri="{FF2B5EF4-FFF2-40B4-BE49-F238E27FC236}">
                <a16:creationId xmlns:a16="http://schemas.microsoft.com/office/drawing/2014/main" id="{9ECE8524-3EA6-3E17-AC89-A4FAF18E222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312419" y="5295225"/>
            <a:ext cx="2228216" cy="125375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A141128E-3CC9-C880-8869-242E879D426C}"/>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3">
            <a:extLst>
              <a:ext uri="{FF2B5EF4-FFF2-40B4-BE49-F238E27FC236}">
                <a16:creationId xmlns:a16="http://schemas.microsoft.com/office/drawing/2014/main" id="{C187EC93-88F6-9A6A-BB75-0B595962927F}"/>
              </a:ext>
            </a:extLst>
          </p:cNvPr>
          <p:cNvSpPr>
            <a:spLocks noGrp="1"/>
          </p:cNvSpPr>
          <p:nvPr>
            <p:ph type="sldNum" sz="quarter" idx="12"/>
          </p:nvPr>
        </p:nvSpPr>
        <p:spPr/>
        <p:txBody>
          <a:bodyPr/>
          <a:lstStyle/>
          <a:p>
            <a:fld id="{A9D5B481-CC43-4D95-B982-500CB2D3FC20}" type="slidenum">
              <a:rPr lang="en-US" smtClean="0"/>
              <a:pPr/>
              <a:t>2</a:t>
            </a:fld>
            <a:endParaRPr lang="en-US"/>
          </a:p>
        </p:txBody>
      </p:sp>
    </p:spTree>
    <p:extLst>
      <p:ext uri="{BB962C8B-B14F-4D97-AF65-F5344CB8AC3E}">
        <p14:creationId xmlns:p14="http://schemas.microsoft.com/office/powerpoint/2010/main" val="259343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A2B66-6BF7-E286-5104-AF75F153C9A5}"/>
              </a:ext>
            </a:extLst>
          </p:cNvPr>
          <p:cNvSpPr>
            <a:spLocks noGrp="1"/>
          </p:cNvSpPr>
          <p:nvPr>
            <p:ph type="title"/>
          </p:nvPr>
        </p:nvSpPr>
        <p:spPr>
          <a:xfrm>
            <a:off x="838200" y="734493"/>
            <a:ext cx="10515600" cy="961496"/>
          </a:xfrm>
        </p:spPr>
        <p:txBody>
          <a:bodyPr>
            <a:normAutofit/>
          </a:bodyPr>
          <a:lstStyle/>
          <a:p>
            <a:r>
              <a:rPr lang="en-US" sz="4400"/>
              <a:t>Rehabilitation Act</a:t>
            </a:r>
          </a:p>
        </p:txBody>
      </p:sp>
      <p:sp>
        <p:nvSpPr>
          <p:cNvPr id="3" name="Content Placeholder 2">
            <a:extLst>
              <a:ext uri="{FF2B5EF4-FFF2-40B4-BE49-F238E27FC236}">
                <a16:creationId xmlns:a16="http://schemas.microsoft.com/office/drawing/2014/main" id="{272362EA-A526-4F0C-6407-22E62CECBFA0}"/>
              </a:ext>
            </a:extLst>
          </p:cNvPr>
          <p:cNvSpPr>
            <a:spLocks noGrp="1"/>
          </p:cNvSpPr>
          <p:nvPr>
            <p:ph idx="1"/>
          </p:nvPr>
        </p:nvSpPr>
        <p:spPr>
          <a:xfrm>
            <a:off x="994317" y="1695989"/>
            <a:ext cx="11129261" cy="4983104"/>
          </a:xfrm>
        </p:spPr>
        <p:txBody>
          <a:bodyPr>
            <a:normAutofit/>
          </a:bodyPr>
          <a:lstStyle/>
          <a:p>
            <a:pPr marL="342900" indent="-342900">
              <a:lnSpc>
                <a:spcPct val="100000"/>
              </a:lnSpc>
              <a:spcBef>
                <a:spcPts val="0"/>
              </a:spcBef>
              <a:spcAft>
                <a:spcPts val="1200"/>
              </a:spcAft>
              <a:buFont typeface="Arial" panose="020B0604020202020204" pitchFamily="34" charset="0"/>
              <a:buChar char="•"/>
            </a:pPr>
            <a:r>
              <a:rPr lang="en-US" sz="2300" b="1">
                <a:solidFill>
                  <a:srgbClr val="005580"/>
                </a:solidFill>
              </a:rPr>
              <a:t>Section 501: </a:t>
            </a:r>
            <a:r>
              <a:rPr lang="en-US" sz="2300" b="0">
                <a:solidFill>
                  <a:srgbClr val="212121"/>
                </a:solidFill>
              </a:rPr>
              <a:t>P</a:t>
            </a:r>
            <a:r>
              <a:rPr lang="en-US" sz="2300" b="0" i="0">
                <a:solidFill>
                  <a:srgbClr val="212121"/>
                </a:solidFill>
                <a:effectLst/>
              </a:rPr>
              <a:t>rohibits </a:t>
            </a:r>
            <a:r>
              <a:rPr lang="en-US" sz="2300" b="1" i="0">
                <a:solidFill>
                  <a:srgbClr val="212121"/>
                </a:solidFill>
                <a:effectLst/>
              </a:rPr>
              <a:t>federal agencies </a:t>
            </a:r>
            <a:r>
              <a:rPr lang="en-US" sz="2300" b="0" i="0">
                <a:solidFill>
                  <a:srgbClr val="212121"/>
                </a:solidFill>
                <a:effectLst/>
              </a:rPr>
              <a:t>from discriminating against qualified individuals with disabilities, using the same standards as Title I of the ADA </a:t>
            </a:r>
          </a:p>
          <a:p>
            <a:pPr marL="342900" indent="-342900">
              <a:lnSpc>
                <a:spcPct val="100000"/>
              </a:lnSpc>
              <a:spcBef>
                <a:spcPts val="0"/>
              </a:spcBef>
              <a:spcAft>
                <a:spcPts val="1200"/>
              </a:spcAft>
              <a:buFont typeface="Arial" panose="020B0604020202020204" pitchFamily="34" charset="0"/>
              <a:buChar char="•"/>
            </a:pPr>
            <a:r>
              <a:rPr lang="en-US" sz="2300" b="1">
                <a:solidFill>
                  <a:srgbClr val="005580"/>
                </a:solidFill>
              </a:rPr>
              <a:t>Section 503:</a:t>
            </a:r>
            <a:r>
              <a:rPr lang="en-US" sz="2300">
                <a:solidFill>
                  <a:srgbClr val="005580"/>
                </a:solidFill>
              </a:rPr>
              <a:t> </a:t>
            </a:r>
            <a:r>
              <a:rPr lang="en-US" sz="2300" b="0">
                <a:solidFill>
                  <a:srgbClr val="212121"/>
                </a:solidFill>
              </a:rPr>
              <a:t>P</a:t>
            </a:r>
            <a:r>
              <a:rPr lang="en-US" sz="2300" b="0" i="0">
                <a:solidFill>
                  <a:srgbClr val="212121"/>
                </a:solidFill>
                <a:effectLst/>
              </a:rPr>
              <a:t>rohibits </a:t>
            </a:r>
            <a:r>
              <a:rPr lang="en-US" sz="2300" b="1" i="0">
                <a:solidFill>
                  <a:srgbClr val="212121"/>
                </a:solidFill>
                <a:effectLst/>
              </a:rPr>
              <a:t>federal contractors and subcontractors </a:t>
            </a:r>
            <a:r>
              <a:rPr lang="en-US" sz="2300" b="0" i="0">
                <a:solidFill>
                  <a:srgbClr val="212121"/>
                </a:solidFill>
                <a:effectLst/>
              </a:rPr>
              <a:t>from discriminating in employment against individuals with disabilities</a:t>
            </a:r>
          </a:p>
          <a:p>
            <a:pPr marL="342900" indent="-342900">
              <a:lnSpc>
                <a:spcPct val="100000"/>
              </a:lnSpc>
              <a:spcBef>
                <a:spcPts val="0"/>
              </a:spcBef>
              <a:spcAft>
                <a:spcPts val="1200"/>
              </a:spcAft>
              <a:buFont typeface="Arial" panose="020B0604020202020204" pitchFamily="34" charset="0"/>
              <a:buChar char="•"/>
            </a:pPr>
            <a:r>
              <a:rPr lang="en-US" sz="2300" b="1">
                <a:solidFill>
                  <a:srgbClr val="005580"/>
                </a:solidFill>
              </a:rPr>
              <a:t>Section 504: </a:t>
            </a:r>
            <a:r>
              <a:rPr lang="en-US" sz="2300" b="0"/>
              <a:t>S</a:t>
            </a:r>
            <a:r>
              <a:rPr lang="en-US" sz="2300" b="0" i="0">
                <a:effectLst/>
              </a:rPr>
              <a:t>tates that “no qualified individual with a disability in the United States shall be excluded from, denied the benefits of, or be subjected to discrimination under” any program or activity that either </a:t>
            </a:r>
            <a:r>
              <a:rPr lang="en-US" sz="2300" b="1" i="0">
                <a:effectLst/>
              </a:rPr>
              <a:t>receives Federal financial assistance or is conducted by any Executive agency or the United States Postal Service</a:t>
            </a:r>
          </a:p>
          <a:p>
            <a:pPr marL="342900" indent="-342900">
              <a:lnSpc>
                <a:spcPct val="100000"/>
              </a:lnSpc>
              <a:spcBef>
                <a:spcPts val="0"/>
              </a:spcBef>
              <a:spcAft>
                <a:spcPts val="1200"/>
              </a:spcAft>
              <a:buFont typeface="Arial" panose="020B0604020202020204" pitchFamily="34" charset="0"/>
              <a:buChar char="•"/>
            </a:pPr>
            <a:r>
              <a:rPr lang="en-US" sz="2300" b="1">
                <a:solidFill>
                  <a:srgbClr val="005580"/>
                </a:solidFill>
              </a:rPr>
              <a:t>Section 508:</a:t>
            </a:r>
            <a:r>
              <a:rPr lang="en-US" sz="2300">
                <a:solidFill>
                  <a:srgbClr val="005580"/>
                </a:solidFill>
              </a:rPr>
              <a:t> </a:t>
            </a:r>
            <a:r>
              <a:rPr lang="en-US" sz="2300" b="0"/>
              <a:t>R</a:t>
            </a:r>
            <a:r>
              <a:rPr lang="en-US" sz="2300" b="0" i="0">
                <a:effectLst/>
              </a:rPr>
              <a:t>equires </a:t>
            </a:r>
            <a:r>
              <a:rPr lang="en-US" sz="2300" i="0">
                <a:effectLst/>
              </a:rPr>
              <a:t>Federal electronic and information technology to be accessible to people with disabilities (</a:t>
            </a:r>
            <a:r>
              <a:rPr lang="en-US" sz="2300" b="0" i="0">
                <a:effectLst/>
              </a:rPr>
              <a:t>employees and members of the public)</a:t>
            </a:r>
            <a:endParaRPr lang="en-US" sz="2300" b="0"/>
          </a:p>
          <a:p>
            <a:endParaRPr lang="en-US"/>
          </a:p>
        </p:txBody>
      </p:sp>
      <p:pic>
        <p:nvPicPr>
          <p:cNvPr id="6" name="Picture 5">
            <a:extLst>
              <a:ext uri="{FF2B5EF4-FFF2-40B4-BE49-F238E27FC236}">
                <a16:creationId xmlns:a16="http://schemas.microsoft.com/office/drawing/2014/main" id="{A2D1BCF3-06EE-8F83-2CE5-E711CE4F0234}"/>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E64F97F7-288B-743C-00DA-90BF80832294}"/>
              </a:ext>
            </a:extLst>
          </p:cNvPr>
          <p:cNvSpPr>
            <a:spLocks noGrp="1"/>
          </p:cNvSpPr>
          <p:nvPr>
            <p:ph type="sldNum" sz="quarter" idx="12"/>
          </p:nvPr>
        </p:nvSpPr>
        <p:spPr/>
        <p:txBody>
          <a:bodyPr/>
          <a:lstStyle/>
          <a:p>
            <a:fld id="{A9D5B481-CC43-4D95-B982-500CB2D3FC20}" type="slidenum">
              <a:rPr lang="en-US" smtClean="0"/>
              <a:pPr/>
              <a:t>3</a:t>
            </a:fld>
            <a:endParaRPr lang="en-US"/>
          </a:p>
        </p:txBody>
      </p:sp>
    </p:spTree>
    <p:extLst>
      <p:ext uri="{BB962C8B-B14F-4D97-AF65-F5344CB8AC3E}">
        <p14:creationId xmlns:p14="http://schemas.microsoft.com/office/powerpoint/2010/main" val="2677156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84381-ECB4-38B2-8C1C-922D235B8391}"/>
              </a:ext>
            </a:extLst>
          </p:cNvPr>
          <p:cNvSpPr>
            <a:spLocks noGrp="1"/>
          </p:cNvSpPr>
          <p:nvPr>
            <p:ph type="title"/>
          </p:nvPr>
        </p:nvSpPr>
        <p:spPr>
          <a:xfrm>
            <a:off x="838200" y="869182"/>
            <a:ext cx="10515600" cy="961496"/>
          </a:xfrm>
        </p:spPr>
        <p:txBody>
          <a:bodyPr>
            <a:normAutofit/>
          </a:bodyPr>
          <a:lstStyle/>
          <a:p>
            <a:r>
              <a:rPr lang="en-US"/>
              <a:t>Passage of the ADA</a:t>
            </a:r>
          </a:p>
        </p:txBody>
      </p:sp>
      <p:sp>
        <p:nvSpPr>
          <p:cNvPr id="3" name="Content Placeholder 2">
            <a:extLst>
              <a:ext uri="{FF2B5EF4-FFF2-40B4-BE49-F238E27FC236}">
                <a16:creationId xmlns:a16="http://schemas.microsoft.com/office/drawing/2014/main" id="{8FFBE35C-B2AA-941A-7DA7-D9F8E122058E}"/>
              </a:ext>
            </a:extLst>
          </p:cNvPr>
          <p:cNvSpPr>
            <a:spLocks noGrp="1"/>
          </p:cNvSpPr>
          <p:nvPr>
            <p:ph idx="1"/>
          </p:nvPr>
        </p:nvSpPr>
        <p:spPr>
          <a:xfrm>
            <a:off x="868019" y="2120348"/>
            <a:ext cx="6115878" cy="4063654"/>
          </a:xfrm>
        </p:spPr>
        <p:txBody>
          <a:bodyPr/>
          <a:lstStyle/>
          <a:p>
            <a:pPr>
              <a:lnSpc>
                <a:spcPct val="100000"/>
              </a:lnSpc>
              <a:spcBef>
                <a:spcPts val="0"/>
              </a:spcBef>
              <a:spcAft>
                <a:spcPts val="8400"/>
              </a:spcAft>
            </a:pPr>
            <a:r>
              <a:rPr lang="en-US" i="0" dirty="0">
                <a:effectLst/>
              </a:rPr>
              <a:t>March 12, 1990, </a:t>
            </a:r>
            <a:r>
              <a:rPr lang="en-US" i="0" dirty="0">
                <a:solidFill>
                  <a:srgbClr val="000000"/>
                </a:solidFill>
                <a:effectLst/>
              </a:rPr>
              <a:t>Capitol Crawl</a:t>
            </a:r>
            <a:r>
              <a:rPr lang="en-US" b="0" i="0" dirty="0">
                <a:solidFill>
                  <a:srgbClr val="000000"/>
                </a:solidFill>
                <a:effectLst/>
              </a:rPr>
              <a:t>: protest to demand the passage of the Americans with Disabilities Act (ADA)</a:t>
            </a:r>
          </a:p>
          <a:p>
            <a:pPr>
              <a:lnSpc>
                <a:spcPct val="100000"/>
              </a:lnSpc>
              <a:spcBef>
                <a:spcPts val="0"/>
              </a:spcBef>
              <a:spcAft>
                <a:spcPts val="12600"/>
              </a:spcAft>
            </a:pPr>
            <a:r>
              <a:rPr lang="en-US" dirty="0">
                <a:solidFill>
                  <a:srgbClr val="000000"/>
                </a:solidFill>
              </a:rPr>
              <a:t>July 26, 1990</a:t>
            </a:r>
            <a:r>
              <a:rPr lang="en-US" b="0" dirty="0">
                <a:solidFill>
                  <a:srgbClr val="000000"/>
                </a:solidFill>
              </a:rPr>
              <a:t>: </a:t>
            </a:r>
            <a:r>
              <a:rPr lang="en-US" dirty="0">
                <a:solidFill>
                  <a:srgbClr val="000000"/>
                </a:solidFill>
              </a:rPr>
              <a:t>ADA signed into law</a:t>
            </a:r>
            <a:br>
              <a:rPr lang="en-US" dirty="0"/>
            </a:br>
            <a:endParaRPr lang="en-US" dirty="0"/>
          </a:p>
        </p:txBody>
      </p:sp>
      <p:sp>
        <p:nvSpPr>
          <p:cNvPr id="4" name="Slide Number Placeholder 3">
            <a:extLst>
              <a:ext uri="{FF2B5EF4-FFF2-40B4-BE49-F238E27FC236}">
                <a16:creationId xmlns:a16="http://schemas.microsoft.com/office/drawing/2014/main" id="{A86334D7-7C9C-5C60-9FCE-BB24DDD0034E}"/>
              </a:ext>
            </a:extLst>
          </p:cNvPr>
          <p:cNvSpPr>
            <a:spLocks noGrp="1"/>
          </p:cNvSpPr>
          <p:nvPr>
            <p:ph type="sldNum" sz="quarter" idx="12"/>
          </p:nvPr>
        </p:nvSpPr>
        <p:spPr/>
        <p:txBody>
          <a:bodyPr/>
          <a:lstStyle/>
          <a:p>
            <a:fld id="{A9D5B481-CC43-4D95-B982-500CB2D3FC20}" type="slidenum">
              <a:rPr lang="en-US" smtClean="0"/>
              <a:pPr/>
              <a:t>4</a:t>
            </a:fld>
            <a:endParaRPr lang="en-US"/>
          </a:p>
        </p:txBody>
      </p:sp>
      <p:pic>
        <p:nvPicPr>
          <p:cNvPr id="1026" name="Picture 2" descr="two young woman crawling up the US capitol steps with photographers in front of them taking pictures. Image credit Adobe Stock.">
            <a:extLst>
              <a:ext uri="{FF2B5EF4-FFF2-40B4-BE49-F238E27FC236}">
                <a16:creationId xmlns:a16="http://schemas.microsoft.com/office/drawing/2014/main" id="{8422CAA4-9967-54E0-D05E-6C33940F18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8966" y="1754763"/>
            <a:ext cx="3260034" cy="211495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President George Bush signing the ADA into law with Justin Dart sitting next to him.">
            <a:extLst>
              <a:ext uri="{FF2B5EF4-FFF2-40B4-BE49-F238E27FC236}">
                <a16:creationId xmlns:a16="http://schemas.microsoft.com/office/drawing/2014/main" id="{085679FE-C563-F75F-04C2-F6BF979855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8966" y="4097462"/>
            <a:ext cx="3260034" cy="2027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724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10064-800F-6B21-CC1B-4F889A1FB2AF}"/>
              </a:ext>
            </a:extLst>
          </p:cNvPr>
          <p:cNvSpPr>
            <a:spLocks noGrp="1"/>
          </p:cNvSpPr>
          <p:nvPr>
            <p:ph type="title"/>
          </p:nvPr>
        </p:nvSpPr>
        <p:spPr>
          <a:xfrm>
            <a:off x="813819" y="720270"/>
            <a:ext cx="10515600" cy="961496"/>
          </a:xfrm>
        </p:spPr>
        <p:txBody>
          <a:bodyPr>
            <a:normAutofit/>
          </a:bodyPr>
          <a:lstStyle/>
          <a:p>
            <a:r>
              <a:rPr lang="en-US" sz="4400"/>
              <a:t>Legislative Timeline</a:t>
            </a:r>
          </a:p>
        </p:txBody>
      </p:sp>
      <p:sp>
        <p:nvSpPr>
          <p:cNvPr id="3" name="Content Placeholder 2">
            <a:extLst>
              <a:ext uri="{FF2B5EF4-FFF2-40B4-BE49-F238E27FC236}">
                <a16:creationId xmlns:a16="http://schemas.microsoft.com/office/drawing/2014/main" id="{973E53E7-CFD5-F5F0-3158-0EC6C3C2F4C4}"/>
              </a:ext>
            </a:extLst>
          </p:cNvPr>
          <p:cNvSpPr>
            <a:spLocks noGrp="1"/>
          </p:cNvSpPr>
          <p:nvPr>
            <p:ph idx="1"/>
          </p:nvPr>
        </p:nvSpPr>
        <p:spPr>
          <a:xfrm>
            <a:off x="838200" y="1548332"/>
            <a:ext cx="10515600" cy="4986770"/>
          </a:xfrm>
        </p:spPr>
        <p:txBody>
          <a:bodyPr>
            <a:normAutofit fontScale="77500" lnSpcReduction="20000"/>
          </a:bodyPr>
          <a:lstStyle/>
          <a:p>
            <a:pPr marL="0" indent="0">
              <a:lnSpc>
                <a:spcPct val="120000"/>
              </a:lnSpc>
              <a:spcBef>
                <a:spcPts val="0"/>
              </a:spcBef>
              <a:spcAft>
                <a:spcPts val="300"/>
              </a:spcAft>
              <a:buNone/>
            </a:pPr>
            <a:r>
              <a:rPr lang="en-US" sz="2800" b="0" dirty="0"/>
              <a:t>1965 – Voting Rights Act</a:t>
            </a:r>
          </a:p>
          <a:p>
            <a:pPr marL="0" indent="0">
              <a:lnSpc>
                <a:spcPct val="120000"/>
              </a:lnSpc>
              <a:spcBef>
                <a:spcPts val="0"/>
              </a:spcBef>
              <a:spcAft>
                <a:spcPts val="300"/>
              </a:spcAft>
              <a:buNone/>
            </a:pPr>
            <a:r>
              <a:rPr lang="en-US" sz="2800" b="0" dirty="0"/>
              <a:t>1968 – Architectural Barriers Act (ABA)</a:t>
            </a:r>
          </a:p>
          <a:p>
            <a:pPr marL="0" indent="0">
              <a:lnSpc>
                <a:spcPct val="120000"/>
              </a:lnSpc>
              <a:spcBef>
                <a:spcPts val="0"/>
              </a:spcBef>
              <a:spcAft>
                <a:spcPts val="300"/>
              </a:spcAft>
              <a:buNone/>
            </a:pPr>
            <a:r>
              <a:rPr lang="en-US" sz="2800" b="0" dirty="0"/>
              <a:t>1973 – Rehabilitation Act </a:t>
            </a:r>
          </a:p>
          <a:p>
            <a:pPr marL="0" indent="0">
              <a:lnSpc>
                <a:spcPct val="120000"/>
              </a:lnSpc>
              <a:spcBef>
                <a:spcPts val="0"/>
              </a:spcBef>
              <a:spcAft>
                <a:spcPts val="300"/>
              </a:spcAft>
              <a:buNone/>
            </a:pPr>
            <a:r>
              <a:rPr lang="en-US" sz="2800" b="0" dirty="0"/>
              <a:t>1975 – Individuals with Disabilities in Education Act (IDEA)</a:t>
            </a:r>
          </a:p>
          <a:p>
            <a:pPr marL="0" indent="0">
              <a:lnSpc>
                <a:spcPct val="120000"/>
              </a:lnSpc>
              <a:spcBef>
                <a:spcPts val="0"/>
              </a:spcBef>
              <a:spcAft>
                <a:spcPts val="300"/>
              </a:spcAft>
              <a:buNone/>
            </a:pPr>
            <a:r>
              <a:rPr lang="en-US" sz="2800" b="0" dirty="0"/>
              <a:t>1976 – Higher Education Act Amendment (to include students with disabilities) </a:t>
            </a:r>
          </a:p>
          <a:p>
            <a:pPr marL="0" indent="0">
              <a:lnSpc>
                <a:spcPct val="120000"/>
              </a:lnSpc>
              <a:spcBef>
                <a:spcPts val="0"/>
              </a:spcBef>
              <a:spcAft>
                <a:spcPts val="300"/>
              </a:spcAft>
              <a:buNone/>
            </a:pPr>
            <a:r>
              <a:rPr lang="en-US" sz="2800" b="0" dirty="0"/>
              <a:t>1980 – Civil Rights of Institutionalized Persons Act (CRIPA)</a:t>
            </a:r>
          </a:p>
          <a:p>
            <a:pPr marL="0" indent="0">
              <a:lnSpc>
                <a:spcPct val="120000"/>
              </a:lnSpc>
              <a:spcBef>
                <a:spcPts val="0"/>
              </a:spcBef>
              <a:spcAft>
                <a:spcPts val="300"/>
              </a:spcAft>
              <a:buNone/>
            </a:pPr>
            <a:r>
              <a:rPr lang="en-US" sz="2800" b="0" dirty="0"/>
              <a:t>1984 – Voting Accessibility for Elderly and Handicapped Act</a:t>
            </a:r>
          </a:p>
          <a:p>
            <a:pPr marL="0" indent="0">
              <a:lnSpc>
                <a:spcPct val="120000"/>
              </a:lnSpc>
              <a:spcBef>
                <a:spcPts val="0"/>
              </a:spcBef>
              <a:spcAft>
                <a:spcPts val="300"/>
              </a:spcAft>
              <a:buNone/>
            </a:pPr>
            <a:r>
              <a:rPr lang="en-US" sz="2800" b="0" dirty="0"/>
              <a:t>1986 – Air Carrier Access Act</a:t>
            </a:r>
          </a:p>
          <a:p>
            <a:pPr marL="0" indent="0">
              <a:lnSpc>
                <a:spcPct val="120000"/>
              </a:lnSpc>
              <a:spcBef>
                <a:spcPts val="0"/>
              </a:spcBef>
              <a:spcAft>
                <a:spcPts val="300"/>
              </a:spcAft>
              <a:buNone/>
            </a:pPr>
            <a:r>
              <a:rPr lang="en-US" sz="2800" b="0" dirty="0"/>
              <a:t>1988 – Fair Housing Amendments Act</a:t>
            </a:r>
          </a:p>
          <a:p>
            <a:pPr marL="0" indent="0">
              <a:lnSpc>
                <a:spcPct val="120000"/>
              </a:lnSpc>
              <a:spcBef>
                <a:spcPts val="0"/>
              </a:spcBef>
              <a:spcAft>
                <a:spcPts val="300"/>
              </a:spcAft>
              <a:buNone/>
            </a:pPr>
            <a:r>
              <a:rPr lang="en-US" sz="2800" dirty="0">
                <a:solidFill>
                  <a:srgbClr val="005580"/>
                </a:solidFill>
              </a:rPr>
              <a:t>1990 – Americans with Disabilities Act (ADA)</a:t>
            </a:r>
          </a:p>
          <a:p>
            <a:pPr>
              <a:lnSpc>
                <a:spcPct val="120000"/>
              </a:lnSpc>
              <a:spcBef>
                <a:spcPts val="0"/>
              </a:spcBef>
              <a:spcAft>
                <a:spcPts val="300"/>
              </a:spcAft>
            </a:pPr>
            <a:r>
              <a:rPr lang="en-US" b="0" dirty="0"/>
              <a:t>1996 –Telecommunications Act</a:t>
            </a:r>
            <a:endParaRPr lang="en-US" sz="2800" dirty="0">
              <a:solidFill>
                <a:srgbClr val="005580"/>
              </a:solidFill>
            </a:endParaRPr>
          </a:p>
          <a:p>
            <a:pPr marL="0" indent="0">
              <a:lnSpc>
                <a:spcPct val="120000"/>
              </a:lnSpc>
              <a:spcBef>
                <a:spcPts val="0"/>
              </a:spcBef>
              <a:spcAft>
                <a:spcPts val="300"/>
              </a:spcAft>
              <a:buNone/>
            </a:pPr>
            <a:r>
              <a:rPr lang="en-US" sz="2800" dirty="0">
                <a:solidFill>
                  <a:srgbClr val="005580"/>
                </a:solidFill>
              </a:rPr>
              <a:t>2008 – ADA Amendments Act (broadened the definition of disability)</a:t>
            </a:r>
          </a:p>
          <a:p>
            <a:pPr marL="0" indent="0">
              <a:lnSpc>
                <a:spcPct val="120000"/>
              </a:lnSpc>
              <a:spcBef>
                <a:spcPts val="0"/>
              </a:spcBef>
              <a:spcAft>
                <a:spcPts val="300"/>
              </a:spcAft>
              <a:buNone/>
            </a:pPr>
            <a:r>
              <a:rPr lang="en-US" sz="2800" b="0" dirty="0"/>
              <a:t>2010 – 21</a:t>
            </a:r>
            <a:r>
              <a:rPr lang="en-US" sz="2800" b="0" baseline="30000" dirty="0"/>
              <a:t>st</a:t>
            </a:r>
            <a:r>
              <a:rPr lang="en-US" sz="2800" b="0" dirty="0"/>
              <a:t> Century Communications and Video Accessibility Act </a:t>
            </a:r>
          </a:p>
        </p:txBody>
      </p:sp>
      <p:pic>
        <p:nvPicPr>
          <p:cNvPr id="6" name="Content Placeholder 8" descr="Justice scales positioned in the middle of an open law book.">
            <a:extLst>
              <a:ext uri="{FF2B5EF4-FFF2-40B4-BE49-F238E27FC236}">
                <a16:creationId xmlns:a16="http://schemas.microsoft.com/office/drawing/2014/main" id="{5468C55D-0755-77EF-B3BE-B214546FFD34}"/>
              </a:ext>
            </a:extLst>
          </p:cNvPr>
          <p:cNvPicPr>
            <a:picLocks noChangeAspect="1"/>
          </p:cNvPicPr>
          <p:nvPr/>
        </p:nvPicPr>
        <p:blipFill>
          <a:blip r:embed="rId3"/>
          <a:stretch>
            <a:fillRect/>
          </a:stretch>
        </p:blipFill>
        <p:spPr>
          <a:xfrm>
            <a:off x="9448189" y="1009223"/>
            <a:ext cx="2016359" cy="1934430"/>
          </a:xfrm>
          <a:prstGeom prst="rect">
            <a:avLst/>
          </a:prstGeom>
        </p:spPr>
      </p:pic>
      <p:pic>
        <p:nvPicPr>
          <p:cNvPr id="8" name="Picture 7">
            <a:extLst>
              <a:ext uri="{FF2B5EF4-FFF2-40B4-BE49-F238E27FC236}">
                <a16:creationId xmlns:a16="http://schemas.microsoft.com/office/drawing/2014/main" id="{A8EA1C0B-0AB4-58DF-67F9-BB209294762A}"/>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84073"/>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FE5B36F3-6137-B646-90E0-DB605D571F32}"/>
              </a:ext>
            </a:extLst>
          </p:cNvPr>
          <p:cNvSpPr>
            <a:spLocks noGrp="1"/>
          </p:cNvSpPr>
          <p:nvPr>
            <p:ph type="sldNum" sz="quarter" idx="12"/>
          </p:nvPr>
        </p:nvSpPr>
        <p:spPr/>
        <p:txBody>
          <a:bodyPr/>
          <a:lstStyle/>
          <a:p>
            <a:fld id="{A9D5B481-CC43-4D95-B982-500CB2D3FC20}" type="slidenum">
              <a:rPr lang="en-US" smtClean="0"/>
              <a:pPr/>
              <a:t>5</a:t>
            </a:fld>
            <a:endParaRPr lang="en-US"/>
          </a:p>
        </p:txBody>
      </p:sp>
    </p:spTree>
    <p:extLst>
      <p:ext uri="{BB962C8B-B14F-4D97-AF65-F5344CB8AC3E}">
        <p14:creationId xmlns:p14="http://schemas.microsoft.com/office/powerpoint/2010/main" val="3768832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933C4-8E42-7EEA-C5F8-2A33D0A3ED6A}"/>
              </a:ext>
            </a:extLst>
          </p:cNvPr>
          <p:cNvSpPr>
            <a:spLocks noGrp="1"/>
          </p:cNvSpPr>
          <p:nvPr>
            <p:ph type="title"/>
          </p:nvPr>
        </p:nvSpPr>
        <p:spPr/>
        <p:txBody>
          <a:bodyPr>
            <a:normAutofit/>
          </a:bodyPr>
          <a:lstStyle/>
          <a:p>
            <a:r>
              <a:rPr lang="en-US" sz="4400"/>
              <a:t>Conclusion</a:t>
            </a:r>
          </a:p>
        </p:txBody>
      </p:sp>
      <p:sp>
        <p:nvSpPr>
          <p:cNvPr id="3" name="Content Placeholder 2">
            <a:extLst>
              <a:ext uri="{FF2B5EF4-FFF2-40B4-BE49-F238E27FC236}">
                <a16:creationId xmlns:a16="http://schemas.microsoft.com/office/drawing/2014/main" id="{ACDA98C0-9479-3F7A-4B3A-972EC2252CA6}"/>
              </a:ext>
            </a:extLst>
          </p:cNvPr>
          <p:cNvSpPr>
            <a:spLocks noGrp="1"/>
          </p:cNvSpPr>
          <p:nvPr>
            <p:ph idx="1"/>
          </p:nvPr>
        </p:nvSpPr>
        <p:spPr>
          <a:xfrm>
            <a:off x="813819" y="1754762"/>
            <a:ext cx="10539981" cy="4460687"/>
          </a:xfrm>
        </p:spPr>
        <p:txBody>
          <a:bodyPr>
            <a:normAutofit/>
          </a:bodyPr>
          <a:lstStyle/>
          <a:p>
            <a:pPr marL="457200" indent="-457200">
              <a:lnSpc>
                <a:spcPct val="100000"/>
              </a:lnSpc>
              <a:spcBef>
                <a:spcPts val="0"/>
              </a:spcBef>
              <a:spcAft>
                <a:spcPts val="2400"/>
              </a:spcAft>
              <a:buFont typeface="Arial" panose="020B0604020202020204" pitchFamily="34" charset="0"/>
              <a:buChar char="•"/>
            </a:pPr>
            <a:r>
              <a:rPr lang="en-US" b="0"/>
              <a:t>To learn more about the concepts reviewed during this training, check out the ADA resources provided within this unit</a:t>
            </a:r>
          </a:p>
          <a:p>
            <a:pPr marL="457200" indent="-457200">
              <a:lnSpc>
                <a:spcPct val="100000"/>
              </a:lnSpc>
              <a:spcBef>
                <a:spcPts val="0"/>
              </a:spcBef>
              <a:spcAft>
                <a:spcPts val="2400"/>
              </a:spcAft>
              <a:buFont typeface="Arial" panose="020B0604020202020204" pitchFamily="34" charset="0"/>
              <a:buChar char="•"/>
            </a:pPr>
            <a:r>
              <a:rPr lang="en-US" b="0"/>
              <a:t>If you have questions about the ADA, call your regional ADA Center at 800-949-4232</a:t>
            </a:r>
          </a:p>
          <a:p>
            <a:pPr marL="457200" indent="-457200">
              <a:lnSpc>
                <a:spcPct val="100000"/>
              </a:lnSpc>
              <a:spcBef>
                <a:spcPts val="0"/>
              </a:spcBef>
              <a:spcAft>
                <a:spcPts val="2400"/>
              </a:spcAft>
              <a:buFont typeface="Arial" panose="020B0604020202020204" pitchFamily="34" charset="0"/>
              <a:buChar char="•"/>
            </a:pPr>
            <a:r>
              <a:rPr lang="en-US"/>
              <a:t>The next step is to view the </a:t>
            </a:r>
            <a:r>
              <a:rPr lang="en-US" i="1">
                <a:solidFill>
                  <a:srgbClr val="1A2026"/>
                </a:solidFill>
              </a:rPr>
              <a:t>Americans with Disabilities Act (ADA) –Overview of the ADA</a:t>
            </a:r>
            <a:endParaRPr lang="en-US" i="1"/>
          </a:p>
          <a:p>
            <a:pPr marL="457200" indent="-457200">
              <a:lnSpc>
                <a:spcPct val="100000"/>
              </a:lnSpc>
              <a:spcBef>
                <a:spcPts val="0"/>
              </a:spcBef>
              <a:spcAft>
                <a:spcPts val="2400"/>
              </a:spcAft>
              <a:buFont typeface="Arial" panose="020B0604020202020204" pitchFamily="34" charset="0"/>
              <a:buChar char="•"/>
            </a:pPr>
            <a:endParaRPr lang="en-US" b="0"/>
          </a:p>
        </p:txBody>
      </p:sp>
      <p:pic>
        <p:nvPicPr>
          <p:cNvPr id="6" name="Picture 5">
            <a:extLst>
              <a:ext uri="{FF2B5EF4-FFF2-40B4-BE49-F238E27FC236}">
                <a16:creationId xmlns:a16="http://schemas.microsoft.com/office/drawing/2014/main" id="{6D623585-06AF-02DE-3CC8-2A4A4F30CC4E}"/>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447868"/>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D038725D-484C-DF34-3333-08810BF274C8}"/>
              </a:ext>
            </a:extLst>
          </p:cNvPr>
          <p:cNvSpPr>
            <a:spLocks noGrp="1"/>
          </p:cNvSpPr>
          <p:nvPr>
            <p:ph type="sldNum" sz="quarter" idx="12"/>
          </p:nvPr>
        </p:nvSpPr>
        <p:spPr/>
        <p:txBody>
          <a:bodyPr/>
          <a:lstStyle/>
          <a:p>
            <a:fld id="{A9D5B481-CC43-4D95-B982-500CB2D3FC20}" type="slidenum">
              <a:rPr lang="en-US" smtClean="0"/>
              <a:pPr/>
              <a:t>6</a:t>
            </a:fld>
            <a:endParaRPr lang="en-US"/>
          </a:p>
        </p:txBody>
      </p:sp>
    </p:spTree>
    <p:extLst>
      <p:ext uri="{BB962C8B-B14F-4D97-AF65-F5344CB8AC3E}">
        <p14:creationId xmlns:p14="http://schemas.microsoft.com/office/powerpoint/2010/main" val="288465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Great Lakes ADA Center PPT">
      <a:dk1>
        <a:sysClr val="windowText" lastClr="000000"/>
      </a:dk1>
      <a:lt1>
        <a:sysClr val="window" lastClr="FFFFFF"/>
      </a:lt1>
      <a:dk2>
        <a:srgbClr val="242852"/>
      </a:dk2>
      <a:lt2>
        <a:srgbClr val="ACCBF9"/>
      </a:lt2>
      <a:accent1>
        <a:srgbClr val="005580"/>
      </a:accent1>
      <a:accent2>
        <a:srgbClr val="297FD5"/>
      </a:accent2>
      <a:accent3>
        <a:srgbClr val="7F8FA9"/>
      </a:accent3>
      <a:accent4>
        <a:srgbClr val="4A66AC"/>
      </a:accent4>
      <a:accent5>
        <a:srgbClr val="5AA2AE"/>
      </a:accent5>
      <a:accent6>
        <a:srgbClr val="9D90A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
  <TotalTime>0</TotalTime>
  <Words>2114</Words>
  <Application>Microsoft Office PowerPoint</Application>
  <PresentationFormat>Widescreen</PresentationFormat>
  <Paragraphs>100</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Americans with Disabilities Act  (ADA)</vt:lpstr>
      <vt:lpstr>Disability Rights &amp; Legislation</vt:lpstr>
      <vt:lpstr>Rehabilitation Act</vt:lpstr>
      <vt:lpstr>Passage of the ADA</vt:lpstr>
      <vt:lpstr>Legislative Timeline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cp:revision>
  <dcterms:created xsi:type="dcterms:W3CDTF">2023-05-18T20:19:20Z</dcterms:created>
  <dcterms:modified xsi:type="dcterms:W3CDTF">2025-03-17T13:53:16Z</dcterms:modified>
</cp:coreProperties>
</file>