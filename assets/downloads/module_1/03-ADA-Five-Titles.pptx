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888" r:id="rId2"/>
    <p:sldId id="830" r:id="rId3"/>
    <p:sldId id="766" r:id="rId4"/>
    <p:sldId id="791" r:id="rId5"/>
    <p:sldId id="871" r:id="rId6"/>
    <p:sldId id="823" r:id="rId7"/>
    <p:sldId id="860" r:id="rId8"/>
    <p:sldId id="865" r:id="rId9"/>
    <p:sldId id="764" r:id="rId10"/>
    <p:sldId id="832" r:id="rId11"/>
    <p:sldId id="720" r:id="rId12"/>
    <p:sldId id="828" r:id="rId13"/>
    <p:sldId id="833" r:id="rId14"/>
    <p:sldId id="834" r:id="rId15"/>
    <p:sldId id="88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580"/>
    <a:srgbClr val="0E58C4"/>
    <a:srgbClr val="FFFFFF"/>
    <a:srgbClr val="404040"/>
    <a:srgbClr val="FEFFDE"/>
    <a:srgbClr val="1F5FA0"/>
    <a:srgbClr val="00BF62"/>
    <a:srgbClr val="0563C1"/>
    <a:srgbClr val="366F92"/>
    <a:srgbClr val="DBE7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5B492B-DD2D-4033-8D3D-0571A1048F87}" v="143" dt="2025-03-12T20:58:33.9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603" autoAdjust="0"/>
    <p:restoredTop sz="69664" autoAdjust="0"/>
  </p:normalViewPr>
  <p:slideViewPr>
    <p:cSldViewPr snapToGrid="0">
      <p:cViewPr varScale="1">
        <p:scale>
          <a:sx n="78" d="100"/>
          <a:sy n="78" d="100"/>
        </p:scale>
        <p:origin x="1074" y="78"/>
      </p:cViewPr>
      <p:guideLst/>
    </p:cSldViewPr>
  </p:slideViewPr>
  <p:outlineViewPr>
    <p:cViewPr>
      <p:scale>
        <a:sx n="33" d="100"/>
        <a:sy n="33" d="100"/>
      </p:scale>
      <p:origin x="0" y="-29868"/>
    </p:cViewPr>
  </p:outlineViewPr>
  <p:notesTextViewPr>
    <p:cViewPr>
      <p:scale>
        <a:sx n="3" d="2"/>
        <a:sy n="3" d="2"/>
      </p:scale>
      <p:origin x="0" y="0"/>
    </p:cViewPr>
  </p:notesTextViewPr>
  <p:sorterViewPr>
    <p:cViewPr>
      <p:scale>
        <a:sx n="100" d="100"/>
        <a:sy n="100" d="100"/>
      </p:scale>
      <p:origin x="0" y="-3402"/>
    </p:cViewPr>
  </p:sorterViewPr>
  <p:notesViewPr>
    <p:cSldViewPr snapToGrid="0">
      <p:cViewPr varScale="1">
        <p:scale>
          <a:sx n="85" d="100"/>
          <a:sy n="85" d="100"/>
        </p:scale>
        <p:origin x="301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277B8A-44BD-4F08-BEBA-9E3C00B472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42F70E0-F9B6-4B0A-B20F-DB31E7AE8E0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dirty="0"/>
          </a:p>
        </p:txBody>
      </p:sp>
      <p:sp>
        <p:nvSpPr>
          <p:cNvPr id="4" name="Footer Placeholder 3">
            <a:extLst>
              <a:ext uri="{FF2B5EF4-FFF2-40B4-BE49-F238E27FC236}">
                <a16:creationId xmlns:a16="http://schemas.microsoft.com/office/drawing/2014/main" id="{E8289513-846D-418A-A76C-BC9CA473043A}"/>
              </a:ext>
            </a:extLst>
          </p:cNvPr>
          <p:cNvSpPr>
            <a:spLocks noGrp="1"/>
          </p:cNvSpPr>
          <p:nvPr>
            <p:ph type="ftr" sz="quarter" idx="2"/>
          </p:nvPr>
        </p:nvSpPr>
        <p:spPr>
          <a:xfrm>
            <a:off x="0" y="8505023"/>
            <a:ext cx="3429000" cy="638978"/>
          </a:xfrm>
          <a:prstGeom prst="rect">
            <a:avLst/>
          </a:prstGeom>
        </p:spPr>
        <p:txBody>
          <a:bodyPr vert="horz" lIns="91440" tIns="45720" rIns="91440" bIns="45720" rtlCol="0" anchor="b"/>
          <a:lstStyle>
            <a:lvl1pPr algn="l">
              <a:defRPr sz="1200"/>
            </a:lvl1pPr>
          </a:lstStyle>
          <a:p>
            <a:r>
              <a:rPr lang="en-US" dirty="0"/>
              <a:t>ADA Overview</a:t>
            </a:r>
          </a:p>
          <a:p>
            <a:pPr>
              <a:lnSpc>
                <a:spcPct val="100000"/>
              </a:lnSpc>
              <a:spcBef>
                <a:spcPts val="0"/>
              </a:spcBef>
            </a:pPr>
            <a:r>
              <a:rPr lang="en-US" sz="1200" dirty="0">
                <a:solidFill>
                  <a:schemeClr val="tx1">
                    <a:lumMod val="75000"/>
                    <a:lumOff val="25000"/>
                  </a:schemeClr>
                </a:solidFill>
              </a:rPr>
              <a:t>ADA Participation Action Research Consortium</a:t>
            </a:r>
          </a:p>
          <a:p>
            <a:pPr>
              <a:lnSpc>
                <a:spcPct val="100000"/>
              </a:lnSpc>
              <a:spcBef>
                <a:spcPts val="0"/>
              </a:spcBef>
            </a:pPr>
            <a:r>
              <a:rPr lang="en-US" sz="1200" dirty="0">
                <a:solidFill>
                  <a:schemeClr val="tx1">
                    <a:lumMod val="75000"/>
                    <a:lumOff val="25000"/>
                  </a:schemeClr>
                </a:solidFill>
              </a:rPr>
              <a:t>Participation Equity Navigator Training</a:t>
            </a:r>
          </a:p>
        </p:txBody>
      </p:sp>
      <p:sp>
        <p:nvSpPr>
          <p:cNvPr id="5" name="Slide Number Placeholder 4">
            <a:extLst>
              <a:ext uri="{FF2B5EF4-FFF2-40B4-BE49-F238E27FC236}">
                <a16:creationId xmlns:a16="http://schemas.microsoft.com/office/drawing/2014/main" id="{84746CD0-92B4-48E8-AAB4-2AAB470A697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560DB5-8A82-4868-827B-BFA45EE4562B}" type="slidenum">
              <a:rPr lang="en-US" smtClean="0"/>
              <a:t>‹#›</a:t>
            </a:fld>
            <a:endParaRPr lang="en-US" dirty="0"/>
          </a:p>
        </p:txBody>
      </p:sp>
    </p:spTree>
    <p:extLst>
      <p:ext uri="{BB962C8B-B14F-4D97-AF65-F5344CB8AC3E}">
        <p14:creationId xmlns:p14="http://schemas.microsoft.com/office/powerpoint/2010/main" val="3447350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8FD230-E997-462B-B687-9E056212BBD0}" type="datetimeFigureOut">
              <a:rPr lang="en-US" smtClean="0"/>
              <a:t>3/12/2025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E60467-868E-4120-BCCD-97469C488C52}" type="slidenum">
              <a:rPr lang="en-US" smtClean="0"/>
              <a:t>‹#›</a:t>
            </a:fld>
            <a:endParaRPr lang="en-US" dirty="0"/>
          </a:p>
        </p:txBody>
      </p:sp>
    </p:spTree>
    <p:extLst>
      <p:ext uri="{BB962C8B-B14F-4D97-AF65-F5344CB8AC3E}">
        <p14:creationId xmlns:p14="http://schemas.microsoft.com/office/powerpoint/2010/main" val="717933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and welcome to the Americans with Disabilities Act – </a:t>
            </a:r>
            <a:r>
              <a:rPr lang="en-US" sz="1200" b="0" dirty="0">
                <a:solidFill>
                  <a:srgbClr val="1A2026"/>
                </a:solidFill>
              </a:rPr>
              <a:t>5 Titles of the ADA</a:t>
            </a:r>
            <a:r>
              <a:rPr lang="en-US" dirty="0"/>
              <a:t>. A presentation within module 1-Unit 2: ADA Basics of the ADA PARC Participation Equity Navigator Training. Please note that there is an accessible PDF and Rich Text Format handout of this presentation available in Brightspace within module 1, unit 2 of this training course. </a:t>
            </a:r>
          </a:p>
          <a:p>
            <a:r>
              <a:rPr lang="en-US" dirty="0"/>
              <a:t>Moving onto slide 2</a:t>
            </a:r>
          </a:p>
        </p:txBody>
      </p:sp>
      <p:sp>
        <p:nvSpPr>
          <p:cNvPr id="4" name="Slide Number Placeholder 3"/>
          <p:cNvSpPr>
            <a:spLocks noGrp="1"/>
          </p:cNvSpPr>
          <p:nvPr>
            <p:ph type="sldNum" sz="quarter" idx="5"/>
          </p:nvPr>
        </p:nvSpPr>
        <p:spPr/>
        <p:txBody>
          <a:bodyPr/>
          <a:lstStyle/>
          <a:p>
            <a:fld id="{40E60467-868E-4120-BCCD-97469C488C52}" type="slidenum">
              <a:rPr lang="en-US" smtClean="0"/>
              <a:t>1</a:t>
            </a:fld>
            <a:endParaRPr lang="en-US" dirty="0"/>
          </a:p>
        </p:txBody>
      </p:sp>
    </p:spTree>
    <p:extLst>
      <p:ext uri="{BB962C8B-B14F-4D97-AF65-F5344CB8AC3E}">
        <p14:creationId xmlns:p14="http://schemas.microsoft.com/office/powerpoint/2010/main" val="1996388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dirty="0"/>
              <a:t>CLICK</a:t>
            </a:r>
            <a:endParaRPr lang="en-US" sz="11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100" kern="1200" dirty="0">
                <a:solidFill>
                  <a:schemeClr val="tx1"/>
                </a:solidFill>
                <a:effectLst/>
                <a:latin typeface="+mn-lt"/>
                <a:ea typeface="+mn-ea"/>
                <a:cs typeface="+mn-cs"/>
              </a:rPr>
              <a:t>Title I of the ADA covers employment and applies to private employers with 15 or more employees, all state and local government employers, employment agencies, and labor unions. It does not apply to tribal organizations or federal agencies. </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Keep in mind that state law may impose employment access requirements on private employers with fewer employees.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dirty="0"/>
              <a:t>CLICK</a:t>
            </a:r>
            <a:endParaRPr lang="en-US" sz="11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100" kern="1200" dirty="0">
                <a:solidFill>
                  <a:schemeClr val="tx1"/>
                </a:solidFill>
                <a:effectLst/>
                <a:latin typeface="+mn-lt"/>
                <a:ea typeface="+mn-ea"/>
                <a:cs typeface="+mn-cs"/>
              </a:rPr>
              <a:t>Title I provides protection from discrimination and harassment based on disability in all employment practices, such as job application, hiring, employee development/training, promotion, performance management, and termination, and all other employment-related activities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dirty="0"/>
              <a:t>CLICK</a:t>
            </a:r>
            <a:endParaRPr lang="en-US" sz="1100" kern="1200" dirty="0">
              <a:solidFill>
                <a:schemeClr val="tx1"/>
              </a:solidFill>
              <a:effectLst/>
              <a:latin typeface="+mn-lt"/>
              <a:ea typeface="+mn-ea"/>
              <a:cs typeface="+mn-cs"/>
            </a:endParaRPr>
          </a:p>
          <a:p>
            <a:pPr marL="342900" marR="0" lvl="0" indent="-342900">
              <a:lnSpc>
                <a:spcPct val="107000"/>
              </a:lnSpc>
              <a:spcBef>
                <a:spcPts val="0"/>
              </a:spcBef>
              <a:spcAft>
                <a:spcPts val="0"/>
              </a:spcAft>
              <a:buFont typeface="Symbol" panose="05050102010706020507" pitchFamily="18" charset="2"/>
              <a:buChar char=""/>
              <a:tabLst>
                <a:tab pos="457200" algn="l"/>
              </a:tabLs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Employment discrimination oftentimes begins with the hiring process so that’s why it is important to know and remember that:</a:t>
            </a:r>
          </a:p>
          <a:p>
            <a:pPr marL="342900" marR="0" lvl="0" indent="-342900">
              <a:lnSpc>
                <a:spcPct val="107000"/>
              </a:lnSpc>
              <a:spcBef>
                <a:spcPts val="0"/>
              </a:spcBef>
              <a:spcAft>
                <a:spcPts val="0"/>
              </a:spcAft>
              <a:buFont typeface="Symbol" panose="05050102010706020507" pitchFamily="18" charset="2"/>
              <a:buChar char=""/>
              <a:tabLst>
                <a:tab pos="457200" algn="l"/>
              </a:tabLs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The ADA prohibits all disability-related inquiries prior to an offer of employment, even if they are related to the job (including application). </a:t>
            </a:r>
          </a:p>
          <a:p>
            <a:pPr marL="342900" marR="0" lvl="0" indent="-342900">
              <a:lnSpc>
                <a:spcPct val="107000"/>
              </a:lnSpc>
              <a:spcBef>
                <a:spcPts val="0"/>
              </a:spcBef>
              <a:spcAft>
                <a:spcPts val="0"/>
              </a:spcAft>
              <a:buFont typeface="Symbol" panose="05050102010706020507" pitchFamily="18" charset="2"/>
              <a:buChar char=""/>
              <a:tabLst>
                <a:tab pos="457200" algn="l"/>
              </a:tabLs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A disability-related inquiry is any question or series of questions that is likely to solicit information about a disability.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u="none" dirty="0">
                <a:cs typeface="Calibri" pitchFamily="34" charset="0"/>
              </a:rPr>
              <a:t>After an applicant is given a conditional job offer, but before s/he starts work, an employer may make disability-related inquiries and conduct medical examinations, regardless of whether they are related to the job, as long as it does so </a:t>
            </a:r>
            <a:r>
              <a:rPr lang="en-US" sz="1100" b="0" u="none" dirty="0">
                <a:cs typeface="Calibri" pitchFamily="34" charset="0"/>
              </a:rPr>
              <a:t>for all entering employees in the same job category.</a:t>
            </a:r>
            <a:endParaRPr lang="en-US" sz="1100" b="0" i="0" u="none" kern="1200" dirty="0">
              <a:solidFill>
                <a:srgbClr val="484E51"/>
              </a:solidFill>
              <a:effectLst/>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After employment begins, an employer may make disability-related inquiries and require medical examinations </a:t>
            </a:r>
            <a:r>
              <a:rPr lang="en-US" sz="1100" u="none" kern="100" dirty="0">
                <a:effectLst/>
                <a:latin typeface="Calibri" panose="020F0502020204030204" pitchFamily="34" charset="0"/>
                <a:ea typeface="Calibri" panose="020F0502020204030204" pitchFamily="34" charset="0"/>
                <a:cs typeface="Times New Roman" panose="02020603050405020304" pitchFamily="18" charset="0"/>
              </a:rPr>
              <a:t>only if they are job-related and consistent with business necessity.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dirty="0"/>
              <a:t>CLICK</a:t>
            </a:r>
            <a:endParaRPr lang="en-US" sz="11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100" kern="1200" dirty="0">
                <a:solidFill>
                  <a:schemeClr val="tx1"/>
                </a:solidFill>
                <a:effectLst/>
                <a:latin typeface="+mn-lt"/>
                <a:ea typeface="+mn-ea"/>
                <a:cs typeface="+mn-cs"/>
              </a:rPr>
              <a:t>Title I requires covered employers to provide reasonable accommodations to applicants and employees who have disabilities as long as these accommodations do not cause undue hardship.</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dirty="0"/>
              <a:t>CLICK</a:t>
            </a:r>
            <a:endParaRPr lang="en-US" sz="11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100" kern="1200" dirty="0">
                <a:solidFill>
                  <a:schemeClr val="tx1"/>
                </a:solidFill>
                <a:effectLst/>
                <a:latin typeface="+mn-lt"/>
                <a:ea typeface="+mn-ea"/>
                <a:cs typeface="+mn-cs"/>
              </a:rPr>
              <a:t>Title, I provides the right to be free from retaliation should an applicant or employee with a disability exercise their rights under the ADA. </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For example, an employer may not fire or discipline a person with a disability for requesting a reasonable accommodation. </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The employment provisions are intended to provide an equal opportunity so that people with disabilities, like anyone else, can succeed as far as their talents and drive take them.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dirty="0"/>
              <a:t>Double CLICK</a:t>
            </a:r>
            <a:endParaRPr lang="en-US" sz="11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100" kern="1200" dirty="0">
                <a:solidFill>
                  <a:schemeClr val="tx1"/>
                </a:solidFill>
                <a:effectLst/>
                <a:latin typeface="+mn-lt"/>
                <a:ea typeface="+mn-ea"/>
                <a:cs typeface="+mn-cs"/>
              </a:rPr>
              <a:t>The employment provisions of the ADA are enforced by the US Equal Employment Opportunity Commission (EEOC)</a:t>
            </a:r>
          </a:p>
          <a:p>
            <a:r>
              <a:rPr lang="en-US" sz="1100" kern="1200" dirty="0">
                <a:solidFill>
                  <a:schemeClr val="tx1"/>
                </a:solidFill>
                <a:effectLst/>
                <a:latin typeface="+mn-lt"/>
                <a:ea typeface="+mn-ea"/>
                <a:cs typeface="+mn-cs"/>
              </a:rPr>
              <a:t>Moving onto slide 3</a:t>
            </a:r>
          </a:p>
        </p:txBody>
      </p:sp>
      <p:sp>
        <p:nvSpPr>
          <p:cNvPr id="4" name="Slide Number Placeholder 3"/>
          <p:cNvSpPr>
            <a:spLocks noGrp="1"/>
          </p:cNvSpPr>
          <p:nvPr>
            <p:ph type="sldNum" sz="quarter" idx="5"/>
          </p:nvPr>
        </p:nvSpPr>
        <p:spPr/>
        <p:txBody>
          <a:bodyPr/>
          <a:lstStyle/>
          <a:p>
            <a:fld id="{40E60467-868E-4120-BCCD-97469C488C52}" type="slidenum">
              <a:rPr lang="en-US" smtClean="0"/>
              <a:t>2</a:t>
            </a:fld>
            <a:endParaRPr lang="en-US" dirty="0"/>
          </a:p>
        </p:txBody>
      </p:sp>
    </p:spTree>
    <p:extLst>
      <p:ext uri="{BB962C8B-B14F-4D97-AF65-F5344CB8AC3E}">
        <p14:creationId xmlns:p14="http://schemas.microsoft.com/office/powerpoint/2010/main" val="3057334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50837" y="4459526"/>
            <a:ext cx="6629400" cy="4224814"/>
          </a:xfrm>
        </p:spPr>
        <p:txBody>
          <a:bodyPr/>
          <a:lstStyle/>
          <a:p>
            <a:pPr marL="171450" indent="-171450" algn="l">
              <a:spcBef>
                <a:spcPts val="0"/>
              </a:spcBef>
              <a:spcAft>
                <a:spcPts val="600"/>
              </a:spcAft>
              <a:buFont typeface="Arial" panose="020B0604020202020204" pitchFamily="34" charset="0"/>
              <a:buChar char="•"/>
            </a:pPr>
            <a:r>
              <a:rPr lang="en-US" i="0" dirty="0">
                <a:latin typeface="+mn-lt"/>
              </a:rPr>
              <a:t>The definition of reasonable accommodation stated on this slide is the one put forth by the EEOC: “…Any change in the work environment or in the way things are customarily done that enables an individual with a disability to enjoy equal employment opportunities.” It is simply any change made to ensure that someone can fully contribute.</a:t>
            </a:r>
          </a:p>
          <a:p>
            <a:pPr marL="171450" indent="-171450" algn="l">
              <a:spcBef>
                <a:spcPts val="0"/>
              </a:spcBef>
              <a:spcAft>
                <a:spcPts val="600"/>
              </a:spcAft>
              <a:buFont typeface="Arial" panose="020B0604020202020204" pitchFamily="34" charset="0"/>
              <a:buChar char="•"/>
            </a:pPr>
            <a:r>
              <a:rPr lang="en-US" i="0" dirty="0">
                <a:latin typeface="+mn-lt"/>
              </a:rPr>
              <a:t>The ADA provides reasonable accommodations to ensure people with disabilities have an equal opportunity to compete and be evaluated on their merits or worth not their disability. </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200" b="1" dirty="0"/>
              <a:t>DOUBLE CLICK</a:t>
            </a:r>
            <a:endParaRPr lang="en-US" i="0" dirty="0">
              <a:latin typeface="+mn-lt"/>
            </a:endParaRPr>
          </a:p>
          <a:p>
            <a:pPr marL="171450" indent="-171450" algn="l">
              <a:spcBef>
                <a:spcPts val="0"/>
              </a:spcBef>
              <a:spcAft>
                <a:spcPts val="600"/>
              </a:spcAft>
              <a:buFont typeface="Arial" panose="020B0604020202020204" pitchFamily="34" charset="0"/>
              <a:buChar char="•"/>
            </a:pPr>
            <a:r>
              <a:rPr lang="en-US" i="0" dirty="0">
                <a:latin typeface="+mn-lt"/>
              </a:rPr>
              <a:t>The purpose of reasonable accommodations is not to provide an advantage but to make the person’s opportunity for success or failure equal to someone who does not have a disability – this is demonstrated by the equality vs. Equity image shown on this slide.</a:t>
            </a:r>
          </a:p>
          <a:p>
            <a:pPr marL="171450" indent="-171450" algn="l">
              <a:spcBef>
                <a:spcPts val="0"/>
              </a:spcBef>
              <a:spcAft>
                <a:spcPts val="600"/>
              </a:spcAft>
              <a:buFont typeface="Arial" panose="020B0604020202020204" pitchFamily="34" charset="0"/>
              <a:buChar char="•"/>
            </a:pPr>
            <a:r>
              <a:rPr lang="en-US" i="0" dirty="0">
                <a:latin typeface="+mn-lt"/>
              </a:rPr>
              <a:t>On the left side of the image is an apple tree with three people of varying heights standing on the same size box and all reaching for an equally situated apple but only the tallest person can reach the apple. This is equality.</a:t>
            </a:r>
          </a:p>
          <a:p>
            <a:pPr marL="171450" indent="-171450" algn="l">
              <a:spcBef>
                <a:spcPts val="0"/>
              </a:spcBef>
              <a:spcAft>
                <a:spcPts val="600"/>
              </a:spcAft>
              <a:buFont typeface="Arial" panose="020B0604020202020204" pitchFamily="34" charset="0"/>
              <a:buChar char="•"/>
            </a:pPr>
            <a:r>
              <a:rPr lang="en-US" i="0" dirty="0">
                <a:latin typeface="+mn-lt"/>
              </a:rPr>
              <a:t>On the right side of the image is the same apple tree and the same three people but this time the individuals are standing on different size boxes which illustrates reasonable accommodation and now all three individuals have the same opportunity to reach the apple regardless of their height.  This is equity.</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200" b="1" dirty="0"/>
              <a:t>CLICK</a:t>
            </a:r>
            <a:endParaRPr lang="en-US" i="0" dirty="0">
              <a:latin typeface="+mn-lt"/>
            </a:endParaRPr>
          </a:p>
          <a:p>
            <a:pPr marL="171450" indent="-171450" algn="l">
              <a:spcBef>
                <a:spcPts val="0"/>
              </a:spcBef>
              <a:spcAft>
                <a:spcPts val="600"/>
              </a:spcAft>
              <a:buFont typeface="Arial" panose="020B0604020202020204" pitchFamily="34" charset="0"/>
              <a:buChar char="•"/>
            </a:pPr>
            <a:r>
              <a:rPr lang="en-US" i="0" dirty="0">
                <a:latin typeface="+mn-lt"/>
              </a:rPr>
              <a:t>Reasonable accommodations don’t just apply to on-the-job functions. Job applicants also have a right to an accommodation to fully participate in the hiring process. </a:t>
            </a:r>
          </a:p>
          <a:p>
            <a:pPr marL="171450" indent="-171450" algn="l">
              <a:spcBef>
                <a:spcPts val="0"/>
              </a:spcBef>
              <a:spcAft>
                <a:spcPts val="600"/>
              </a:spcAft>
              <a:buFont typeface="Arial" panose="020B0604020202020204" pitchFamily="34" charset="0"/>
              <a:buChar char="•"/>
            </a:pPr>
            <a:r>
              <a:rPr lang="en-US" i="0" dirty="0">
                <a:latin typeface="+mn-lt"/>
              </a:rPr>
              <a:t>Under the ADA, employers need to provide reasonable accommodations to address barriers created by the work environment, facilities, or policies/processes/or practices.</a:t>
            </a:r>
          </a:p>
          <a:p>
            <a:pPr marL="171450" indent="-171450" algn="l">
              <a:spcBef>
                <a:spcPts val="0"/>
              </a:spcBef>
              <a:spcAft>
                <a:spcPts val="600"/>
              </a:spcAft>
              <a:buFont typeface="Arial" panose="020B0604020202020204" pitchFamily="34" charset="0"/>
              <a:buChar char="•"/>
            </a:pPr>
            <a:r>
              <a:rPr lang="en-US" i="0" dirty="0">
                <a:latin typeface="+mn-lt"/>
              </a:rPr>
              <a:t>Reasonable accommodations also apply to benefits of employment; for example, accommodations must be provided to enable an employee to attend a training session or conference if this is a benefit that would be given to other employees in the same job class.</a:t>
            </a:r>
          </a:p>
          <a:p>
            <a:pPr marL="0" indent="0" algn="l">
              <a:spcBef>
                <a:spcPts val="0"/>
              </a:spcBef>
              <a:spcAft>
                <a:spcPts val="600"/>
              </a:spcAft>
              <a:buFont typeface="Arial" panose="020B0604020202020204" pitchFamily="34" charset="0"/>
              <a:buNone/>
            </a:pPr>
            <a:r>
              <a:rPr lang="en-US" i="0" dirty="0">
                <a:latin typeface="+mn-lt"/>
              </a:rPr>
              <a:t>Moving onto slide 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C8490EB-BBD6-44CF-B6C3-E25565D38F0B}" type="slidenum">
              <a:rPr lang="en-US" smtClean="0"/>
              <a:t>3</a:t>
            </a:fld>
            <a:endParaRPr lang="en-US" dirty="0"/>
          </a:p>
        </p:txBody>
      </p:sp>
    </p:spTree>
    <p:extLst>
      <p:ext uri="{BB962C8B-B14F-4D97-AF65-F5344CB8AC3E}">
        <p14:creationId xmlns:p14="http://schemas.microsoft.com/office/powerpoint/2010/main" val="1741705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50837" y="4459526"/>
            <a:ext cx="6115277" cy="4224814"/>
          </a:xfrm>
        </p:spPr>
        <p:txBody>
          <a:bodyPr/>
          <a:lstStyle/>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The goal of reasonable accommodation is to keep an employee working in their current position. </a:t>
            </a: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An employer is obligated to provide a reasonable and effective accommodation that addresses the barrier the employee is facing, not necessarily what the employee has specifically requested</a:t>
            </a: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For example, an employee with ADHD could request to work from home because the office environment is too noisy and distracting. </a:t>
            </a: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As an alternative, the employer could modify their policy to allow the employee to use an empty office room with a door rather than the standard cubicle.</a:t>
            </a: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They could also provide a noise-canceling headset rather than the headset model that is typically provided to staff.</a:t>
            </a:r>
          </a:p>
          <a:p>
            <a:pPr marL="0" marR="0" lvl="0" indent="0" algn="l" defTabSz="483306" rtl="0" eaLnBrk="1" fontAlgn="auto" latinLnBrk="0" hangingPunct="1">
              <a:lnSpc>
                <a:spcPct val="100000"/>
              </a:lnSpc>
              <a:spcBef>
                <a:spcPct val="0"/>
              </a:spcBef>
              <a:spcAft>
                <a:spcPts val="0"/>
              </a:spcAft>
              <a:buClrTx/>
              <a:buSzTx/>
              <a:buFont typeface="Arial" panose="020B0604020202020204" pitchFamily="34" charset="0"/>
              <a:buNone/>
              <a:tabLst/>
              <a:defRPr/>
            </a:pPr>
            <a:r>
              <a:rPr lang="en-US" sz="1200" b="1" dirty="0"/>
              <a:t>CLICK</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Accommodations must be reasonable--that is--feasible and plausible which is accessed through an individual case-by-case basis.</a:t>
            </a: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If a particular accommodation would be an undue hardship, an employer must try to identify another accommodation that will not pose such a hardship.</a:t>
            </a: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Additionally, reasonable accommodations can be temporary for a designated period of time such as while someone is undergoing medical treatment.</a:t>
            </a:r>
          </a:p>
          <a:p>
            <a:pPr marL="0" marR="0" lvl="0" indent="0" algn="l" defTabSz="483306" rtl="0" eaLnBrk="1" fontAlgn="auto" latinLnBrk="0" hangingPunct="1">
              <a:lnSpc>
                <a:spcPct val="100000"/>
              </a:lnSpc>
              <a:spcBef>
                <a:spcPct val="0"/>
              </a:spcBef>
              <a:spcAft>
                <a:spcPts val="0"/>
              </a:spcAft>
              <a:buClrTx/>
              <a:buSzTx/>
              <a:buFont typeface="Arial" panose="020B0604020202020204" pitchFamily="34" charset="0"/>
              <a:buNone/>
              <a:tabLst/>
              <a:defRPr/>
            </a:pPr>
            <a:r>
              <a:rPr lang="en-US" sz="1200" b="1" dirty="0"/>
              <a:t>CLICK</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Reasonable Accommodations Do NOT include elimination of an essential function: Marginal functions can be removed or reassigned as a reasonable accommodation. </a:t>
            </a:r>
            <a:endParaRPr lang="en-US" sz="1200" b="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483306" rtl="0" eaLnBrk="1" fontAlgn="auto" latinLnBrk="0" hangingPunct="1">
              <a:lnSpc>
                <a:spcPct val="100000"/>
              </a:lnSpc>
              <a:spcBef>
                <a:spcPct val="0"/>
              </a:spcBef>
              <a:spcAft>
                <a:spcPts val="0"/>
              </a:spcAft>
              <a:buClrTx/>
              <a:buSzTx/>
              <a:buFont typeface="Arial" panose="020B0604020202020204" pitchFamily="34" charset="0"/>
              <a:buNone/>
              <a:tabLst/>
              <a:defRPr/>
            </a:pPr>
            <a:r>
              <a:rPr lang="en-US" sz="1200" b="1" dirty="0"/>
              <a:t>CLICK</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Reasonable Accommodations Do NOT include lowering production standards</a:t>
            </a: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It may be necessary to consider removing marginal job tasks to free-up time to enable an employee who is having difficulty completing documentation due to a disability-related reason to close the required number of cases in a timely manner, but the number of cases does not need to be reduced.</a:t>
            </a:r>
            <a:endParaRPr lang="en-US" sz="1200" b="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483306" rtl="0" eaLnBrk="1" fontAlgn="auto" latinLnBrk="0" hangingPunct="1">
              <a:lnSpc>
                <a:spcPct val="100000"/>
              </a:lnSpc>
              <a:spcBef>
                <a:spcPct val="0"/>
              </a:spcBef>
              <a:spcAft>
                <a:spcPts val="0"/>
              </a:spcAft>
              <a:buClrTx/>
              <a:buSzTx/>
              <a:buFont typeface="Arial" panose="020B0604020202020204" pitchFamily="34" charset="0"/>
              <a:buNone/>
              <a:tabLst/>
              <a:defRPr/>
            </a:pPr>
            <a:r>
              <a:rPr lang="en-US" sz="1200" b="1" dirty="0"/>
              <a:t>CLICK</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Reasonable Accommodations Do NOT include transfer to a different supervisor</a:t>
            </a: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An employer does not have to provide an employee with a new supervisor as a reasonable accommodation, but may need to implement other types of accommodations, like changes in supervisory methods such as providing clear written expectations and instructions. </a:t>
            </a:r>
          </a:p>
          <a:p>
            <a:pPr marL="0" marR="0" lvl="0" indent="0" algn="l" defTabSz="483306" rtl="0" eaLnBrk="1" fontAlgn="auto" latinLnBrk="0" hangingPunct="1">
              <a:lnSpc>
                <a:spcPct val="100000"/>
              </a:lnSpc>
              <a:spcBef>
                <a:spcPct val="0"/>
              </a:spcBef>
              <a:spcAft>
                <a:spcPts val="0"/>
              </a:spcAft>
              <a:buClrTx/>
              <a:buSzTx/>
              <a:buFont typeface="Arial" panose="020B0604020202020204" pitchFamily="34" charset="0"/>
              <a:buNone/>
              <a:tabLst/>
              <a:defRPr/>
            </a:pPr>
            <a:r>
              <a:rPr lang="en-US" sz="1200" b="1" dirty="0"/>
              <a:t>CLICK</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Reasonable Accommodations Do NOT include providing personal use items unless only needed at work</a:t>
            </a: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An employer is not required to provide an accommodation that is primarily for personal use. </a:t>
            </a: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However, personal items may be required as a reasonable accommodation when they are only needed at work such as computer glasses, hearing devices that only work with the company phone, cooling vest, specialized safety equipment, etc. </a:t>
            </a:r>
          </a:p>
          <a:p>
            <a:pPr marL="0" marR="0" lvl="0" indent="0" algn="l" defTabSz="483306" rtl="0" eaLnBrk="1" fontAlgn="auto" latinLnBrk="0" hangingPunct="1">
              <a:lnSpc>
                <a:spcPct val="100000"/>
              </a:lnSpc>
              <a:spcBef>
                <a:spcPct val="0"/>
              </a:spcBef>
              <a:spcAft>
                <a:spcPts val="0"/>
              </a:spcAft>
              <a:buClrTx/>
              <a:buSzTx/>
              <a:buFont typeface="Arial" panose="020B0604020202020204" pitchFamily="34" charset="0"/>
              <a:buNone/>
              <a:tabLst/>
              <a:defRPr/>
            </a:pPr>
            <a:r>
              <a:rPr lang="en-US" sz="1200" b="1" dirty="0"/>
              <a:t>CLICK</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483306"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Another concept of RA is that the ADA requirements do not prevent an employer from providing accommodations beyond what is required by the ADA.</a:t>
            </a:r>
          </a:p>
          <a:p>
            <a:pPr marL="0" marR="0" lvl="0" indent="0" algn="l" defTabSz="483306" rtl="0" eaLnBrk="1" fontAlgn="auto" latinLnBrk="0" hangingPunct="1">
              <a:lnSpc>
                <a:spcPct val="100000"/>
              </a:lnSpc>
              <a:spcBef>
                <a:spcPct val="0"/>
              </a:spcBef>
              <a:spcAft>
                <a:spcPts val="0"/>
              </a:spcAft>
              <a:buClrTx/>
              <a:buSzTx/>
              <a:buFont typeface="Arial" panose="020B0604020202020204" pitchFamily="34" charset="0"/>
              <a:buNone/>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Moving onto slide 5</a:t>
            </a:r>
          </a:p>
          <a:p>
            <a:pPr marL="0" marR="0" lvl="0" indent="0">
              <a:lnSpc>
                <a:spcPct val="107000"/>
              </a:lnSpc>
              <a:spcBef>
                <a:spcPts val="0"/>
              </a:spcBef>
              <a:spcAft>
                <a:spcPts val="800"/>
              </a:spcAft>
              <a:buFont typeface="Symbol" panose="05050102010706020507" pitchFamily="18" charset="2"/>
              <a:buNone/>
              <a:tabLst>
                <a:tab pos="457200" algn="l"/>
              </a:tabLst>
            </a:pP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CC8490EB-BBD6-44CF-B6C3-E25565D38F0B}" type="slidenum">
              <a:rPr lang="en-US" smtClean="0"/>
              <a:t>4</a:t>
            </a:fld>
            <a:endParaRPr lang="en-US" dirty="0"/>
          </a:p>
        </p:txBody>
      </p:sp>
    </p:spTree>
    <p:extLst>
      <p:ext uri="{BB962C8B-B14F-4D97-AF65-F5344CB8AC3E}">
        <p14:creationId xmlns:p14="http://schemas.microsoft.com/office/powerpoint/2010/main" val="22791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Myth or Fact: </a:t>
            </a:r>
            <a:r>
              <a:rPr lang="en-US" sz="1200" b="0" i="1" dirty="0">
                <a:cs typeface="Calibri" pitchFamily="34" charset="0"/>
              </a:rPr>
              <a:t>Employers can discipline and/or terminate an employee with a disability. </a:t>
            </a:r>
          </a:p>
          <a:p>
            <a:pPr marL="0" indent="0">
              <a:buFont typeface="Arial" panose="020B0604020202020204" pitchFamily="34" charset="0"/>
              <a:buNone/>
            </a:pPr>
            <a:r>
              <a:rPr lang="en-US" sz="1200" b="1" kern="1200" dirty="0">
                <a:solidFill>
                  <a:schemeClr val="tx1"/>
                </a:solidFill>
                <a:effectLst/>
                <a:latin typeface="+mn-lt"/>
                <a:ea typeface="+mn-ea"/>
                <a:cs typeface="+mn-cs"/>
              </a:rPr>
              <a:t>Double CLICK</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This is a “fact.”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Employees with disabilities can be held to the same performance standards as any other employee.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An employer pitfall is not applying performance standards equally across all employees but rather only when there is an issue or concern such as disability.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kern="1200" dirty="0">
                <a:solidFill>
                  <a:schemeClr val="tx1"/>
                </a:solidFill>
                <a:effectLst/>
                <a:latin typeface="+mn-lt"/>
                <a:ea typeface="+mn-ea"/>
                <a:cs typeface="+mn-cs"/>
              </a:rPr>
              <a:t>CLICK</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Additionally, an employer must consider whether an accommodation is needed to meet the standard.</a:t>
            </a:r>
          </a:p>
          <a:p>
            <a:r>
              <a:rPr lang="en-US" dirty="0"/>
              <a:t>Moving on to Slide 6</a:t>
            </a:r>
          </a:p>
        </p:txBody>
      </p:sp>
      <p:sp>
        <p:nvSpPr>
          <p:cNvPr id="4" name="Slide Number Placeholder 3"/>
          <p:cNvSpPr>
            <a:spLocks noGrp="1"/>
          </p:cNvSpPr>
          <p:nvPr>
            <p:ph type="sldNum" sz="quarter" idx="5"/>
          </p:nvPr>
        </p:nvSpPr>
        <p:spPr/>
        <p:txBody>
          <a:bodyPr/>
          <a:lstStyle/>
          <a:p>
            <a:fld id="{40E60467-868E-4120-BCCD-97469C488C52}" type="slidenum">
              <a:rPr lang="en-US" smtClean="0"/>
              <a:t>5</a:t>
            </a:fld>
            <a:endParaRPr lang="en-US" dirty="0"/>
          </a:p>
        </p:txBody>
      </p:sp>
    </p:spTree>
    <p:extLst>
      <p:ext uri="{BB962C8B-B14F-4D97-AF65-F5344CB8AC3E}">
        <p14:creationId xmlns:p14="http://schemas.microsoft.com/office/powerpoint/2010/main" val="3706336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5888"/>
            <a:ext cx="5486400" cy="3086100"/>
          </a:xfrm>
        </p:spPr>
      </p:sp>
      <p:sp>
        <p:nvSpPr>
          <p:cNvPr id="3" name="Notes Placeholder 2"/>
          <p:cNvSpPr>
            <a:spLocks noGrp="1"/>
          </p:cNvSpPr>
          <p:nvPr>
            <p:ph type="body" idx="1"/>
          </p:nvPr>
        </p:nvSpPr>
        <p:spPr>
          <a:xfrm>
            <a:off x="149577" y="3352800"/>
            <a:ext cx="6558845" cy="5675312"/>
          </a:xfrm>
        </p:spPr>
        <p: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US" sz="1800" b="1" dirty="0"/>
              <a:t>CLICK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107000"/>
              </a:lnSpc>
              <a:spcBef>
                <a:spcPts val="0"/>
              </a:spcBef>
              <a:spcAft>
                <a:spcPts val="800"/>
              </a:spcAft>
              <a:buFont typeface="Arial" panose="020B0604020202020204" pitchFamily="34" charset="0"/>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Title II of the ADA covers state and local government and provides protections to qualified individuals with disabilities </a:t>
            </a:r>
          </a:p>
          <a:p>
            <a:pPr marL="285750" marR="0" indent="-285750">
              <a:lnSpc>
                <a:spcPct val="107000"/>
              </a:lnSpc>
              <a:spcBef>
                <a:spcPts val="0"/>
              </a:spcBef>
              <a:spcAft>
                <a:spcPts val="800"/>
              </a:spcAft>
              <a:buFont typeface="Arial" panose="020B0604020202020204" pitchFamily="34" charset="0"/>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When you think about “local government” this is your county government and your city or town government. It covers places and things like public education, public transportation, recreation programs, health care, social services, courts, voting, emergency services, libraries, renewing licenses, attending town meetings, and conducting other governed business or programs.</a:t>
            </a: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US" sz="1800" b="1" dirty="0"/>
              <a:t>CLICK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107000"/>
              </a:lnSpc>
              <a:spcBef>
                <a:spcPts val="0"/>
              </a:spcBef>
              <a:spcAft>
                <a:spcPts val="800"/>
              </a:spcAft>
              <a:buFont typeface="Arial" panose="020B0604020202020204" pitchFamily="34" charset="0"/>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Title II prohibits disability discrimination and harassment. </a:t>
            </a: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US" sz="1800" b="1" dirty="0"/>
              <a:t>CLICK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107000"/>
              </a:lnSpc>
              <a:spcBef>
                <a:spcPts val="0"/>
              </a:spcBef>
              <a:spcAft>
                <a:spcPts val="800"/>
              </a:spcAft>
              <a:buFont typeface="Arial" panose="020B0604020202020204" pitchFamily="34" charset="0"/>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Title II requires effective communication, reasonable modifications, and program access. Effective communication and reasonable modifications will be discussed in </a:t>
            </a:r>
            <a:r>
              <a:rPr lang="en-US" sz="1800" b="0" dirty="0"/>
              <a:t>the </a:t>
            </a:r>
            <a:r>
              <a:rPr lang="en-US" sz="1800" b="0" i="1" dirty="0">
                <a:solidFill>
                  <a:srgbClr val="1A2026"/>
                </a:solidFill>
              </a:rPr>
              <a:t>Americans with Disabilities Act–Requirements </a:t>
            </a:r>
            <a:r>
              <a:rPr lang="en-US" sz="1800" b="0" i="0" dirty="0">
                <a:solidFill>
                  <a:srgbClr val="1A2026"/>
                </a:solidFill>
              </a:rPr>
              <a:t>presentation</a:t>
            </a:r>
            <a:r>
              <a:rPr lang="en-US" sz="1800" b="0" dirty="0"/>
              <a:t>.</a:t>
            </a:r>
          </a:p>
          <a:p>
            <a:pPr marL="0" marR="0" indent="0">
              <a:lnSpc>
                <a:spcPct val="107000"/>
              </a:lnSpc>
              <a:spcBef>
                <a:spcPts val="0"/>
              </a:spcBef>
              <a:spcAft>
                <a:spcPts val="800"/>
              </a:spcAft>
              <a:buFont typeface="Arial" panose="020B0604020202020204" pitchFamily="34" charset="0"/>
              <a:buNone/>
            </a:pPr>
            <a:r>
              <a:rPr lang="en-US" sz="1800" b="1" dirty="0"/>
              <a:t>DOUBLE CLICK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107000"/>
              </a:lnSpc>
              <a:spcBef>
                <a:spcPts val="0"/>
              </a:spcBef>
              <a:spcAft>
                <a:spcPts val="800"/>
              </a:spcAft>
              <a:buFont typeface="Arial" panose="020B0604020202020204" pitchFamily="34" charset="0"/>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Title II of the ADA is enforced by the US Department of Justice</a:t>
            </a:r>
          </a:p>
          <a:p>
            <a:pPr marL="0" marR="0" indent="0">
              <a:lnSpc>
                <a:spcPct val="107000"/>
              </a:lnSpc>
              <a:spcBef>
                <a:spcPts val="0"/>
              </a:spcBef>
              <a:spcAft>
                <a:spcPts val="800"/>
              </a:spcAft>
              <a:buFont typeface="Arial" panose="020B0604020202020204" pitchFamily="34" charset="0"/>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Moving onto slide 7</a:t>
            </a:r>
          </a:p>
          <a:p>
            <a:endParaRPr lang="en-US" dirty="0"/>
          </a:p>
        </p:txBody>
      </p:sp>
      <p:sp>
        <p:nvSpPr>
          <p:cNvPr id="4" name="Slide Number Placeholder 3"/>
          <p:cNvSpPr>
            <a:spLocks noGrp="1"/>
          </p:cNvSpPr>
          <p:nvPr>
            <p:ph type="sldNum" sz="quarter" idx="5"/>
          </p:nvPr>
        </p:nvSpPr>
        <p:spPr/>
        <p:txBody>
          <a:bodyPr/>
          <a:lstStyle/>
          <a:p>
            <a:fld id="{40E60467-868E-4120-BCCD-97469C488C52}" type="slidenum">
              <a:rPr lang="en-US" smtClean="0"/>
              <a:t>6</a:t>
            </a:fld>
            <a:endParaRPr lang="en-US" dirty="0"/>
          </a:p>
        </p:txBody>
      </p:sp>
    </p:spTree>
    <p:extLst>
      <p:ext uri="{BB962C8B-B14F-4D97-AF65-F5344CB8AC3E}">
        <p14:creationId xmlns:p14="http://schemas.microsoft.com/office/powerpoint/2010/main" val="532194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338"/>
            <a:ext cx="5486400" cy="3086100"/>
          </a:xfrm>
        </p:spPr>
      </p:sp>
      <p:sp>
        <p:nvSpPr>
          <p:cNvPr id="3" name="Notes Placeholder 2"/>
          <p:cNvSpPr>
            <a:spLocks noGrp="1"/>
          </p:cNvSpPr>
          <p:nvPr>
            <p:ph type="body" idx="1"/>
          </p:nvPr>
        </p:nvSpPr>
        <p:spPr>
          <a:xfrm>
            <a:off x="158045" y="3246438"/>
            <a:ext cx="6536266" cy="5737224"/>
          </a:xfrm>
        </p:spPr>
        <p:txBody>
          <a:bodyPr/>
          <a:lstStyle/>
          <a:p>
            <a:pPr marL="342900" marR="0" lvl="0" indent="-342900">
              <a:lnSpc>
                <a:spcPct val="107000"/>
              </a:lnSpc>
              <a:spcBef>
                <a:spcPts val="0"/>
              </a:spcBef>
              <a:spcAft>
                <a:spcPts val="0"/>
              </a:spcAft>
              <a:buFont typeface="Symbol" panose="05050102010706020507" pitchFamily="18" charset="2"/>
              <a:buChar char=""/>
            </a:pPr>
            <a:r>
              <a:rPr lang="en-US" sz="1400" kern="0" dirty="0">
                <a:effectLst/>
                <a:latin typeface="Calibri" panose="020F0502020204030204" pitchFamily="34" charset="0"/>
                <a:ea typeface="Times New Roman" panose="02020603050405020304" pitchFamily="18" charset="0"/>
                <a:cs typeface="Calibri" panose="020F0502020204030204" pitchFamily="34" charset="0"/>
              </a:rPr>
              <a:t>A public entity may not deny the benefits of its programs, activities, and services to individuals with disabilities because its facilities are inaccessible. </a:t>
            </a:r>
          </a:p>
          <a:p>
            <a:pPr marL="342900" marR="0" lvl="0" indent="-342900">
              <a:lnSpc>
                <a:spcPct val="107000"/>
              </a:lnSpc>
              <a:spcBef>
                <a:spcPts val="0"/>
              </a:spcBef>
              <a:spcAft>
                <a:spcPts val="0"/>
              </a:spcAft>
              <a:buFont typeface="Symbol" panose="05050102010706020507" pitchFamily="18" charset="2"/>
              <a:buChar char=""/>
            </a:pPr>
            <a:r>
              <a:rPr lang="en-US" sz="1400" kern="0" dirty="0">
                <a:effectLst/>
                <a:latin typeface="Calibri" panose="020F0502020204030204" pitchFamily="34" charset="0"/>
                <a:ea typeface="Times New Roman" panose="02020603050405020304" pitchFamily="18" charset="0"/>
                <a:cs typeface="Calibri" panose="020F0502020204030204" pitchFamily="34" charset="0"/>
              </a:rPr>
              <a:t>A public entity's services, programs, or activities, when viewed in their entirety, must be readily accessible to and usable by individuals with disabilities. This standard, known as "program access," applies to all existing facilities of a public entity.   </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400" kern="0" dirty="0">
                <a:effectLst/>
                <a:latin typeface="Calibri" panose="020F0502020204030204" pitchFamily="34" charset="0"/>
                <a:ea typeface="Times New Roman" panose="02020603050405020304" pitchFamily="18" charset="0"/>
                <a:cs typeface="Calibri" panose="020F0502020204030204" pitchFamily="34" charset="0"/>
              </a:rPr>
              <a:t>Public entities are not necessarily required to make each of their existing facilities accessible or every aspect of a facility structurally accessible. This allows for both structural and non-structural methods of achieving program accessibility. </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en-US" sz="2400" b="1" dirty="0"/>
              <a:t>CLICK</a:t>
            </a:r>
            <a:endParaRPr lang="en-US" sz="2400" b="0" i="0" dirty="0">
              <a:effectLst/>
            </a:endParaRPr>
          </a:p>
          <a:p>
            <a:pPr marL="342900" indent="-342900">
              <a:lnSpc>
                <a:spcPct val="100000"/>
              </a:lnSpc>
              <a:spcBef>
                <a:spcPts val="0"/>
              </a:spcBef>
              <a:spcAft>
                <a:spcPts val="1200"/>
              </a:spcAft>
              <a:buFont typeface="Arial" panose="020B0604020202020204" pitchFamily="34" charset="0"/>
              <a:buChar char="•"/>
            </a:pPr>
            <a:r>
              <a:rPr lang="en-US" sz="2400" b="0" i="0" dirty="0">
                <a:effectLst/>
              </a:rPr>
              <a:t>Examples</a:t>
            </a:r>
            <a:r>
              <a:rPr lang="en-US" sz="2600" b="0" i="0" dirty="0">
                <a:effectLst/>
              </a:rPr>
              <a:t> of non-structural methods include </a:t>
            </a:r>
            <a:r>
              <a:rPr lang="en-US" sz="2200" b="0" i="0" dirty="0">
                <a:effectLst/>
              </a:rPr>
              <a:t>r</a:t>
            </a:r>
            <a:r>
              <a:rPr lang="en-US" sz="2200" dirty="0"/>
              <a:t>eassigning services to accessible locations, home visits, purchase or redesign of equipment, or offering aide/assistance.</a:t>
            </a:r>
          </a:p>
          <a:p>
            <a:pPr marL="342900" marR="0" lvl="0" indent="-3429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400" dirty="0"/>
              <a:t>Displayed on this slide is a photo of a healthcare worker kneeling down next to an older woman’s wheelchair, and they are both holding a clipboard.</a:t>
            </a:r>
            <a:endParaRPr lang="en-US" sz="1400" kern="0" dirty="0">
              <a:effectLst/>
              <a:latin typeface="Calibri" panose="020F0502020204030204" pitchFamily="34" charset="0"/>
              <a:ea typeface="Times New Roman" panose="02020603050405020304" pitchFamily="18" charset="0"/>
              <a:cs typeface="Calibri" panose="020F050202020403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400" kern="0" dirty="0">
                <a:effectLst/>
                <a:latin typeface="Calibri" panose="020F0502020204030204" pitchFamily="34" charset="0"/>
                <a:ea typeface="Times New Roman" panose="02020603050405020304" pitchFamily="18" charset="0"/>
                <a:cs typeface="Calibri" panose="020F0502020204030204" pitchFamily="34" charset="0"/>
              </a:rPr>
              <a:t>To evaluate the accessibility and usability of a library system with six branches in its entirety, it is necessary to consider:</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0"/>
              </a:spcAft>
              <a:buFont typeface="+mj-lt"/>
              <a:buAutoNum type="arabicPeriod"/>
              <a:tabLst>
                <a:tab pos="448945" algn="l"/>
              </a:tabLst>
            </a:pPr>
            <a:r>
              <a:rPr lang="en-US" sz="1400" kern="0" dirty="0">
                <a:effectLst/>
                <a:latin typeface="Calibri" panose="020F0502020204030204" pitchFamily="34" charset="0"/>
                <a:ea typeface="Times New Roman" panose="02020603050405020304" pitchFamily="18" charset="0"/>
                <a:cs typeface="Calibri" panose="020F0502020204030204" pitchFamily="34" charset="0"/>
              </a:rPr>
              <a:t>The resources and activities provided in each library and facility</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0"/>
              </a:spcAft>
              <a:buFont typeface="+mj-lt"/>
              <a:buAutoNum type="arabicPeriod"/>
              <a:tabLst>
                <a:tab pos="448945" algn="l"/>
              </a:tabLst>
            </a:pPr>
            <a:r>
              <a:rPr lang="en-US" sz="1400" kern="0" dirty="0">
                <a:effectLst/>
                <a:latin typeface="Calibri" panose="020F0502020204030204" pitchFamily="34" charset="0"/>
                <a:ea typeface="Times New Roman" panose="02020603050405020304" pitchFamily="18" charset="0"/>
                <a:cs typeface="Calibri" panose="020F0502020204030204" pitchFamily="34" charset="0"/>
              </a:rPr>
              <a:t>The operation of the libraries in the system as a network</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0"/>
              </a:spcAft>
              <a:buFont typeface="+mj-lt"/>
              <a:buAutoNum type="arabicPeriod"/>
              <a:tabLst>
                <a:tab pos="448945" algn="l"/>
              </a:tabLst>
            </a:pPr>
            <a:r>
              <a:rPr lang="en-US" sz="1400" kern="0" dirty="0">
                <a:effectLst/>
                <a:latin typeface="Calibri" panose="020F0502020204030204" pitchFamily="34" charset="0"/>
                <a:ea typeface="Times New Roman" panose="02020603050405020304" pitchFamily="18" charset="0"/>
                <a:cs typeface="Calibri" panose="020F0502020204030204" pitchFamily="34" charset="0"/>
              </a:rPr>
              <a:t>Any out-of-building activities that are part of the operation of the system. </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nSpc>
                <a:spcPct val="107000"/>
              </a:lnSpc>
              <a:spcBef>
                <a:spcPts val="0"/>
              </a:spcBef>
              <a:spcAft>
                <a:spcPts val="0"/>
              </a:spcAft>
              <a:buFont typeface="Wingdings" panose="05000000000000000000" pitchFamily="2" charset="2"/>
              <a:buChar char="Ø"/>
            </a:pPr>
            <a:r>
              <a:rPr lang="en-US" sz="1400" kern="0" dirty="0">
                <a:effectLst/>
                <a:latin typeface="Calibri" panose="020F0502020204030204" pitchFamily="34" charset="0"/>
                <a:ea typeface="Times New Roman" panose="02020603050405020304" pitchFamily="18" charset="0"/>
                <a:cs typeface="Calibri" panose="020F0502020204030204" pitchFamily="34" charset="0"/>
              </a:rPr>
              <a:t>Answering these questions will determine whether all the services and resources available in the system as a whole are available in accessible locations. </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0"/>
              </a:spcAft>
              <a:buClrTx/>
              <a:buSzTx/>
              <a:buFont typeface="Symbol" panose="05050102010706020507" pitchFamily="18" charset="2"/>
              <a:buNone/>
              <a:tabLst/>
              <a:defRPr/>
            </a:pPr>
            <a:r>
              <a:rPr lang="en-US" sz="1400" b="1" dirty="0"/>
              <a:t>CLICK</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Physical changes to a building are required only when there is no other feasible way to make the program accessible. </a:t>
            </a:r>
          </a:p>
          <a:p>
            <a:pPr marL="342900" marR="0" lvl="0" indent="-342900">
              <a:lnSpc>
                <a:spcPct val="107000"/>
              </a:lnSpc>
              <a:spcBef>
                <a:spcPts val="0"/>
              </a:spcBef>
              <a:spcAft>
                <a:spcPts val="0"/>
              </a:spcAft>
              <a:buFont typeface="Symbol" panose="05050102010706020507" pitchFamily="18" charset="2"/>
              <a:buChar char=""/>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When structural change is the method chosen to provide program accessibility, the alterations must comply with the 2010 ADA Standards for Accessible Design unless it is technically infeasible to do so. </a:t>
            </a:r>
          </a:p>
          <a:p>
            <a:pPr marL="342900" marR="0" lvl="0" indent="-342900">
              <a:lnSpc>
                <a:spcPct val="107000"/>
              </a:lnSpc>
              <a:spcBef>
                <a:spcPts val="0"/>
              </a:spcBef>
              <a:spcAft>
                <a:spcPts val="0"/>
              </a:spcAft>
              <a:buFont typeface="Symbol" panose="05050102010706020507" pitchFamily="18" charset="2"/>
              <a:buChar char=""/>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When full compliance is not technically feasible, the alteration must follow the Standards to the maximum extent feasible.</a:t>
            </a:r>
          </a:p>
          <a:p>
            <a:r>
              <a:rPr lang="en-US" dirty="0"/>
              <a:t>Moving onto slide 8</a:t>
            </a:r>
          </a:p>
        </p:txBody>
      </p:sp>
      <p:sp>
        <p:nvSpPr>
          <p:cNvPr id="4" name="Slide Number Placeholder 3"/>
          <p:cNvSpPr>
            <a:spLocks noGrp="1"/>
          </p:cNvSpPr>
          <p:nvPr>
            <p:ph type="sldNum" sz="quarter" idx="5"/>
          </p:nvPr>
        </p:nvSpPr>
        <p:spPr/>
        <p:txBody>
          <a:bodyPr/>
          <a:lstStyle/>
          <a:p>
            <a:fld id="{40E60467-868E-4120-BCCD-97469C488C52}" type="slidenum">
              <a:rPr lang="en-US" smtClean="0"/>
              <a:t>7</a:t>
            </a:fld>
            <a:endParaRPr lang="en-US" dirty="0"/>
          </a:p>
        </p:txBody>
      </p:sp>
    </p:spTree>
    <p:extLst>
      <p:ext uri="{BB962C8B-B14F-4D97-AF65-F5344CB8AC3E}">
        <p14:creationId xmlns:p14="http://schemas.microsoft.com/office/powerpoint/2010/main" val="1151365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F20F1-1733-7D5B-1ADB-B549D1AC49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3026C-0FB0-1182-EC9F-BEFDA6DBFB08}"/>
              </a:ext>
            </a:extLst>
          </p:cNvPr>
          <p:cNvSpPr>
            <a:spLocks noGrp="1" noRot="1" noChangeAspect="1"/>
          </p:cNvSpPr>
          <p:nvPr>
            <p:ph type="sldImg"/>
          </p:nvPr>
        </p:nvSpPr>
        <p:spPr>
          <a:xfrm>
            <a:off x="606425" y="736600"/>
            <a:ext cx="5486400" cy="3086100"/>
          </a:xfrm>
        </p:spPr>
      </p:sp>
      <p:sp>
        <p:nvSpPr>
          <p:cNvPr id="3" name="Notes Placeholder 2">
            <a:extLst>
              <a:ext uri="{FF2B5EF4-FFF2-40B4-BE49-F238E27FC236}">
                <a16:creationId xmlns:a16="http://schemas.microsoft.com/office/drawing/2014/main" id="{F13EDAFD-982D-2EF3-92C0-1C1189D02852}"/>
              </a:ext>
            </a:extLst>
          </p:cNvPr>
          <p:cNvSpPr>
            <a:spLocks noGrp="1"/>
          </p:cNvSpPr>
          <p:nvPr>
            <p:ph type="body" idx="1"/>
          </p:nvPr>
        </p:nvSpPr>
        <p:spPr>
          <a:xfrm>
            <a:off x="685800" y="3873763"/>
            <a:ext cx="5486400" cy="4649347"/>
          </a:xfrm>
        </p:spPr>
        <p:txBody>
          <a:bodyPr/>
          <a:lstStyle/>
          <a:p>
            <a:pPr marL="171450" marR="0" lvl="0" indent="-171450" algn="l" defTabSz="914400" rtl="0" eaLnBrk="1" fontAlgn="auto" latinLnBrk="0" hangingPunct="1">
              <a:lnSpc>
                <a:spcPct val="115000"/>
              </a:lnSpc>
              <a:spcBef>
                <a:spcPts val="0"/>
              </a:spcBef>
              <a:spcAft>
                <a:spcPts val="981"/>
              </a:spcAft>
              <a:buClrTx/>
              <a:buSzTx/>
              <a:buFont typeface="Arial" panose="020B0604020202020204" pitchFamily="34" charset="0"/>
              <a:buChar char="•"/>
              <a:tabLst>
                <a:tab pos="448650" algn="l"/>
              </a:tabLst>
              <a:defRPr/>
            </a:pPr>
            <a:r>
              <a:rPr lang="en-US" sz="1800" dirty="0">
                <a:solidFill>
                  <a:prstClr val="black"/>
                </a:solidFill>
              </a:rPr>
              <a:t>Let’s take a look at a program access scenario</a:t>
            </a:r>
            <a:endParaRPr lang="en-US" sz="1800" dirty="0"/>
          </a:p>
          <a:p>
            <a:pPr marL="171450" marR="0" lvl="0" indent="-171450" algn="l" defTabSz="914400" rtl="0" eaLnBrk="1" fontAlgn="auto" latinLnBrk="0" hangingPunct="1">
              <a:lnSpc>
                <a:spcPct val="115000"/>
              </a:lnSpc>
              <a:spcBef>
                <a:spcPts val="0"/>
              </a:spcBef>
              <a:spcAft>
                <a:spcPts val="981"/>
              </a:spcAft>
              <a:buClrTx/>
              <a:buSzTx/>
              <a:buFont typeface="Arial" panose="020B0604020202020204" pitchFamily="34" charset="0"/>
              <a:buChar char="•"/>
              <a:tabLst>
                <a:tab pos="448650" algn="l"/>
              </a:tabLst>
              <a:defRPr/>
            </a:pPr>
            <a:r>
              <a:rPr lang="en-US" sz="1800" dirty="0"/>
              <a:t>A state agency has five offices downtown: two are accessible, and three are not </a:t>
            </a:r>
          </a:p>
          <a:p>
            <a:pPr marL="171450" marR="0" lvl="0" indent="-171450" algn="l" defTabSz="914400" rtl="0" eaLnBrk="1" fontAlgn="auto" latinLnBrk="0" hangingPunct="1">
              <a:lnSpc>
                <a:spcPct val="115000"/>
              </a:lnSpc>
              <a:spcBef>
                <a:spcPts val="0"/>
              </a:spcBef>
              <a:spcAft>
                <a:spcPts val="981"/>
              </a:spcAft>
              <a:buClrTx/>
              <a:buSzTx/>
              <a:buFont typeface="Arial" panose="020B0604020202020204" pitchFamily="34" charset="0"/>
              <a:buChar char="•"/>
              <a:tabLst>
                <a:tab pos="448650" algn="l"/>
              </a:tabLst>
              <a:defRPr/>
            </a:pPr>
            <a:r>
              <a:rPr lang="en-US" sz="1800" dirty="0"/>
              <a:t>If the same services/programs are available in all five offices, do the three inaccessible ones need to be made accessible?</a:t>
            </a:r>
          </a:p>
          <a:p>
            <a:pPr marL="0" marR="0" lvl="0" indent="0" algn="l" defTabSz="914400" rtl="0" eaLnBrk="1" fontAlgn="auto" latinLnBrk="0" hangingPunct="1">
              <a:lnSpc>
                <a:spcPct val="115000"/>
              </a:lnSpc>
              <a:spcBef>
                <a:spcPts val="0"/>
              </a:spcBef>
              <a:spcAft>
                <a:spcPts val="981"/>
              </a:spcAft>
              <a:buClrTx/>
              <a:buSzTx/>
              <a:buFont typeface="Arial" panose="020B0604020202020204" pitchFamily="34" charset="0"/>
              <a:buNone/>
              <a:tabLst>
                <a:tab pos="448650" algn="l"/>
              </a:tabLst>
              <a:defRPr/>
            </a:pPr>
            <a:r>
              <a:rPr lang="en-US" sz="1800" b="1" dirty="0">
                <a:effectLst/>
                <a:ea typeface="Calibri" panose="020F0502020204030204" pitchFamily="34" charset="0"/>
                <a:cs typeface="Times New Roman" panose="02020603050405020304" pitchFamily="18" charset="0"/>
              </a:rPr>
              <a:t>CLICK</a:t>
            </a:r>
          </a:p>
          <a:p>
            <a:pPr marL="171450" indent="-171450">
              <a:lnSpc>
                <a:spcPct val="115000"/>
              </a:lnSpc>
              <a:spcAft>
                <a:spcPts val="981"/>
              </a:spcAft>
              <a:buFont typeface="Arial" panose="020B0604020202020204" pitchFamily="34" charset="0"/>
              <a:buChar char="•"/>
              <a:tabLst>
                <a:tab pos="448650" algn="l"/>
              </a:tabLst>
              <a:defRPr/>
            </a:pPr>
            <a:r>
              <a:rPr lang="en-US" sz="1800" b="0" dirty="0">
                <a:ea typeface="Calibri"/>
                <a:cs typeface="Times New Roman"/>
              </a:rPr>
              <a:t>No. The agency does not have to make structural changes to those inaccessible offices as long as the accessible offices operate the same hours and business/services. However, in a large city where there is significant distance between facilities, this can create barriers to program access; then structural changes may be necessary to achieve program access for everyone. </a:t>
            </a:r>
            <a:endParaRPr lang="en-US" sz="1800" b="0" dirty="0">
              <a:effectLst/>
              <a:ea typeface="Calibri"/>
              <a:cs typeface="Times New Roman"/>
            </a:endParaRPr>
          </a:p>
          <a:p>
            <a:r>
              <a:rPr lang="en-US" dirty="0"/>
              <a:t>Moving on to slide 9</a:t>
            </a:r>
          </a:p>
        </p:txBody>
      </p:sp>
      <p:sp>
        <p:nvSpPr>
          <p:cNvPr id="4" name="Slide Number Placeholder 3">
            <a:extLst>
              <a:ext uri="{FF2B5EF4-FFF2-40B4-BE49-F238E27FC236}">
                <a16:creationId xmlns:a16="http://schemas.microsoft.com/office/drawing/2014/main" id="{17BD988E-3AC3-4500-5CB9-E408680623B6}"/>
              </a:ext>
            </a:extLst>
          </p:cNvPr>
          <p:cNvSpPr>
            <a:spLocks noGrp="1"/>
          </p:cNvSpPr>
          <p:nvPr>
            <p:ph type="sldNum" sz="quarter" idx="5"/>
          </p:nvPr>
        </p:nvSpPr>
        <p:spPr/>
        <p:txBody>
          <a:bodyPr/>
          <a:lstStyle/>
          <a:p>
            <a:fld id="{40E60467-868E-4120-BCCD-97469C488C52}" type="slidenum">
              <a:rPr lang="en-US" smtClean="0"/>
              <a:t>8</a:t>
            </a:fld>
            <a:endParaRPr lang="en-US" dirty="0"/>
          </a:p>
        </p:txBody>
      </p:sp>
    </p:spTree>
    <p:extLst>
      <p:ext uri="{BB962C8B-B14F-4D97-AF65-F5344CB8AC3E}">
        <p14:creationId xmlns:p14="http://schemas.microsoft.com/office/powerpoint/2010/main" val="1344940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i="0" dirty="0">
                <a:solidFill>
                  <a:srgbClr val="2C2C2C"/>
                </a:solidFill>
                <a:effectLst/>
                <a:latin typeface="Arial" panose="020B0604020202020204" pitchFamily="34" charset="0"/>
              </a:rPr>
              <a:t>There are Administrative Requirements under Title II starting with all public entities providing a public notice to the public, program participants, program beneficiaries, applicants, and employees about the ADA and how it applies to the public entity. </a:t>
            </a:r>
          </a:p>
          <a:p>
            <a:pPr marL="171450" indent="-171450">
              <a:buFont typeface="Arial" panose="020B0604020202020204" pitchFamily="34" charset="0"/>
              <a:buChar char="•"/>
            </a:pPr>
            <a:r>
              <a:rPr lang="en-US" b="0" i="0" dirty="0">
                <a:solidFill>
                  <a:srgbClr val="2C2C2C"/>
                </a:solidFill>
                <a:effectLst/>
                <a:latin typeface="Arial" panose="020B0604020202020204" pitchFamily="34" charset="0"/>
              </a:rPr>
              <a:t>The notice needs to include the contact information of the responsible person to address access issues and needs and must be provided in “alternative” formats so that it is accessible to people with hearing and vision disabilities.</a:t>
            </a:r>
          </a:p>
          <a:p>
            <a:pPr marL="0" marR="0" lvl="0" indent="0" algn="l" defTabSz="914400" rtl="0" eaLnBrk="1" fontAlgn="auto" latinLnBrk="0" hangingPunct="1">
              <a:lnSpc>
                <a:spcPct val="115000"/>
              </a:lnSpc>
              <a:spcBef>
                <a:spcPts val="0"/>
              </a:spcBef>
              <a:spcAft>
                <a:spcPts val="981"/>
              </a:spcAft>
              <a:buClrTx/>
              <a:buSzTx/>
              <a:buFont typeface="Arial" panose="020B0604020202020204" pitchFamily="34" charset="0"/>
              <a:buNone/>
              <a:tabLst>
                <a:tab pos="448650" algn="l"/>
              </a:tabLst>
              <a:defRPr/>
            </a:pPr>
            <a:r>
              <a:rPr lang="en-US" sz="1200" b="1" dirty="0">
                <a:effectLst/>
                <a:ea typeface="Calibri" panose="020F0502020204030204" pitchFamily="34" charset="0"/>
                <a:cs typeface="Times New Roman" panose="02020603050405020304" pitchFamily="18" charset="0"/>
              </a:rPr>
              <a:t>DOUBLE CLICK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a:solidFill>
                  <a:srgbClr val="2C2C2C"/>
                </a:solidFill>
                <a:effectLst/>
                <a:latin typeface="Arial" panose="020B0604020202020204" pitchFamily="34" charset="0"/>
              </a:rPr>
              <a:t>All state and local </a:t>
            </a:r>
            <a:r>
              <a:rPr lang="en-US" b="0" i="0" dirty="0">
                <a:solidFill>
                  <a:srgbClr val="2C2C2C"/>
                </a:solidFill>
                <a:effectLst/>
                <a:latin typeface="Arial" panose="020B0604020202020204" pitchFamily="34" charset="0"/>
              </a:rPr>
              <a:t>governments were required to complete a self-evaluation of their facilities, programs, policies, and practices by January 26, 1993; </a:t>
            </a:r>
            <a:r>
              <a:rPr lang="en-US" sz="1200" b="0" dirty="0">
                <a:latin typeface="Arial" panose="020B0604020202020204" pitchFamily="34" charset="0"/>
                <a:cs typeface="Arial" panose="020B0604020202020204" pitchFamily="34" charset="0"/>
              </a:rPr>
              <a:t>if they didn’t, they must do so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2C2C2C"/>
                </a:solidFill>
                <a:effectLst/>
                <a:latin typeface="Arial" panose="020B0604020202020204" pitchFamily="34" charset="0"/>
              </a:rPr>
              <a:t>The self-evaluation identifies and corrects those policies and practices that are inconsistent with Title II’s requirements.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effectLst/>
                <a:ea typeface="Calibri" panose="020F0502020204030204" pitchFamily="34" charset="0"/>
                <a:cs typeface="Times New Roman" panose="02020603050405020304" pitchFamily="18" charset="0"/>
              </a:rPr>
              <a:t>DOUBLE CLICK</a:t>
            </a:r>
            <a:endParaRPr lang="en-US" b="0" i="0" dirty="0">
              <a:solidFill>
                <a:srgbClr val="2C2C2C"/>
              </a:solidFill>
              <a:effectLst/>
              <a:latin typeface="Arial" panose="020B0604020202020204" pitchFamily="34" charset="0"/>
            </a:endParaRPr>
          </a:p>
          <a:p>
            <a:pPr marL="171450" indent="-171450">
              <a:buFont typeface="Arial" panose="020B0604020202020204" pitchFamily="34" charset="0"/>
              <a:buChar char="•"/>
            </a:pPr>
            <a:r>
              <a:rPr lang="en-US" b="0" i="0" dirty="0">
                <a:solidFill>
                  <a:srgbClr val="2C2C2C"/>
                </a:solidFill>
                <a:effectLst/>
                <a:latin typeface="Arial" panose="020B0604020202020204" pitchFamily="34" charset="0"/>
              </a:rPr>
              <a:t>Public entities with 50 or more full and part-time employees are also required to:</a:t>
            </a:r>
          </a:p>
          <a:p>
            <a:pPr marL="171450" indent="-171450">
              <a:buFont typeface="Arial" panose="020B0604020202020204" pitchFamily="34" charset="0"/>
              <a:buChar char="•"/>
            </a:pPr>
            <a:r>
              <a:rPr lang="en-US" b="0" i="0" dirty="0">
                <a:solidFill>
                  <a:srgbClr val="2C2C2C"/>
                </a:solidFill>
                <a:effectLst/>
                <a:latin typeface="Arial" panose="020B0604020202020204" pitchFamily="34" charset="0"/>
              </a:rPr>
              <a:t>Develop a transition plan if structural changes are necessary to achieve program accessibility. </a:t>
            </a:r>
          </a:p>
          <a:p>
            <a:pPr marL="171450" indent="-171450">
              <a:buFont typeface="Arial" panose="020B0604020202020204" pitchFamily="34" charset="0"/>
              <a:buChar char="•"/>
            </a:pPr>
            <a:r>
              <a:rPr lang="en-US" b="0" i="0" dirty="0">
                <a:solidFill>
                  <a:srgbClr val="2C2C2C"/>
                </a:solidFill>
                <a:effectLst/>
                <a:latin typeface="Arial" panose="020B0604020202020204" pitchFamily="34" charset="0"/>
              </a:rPr>
              <a:t>Designate at least one employee to oversee compliance (often known as the ADA Coordinator)</a:t>
            </a:r>
          </a:p>
          <a:p>
            <a:pPr marL="171450" indent="-171450">
              <a:buFont typeface="Arial" panose="020B0604020202020204" pitchFamily="34" charset="0"/>
              <a:buChar char="•"/>
            </a:pPr>
            <a:r>
              <a:rPr lang="en-US" b="0" i="0" dirty="0">
                <a:solidFill>
                  <a:srgbClr val="2C2C2C"/>
                </a:solidFill>
                <a:effectLst/>
                <a:latin typeface="Arial" panose="020B0604020202020204" pitchFamily="34" charset="0"/>
              </a:rPr>
              <a:t>Establish a grievance procedure</a:t>
            </a:r>
          </a:p>
          <a:p>
            <a:r>
              <a:rPr lang="en-US" b="0" i="0" dirty="0">
                <a:solidFill>
                  <a:srgbClr val="2C2C2C"/>
                </a:solidFill>
                <a:effectLst/>
                <a:latin typeface="Arial" panose="020B0604020202020204" pitchFamily="34" charset="0"/>
              </a:rPr>
              <a:t>Moving onto slide 10</a:t>
            </a:r>
          </a:p>
          <a:p>
            <a:pPr algn="l">
              <a:buFont typeface="+mj-lt"/>
              <a:buAutoNum type="arabicPeriod"/>
            </a:pPr>
            <a:endParaRPr lang="en-US" sz="1400" dirty="0">
              <a:cs typeface="Arial" charset="0"/>
            </a:endParaRPr>
          </a:p>
        </p:txBody>
      </p:sp>
      <p:sp>
        <p:nvSpPr>
          <p:cNvPr id="4" name="Slide Number Placeholder 3"/>
          <p:cNvSpPr>
            <a:spLocks noGrp="1"/>
          </p:cNvSpPr>
          <p:nvPr>
            <p:ph type="sldNum" sz="quarter" idx="5"/>
          </p:nvPr>
        </p:nvSpPr>
        <p:spPr/>
        <p:txBody>
          <a:bodyPr/>
          <a:lstStyle/>
          <a:p>
            <a:fld id="{40E60467-868E-4120-BCCD-97469C488C52}" type="slidenum">
              <a:rPr lang="en-US" smtClean="0"/>
              <a:t>9</a:t>
            </a:fld>
            <a:endParaRPr lang="en-US" dirty="0"/>
          </a:p>
        </p:txBody>
      </p:sp>
    </p:spTree>
    <p:extLst>
      <p:ext uri="{BB962C8B-B14F-4D97-AF65-F5344CB8AC3E}">
        <p14:creationId xmlns:p14="http://schemas.microsoft.com/office/powerpoint/2010/main" val="1659979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effectLst/>
                <a:ea typeface="Calibri" panose="020F0502020204030204" pitchFamily="34" charset="0"/>
                <a:cs typeface="Times New Roman" panose="02020603050405020304" pitchFamily="18" charset="0"/>
              </a:rPr>
              <a:t>CLICK</a:t>
            </a:r>
            <a:endParaRPr lang="en-US" b="0" i="0" dirty="0">
              <a:solidFill>
                <a:srgbClr val="2E2E2A"/>
              </a:solidFill>
              <a:effectLst/>
              <a:latin typeface="Public Sans Web"/>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2E2E2A"/>
                </a:solidFill>
                <a:effectLst/>
                <a:latin typeface="Public Sans Web"/>
              </a:rPr>
              <a:t>Title III of the ADA covers almost all types of businesses, including nonprofits, that are open to the public where commerce is carried out, regardless of their size or the age of their buildings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effectLst/>
              </a:rPr>
              <a:t>Commerce happens when goods or services are bought or sold.</a:t>
            </a:r>
            <a:r>
              <a:rPr lang="en-US" sz="1200" dirty="0">
                <a:ea typeface="Calibri" panose="020F0502020204030204" pitchFamily="34" charset="0"/>
                <a:cs typeface="Arial" panose="020B0604020202020204" pitchFamily="34" charset="0"/>
              </a:rPr>
              <a:t> </a:t>
            </a:r>
            <a:endParaRPr lang="en-US" sz="1200" b="0" i="0" kern="100" dirty="0">
              <a:solidFill>
                <a:srgbClr val="2E2E2A"/>
              </a:solidFill>
              <a:effectLst/>
              <a:latin typeface="Public Sans Web"/>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00" dirty="0">
                <a:solidFill>
                  <a:srgbClr val="2E2E2A"/>
                </a:solidFill>
                <a:effectLst/>
                <a:latin typeface="Public Sans Web"/>
                <a:ea typeface="Calibri" panose="020F0502020204030204" pitchFamily="34" charset="0"/>
                <a:cs typeface="Times New Roman" panose="02020603050405020304" pitchFamily="18" charset="0"/>
              </a:rPr>
              <a:t>This is known as public accommodation and includes places like </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restaurants, hotels, stores, private schools, daycare centers, doctor’s offices and private hospitals, and privately operated transit.</a:t>
            </a:r>
            <a:endParaRPr lang="en-US" b="0" i="0" dirty="0">
              <a:solidFill>
                <a:srgbClr val="2E2E2A"/>
              </a:solidFill>
              <a:effectLst/>
              <a:latin typeface="Public Sans Web"/>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effectLst/>
                <a:ea typeface="Calibri" panose="020F0502020204030204" pitchFamily="34" charset="0"/>
                <a:cs typeface="Times New Roman" panose="02020603050405020304" pitchFamily="18" charset="0"/>
              </a:rPr>
              <a:t>CLICK</a:t>
            </a:r>
            <a:endParaRPr lang="en-US" dirty="0"/>
          </a:p>
          <a:p>
            <a:pPr marL="171450" indent="-171450">
              <a:buFont typeface="Arial" panose="020B0604020202020204" pitchFamily="34" charset="0"/>
              <a:buChar char="•"/>
            </a:pPr>
            <a:r>
              <a:rPr lang="en-US" dirty="0"/>
              <a:t>The overarching purpose of Title III is non-discrimination.  </a:t>
            </a:r>
            <a:endParaRPr lang="en-US" baseline="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effectLst/>
                <a:ea typeface="Calibri" panose="020F0502020204030204" pitchFamily="34" charset="0"/>
                <a:cs typeface="Times New Roman" panose="02020603050405020304" pitchFamily="18" charset="0"/>
              </a:rPr>
              <a:t>CLICK</a:t>
            </a:r>
          </a:p>
          <a:p>
            <a:pPr marL="171450" indent="-171450">
              <a:buFont typeface="Arial" panose="020B0604020202020204" pitchFamily="34" charset="0"/>
              <a:buChar char="•"/>
            </a:pPr>
            <a:r>
              <a:rPr lang="en-US" baseline="0" dirty="0"/>
              <a:t>Title III requires people with disabilities to be able to access all the types of goods or services that a business offers to a customer, which is achieved by providing </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effective communication, reasonable modifications, and removal of architectural barriers.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effectLst/>
                <a:ea typeface="Calibri" panose="020F0502020204030204" pitchFamily="34" charset="0"/>
                <a:cs typeface="Times New Roman" panose="02020603050405020304" pitchFamily="18" charset="0"/>
              </a:rPr>
              <a:t>DOUBLE CLICK</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indent="-171450">
              <a:buFont typeface="Arial" panose="020B0604020202020204" pitchFamily="34" charset="0"/>
              <a:buChar cha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Title III of the ADA is enforced by the US Department of Justice</a:t>
            </a:r>
          </a:p>
          <a:p>
            <a:pPr marL="0" indent="0">
              <a:buFont typeface="Arial" panose="020B0604020202020204" pitchFamily="34" charset="0"/>
              <a:buNone/>
            </a:pPr>
            <a:r>
              <a:rPr lang="en-US" b="0" i="0" dirty="0">
                <a:solidFill>
                  <a:srgbClr val="2C2C2C"/>
                </a:solidFill>
                <a:effectLst/>
                <a:latin typeface="Arial" panose="020B0604020202020204" pitchFamily="34" charset="0"/>
              </a:rPr>
              <a:t>Moving onto slide 11</a:t>
            </a:r>
            <a:endParaRPr lang="en-US" dirty="0"/>
          </a:p>
        </p:txBody>
      </p:sp>
      <p:sp>
        <p:nvSpPr>
          <p:cNvPr id="4" name="Slide Number Placeholder 3"/>
          <p:cNvSpPr>
            <a:spLocks noGrp="1"/>
          </p:cNvSpPr>
          <p:nvPr>
            <p:ph type="sldNum" sz="quarter" idx="5"/>
          </p:nvPr>
        </p:nvSpPr>
        <p:spPr/>
        <p:txBody>
          <a:bodyPr/>
          <a:lstStyle/>
          <a:p>
            <a:fld id="{40E60467-868E-4120-BCCD-97469C488C52}" type="slidenum">
              <a:rPr lang="en-US" smtClean="0"/>
              <a:t>10</a:t>
            </a:fld>
            <a:endParaRPr lang="en-US" dirty="0"/>
          </a:p>
        </p:txBody>
      </p:sp>
    </p:spTree>
    <p:extLst>
      <p:ext uri="{BB962C8B-B14F-4D97-AF65-F5344CB8AC3E}">
        <p14:creationId xmlns:p14="http://schemas.microsoft.com/office/powerpoint/2010/main" val="433936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600" b="0" i="0" dirty="0">
                <a:solidFill>
                  <a:srgbClr val="1B1B1B"/>
                </a:solidFill>
                <a:effectLst/>
                <a:highlight>
                  <a:srgbClr val="FFFFFF"/>
                </a:highlight>
                <a:latin typeface="Source Sans Pro Web"/>
              </a:rPr>
              <a:t>All businesses are required to remove architectural barriers in existing facilities even if their building were constructed prior to the passage of the ADA in 1990 when it is 'readily achievable” (easy to do without much difficulty or expense) </a:t>
            </a:r>
          </a:p>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600" b="0" i="0" dirty="0">
                <a:solidFill>
                  <a:srgbClr val="1B1B1B"/>
                </a:solidFill>
                <a:effectLst/>
                <a:highlight>
                  <a:srgbClr val="FFFFFF"/>
                </a:highlight>
                <a:latin typeface="Source Sans Pro Web"/>
              </a:rPr>
              <a:t>This is based on the business’s size &amp; resources. The ADA strikes a careful balance between increasing access for people with disabilities and understanding the financial challenges of many small businesses. So, a business with more resources is expected to remove more barriers than a business with fewer resources. </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tab pos="457200" algn="l"/>
              </a:tabLst>
              <a:defRPr/>
            </a:pPr>
            <a:r>
              <a:rPr lang="en-US" sz="1600" b="1" dirty="0">
                <a:effectLst/>
                <a:ea typeface="Calibri" panose="020F0502020204030204" pitchFamily="34" charset="0"/>
                <a:cs typeface="Times New Roman" panose="02020603050405020304" pitchFamily="18" charset="0"/>
              </a:rPr>
              <a:t>CLICK</a:t>
            </a:r>
            <a:endParaRPr lang="en-US" sz="1600" b="0" i="0" dirty="0">
              <a:solidFill>
                <a:srgbClr val="1B1B1B"/>
              </a:solidFill>
              <a:effectLst/>
              <a:highlight>
                <a:srgbClr val="FFFFFF"/>
              </a:highlight>
              <a:latin typeface="Source Sans Pro Web"/>
            </a:endParaRPr>
          </a:p>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600" b="0" i="0" dirty="0">
                <a:solidFill>
                  <a:srgbClr val="1B1B1B"/>
                </a:solidFill>
                <a:effectLst/>
                <a:highlight>
                  <a:srgbClr val="FFFFFF"/>
                </a:highlight>
                <a:latin typeface="Source Sans Pro Web"/>
              </a:rPr>
              <a:t>Readily achievable barrier removal generally refers to things like installing ramps, creating wider doorways, changing doorknobs from twist to lever action, creating designated accessible parking spots, and repositioning tables and shelves facility so that someone can easily move around as illustrated on this slide. </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tab pos="457200" algn="l"/>
              </a:tabLst>
              <a:defRPr/>
            </a:pPr>
            <a:r>
              <a:rPr lang="en-US" sz="1600" b="1" dirty="0">
                <a:effectLst/>
                <a:ea typeface="Calibri" panose="020F0502020204030204" pitchFamily="34" charset="0"/>
                <a:cs typeface="Times New Roman" panose="02020603050405020304" pitchFamily="18" charset="0"/>
              </a:rPr>
              <a:t>CLICK</a:t>
            </a:r>
            <a:endParaRPr lang="en-US" sz="1600" b="0" i="0" dirty="0">
              <a:solidFill>
                <a:srgbClr val="1B1B1B"/>
              </a:solidFill>
              <a:effectLst/>
              <a:highlight>
                <a:srgbClr val="FFFFFF"/>
              </a:highlight>
              <a:latin typeface="Source Sans Pro Web"/>
            </a:endParaRPr>
          </a:p>
          <a:p>
            <a:pPr marL="342900" marR="0" lvl="0" indent="-34290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sz="1600" b="0" i="0" dirty="0">
                <a:solidFill>
                  <a:srgbClr val="1B1B1B"/>
                </a:solidFill>
                <a:effectLst/>
                <a:highlight>
                  <a:srgbClr val="FFFFFF"/>
                </a:highlight>
                <a:latin typeface="Source Sans Pro Web"/>
              </a:rPr>
              <a:t>When a public accommodation can demonstrate that the removal of barriers is not readily achievable, the public accommodation must make its goods and services available through alternative methods if such methods are readily achievable. For example, curb service, home delivery, relocation of activities to accessible locations, retrieve merchandise from inaccessible shelves or locations within a store.  A public accommodation cannot charge extra for these services.</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tab pos="457200" algn="l"/>
              </a:tabLst>
              <a:defRPr/>
            </a:pPr>
            <a:r>
              <a:rPr lang="en-US" sz="1600" b="0" i="0" dirty="0">
                <a:solidFill>
                  <a:srgbClr val="1B1B1B"/>
                </a:solidFill>
                <a:effectLst/>
                <a:highlight>
                  <a:srgbClr val="FFFFFF"/>
                </a:highlight>
                <a:latin typeface="Source Sans Pro Web"/>
              </a:rPr>
              <a:t>Moving onto slide 12</a:t>
            </a:r>
          </a:p>
        </p:txBody>
      </p:sp>
      <p:sp>
        <p:nvSpPr>
          <p:cNvPr id="4" name="Slide Number Placeholder 3"/>
          <p:cNvSpPr>
            <a:spLocks noGrp="1"/>
          </p:cNvSpPr>
          <p:nvPr>
            <p:ph type="sldNum" sz="quarter" idx="5"/>
          </p:nvPr>
        </p:nvSpPr>
        <p:spPr/>
        <p:txBody>
          <a:bodyPr/>
          <a:lstStyle/>
          <a:p>
            <a:fld id="{40E60467-868E-4120-BCCD-97469C488C52}" type="slidenum">
              <a:rPr lang="en-US" smtClean="0"/>
              <a:t>11</a:t>
            </a:fld>
            <a:endParaRPr lang="en-US" dirty="0"/>
          </a:p>
        </p:txBody>
      </p:sp>
    </p:spTree>
    <p:extLst>
      <p:ext uri="{BB962C8B-B14F-4D97-AF65-F5344CB8AC3E}">
        <p14:creationId xmlns:p14="http://schemas.microsoft.com/office/powerpoint/2010/main" val="3302367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a:buFont typeface="Arial" panose="020B0604020202020204" pitchFamily="34" charset="0"/>
              <a:buChar char="•"/>
            </a:pPr>
            <a:r>
              <a:rPr lang="en-US" altLang="en-US" dirty="0">
                <a:latin typeface="Arial" panose="020B0604020202020204" pitchFamily="34" charset="0"/>
              </a:rPr>
              <a:t>The ADA does NOT cover everything.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effectLst/>
                <a:ea typeface="Calibri" panose="020F0502020204030204" pitchFamily="34" charset="0"/>
                <a:cs typeface="Times New Roman" panose="02020603050405020304" pitchFamily="18" charset="0"/>
              </a:rPr>
              <a:t>DOUBLE CLICK</a:t>
            </a:r>
            <a:endParaRPr lang="en-US" altLang="en-US" dirty="0">
              <a:latin typeface="Arial" panose="020B0604020202020204" pitchFamily="34" charset="0"/>
            </a:endParaRPr>
          </a:p>
          <a:p>
            <a:pPr marL="181240" indent="-181240">
              <a:buFont typeface="Arial" panose="020B0604020202020204" pitchFamily="34" charset="0"/>
              <a:buChar char="•"/>
            </a:pPr>
            <a:r>
              <a:rPr lang="en-US" b="0" i="0" dirty="0">
                <a:solidFill>
                  <a:srgbClr val="000000"/>
                </a:solidFill>
                <a:effectLst/>
                <a:latin typeface="Arial" panose="020B0604020202020204" pitchFamily="34" charset="0"/>
              </a:rPr>
              <a:t>All religious entity facilities, programs, and activities, including programs and activities open to the general public, whether they are religious or secular in nature, are exempt from the ADA.</a:t>
            </a:r>
          </a:p>
          <a:p>
            <a:pPr marL="181240" indent="-181240">
              <a:buFont typeface="Arial" panose="020B0604020202020204" pitchFamily="34" charset="0"/>
              <a:buChar char="•"/>
            </a:pPr>
            <a:r>
              <a:rPr lang="en-US" altLang="en-US" dirty="0">
                <a:latin typeface="Arial" panose="020B0604020202020204" pitchFamily="34" charset="0"/>
              </a:rPr>
              <a:t>Such as food banks, homeless shelters, thrift stores, daycare centers, schools, hospitals, etc.</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effectLst/>
                <a:ea typeface="Calibri" panose="020F0502020204030204" pitchFamily="34" charset="0"/>
                <a:cs typeface="Times New Roman" panose="02020603050405020304" pitchFamily="18" charset="0"/>
              </a:rPr>
              <a:t>DOUBLE CLICK</a:t>
            </a:r>
            <a:endParaRPr lang="en-US" altLang="en-US" dirty="0">
              <a:latin typeface="Arial" panose="020B0604020202020204" pitchFamily="34" charset="0"/>
            </a:endParaRPr>
          </a:p>
          <a:p>
            <a:pPr marL="181240" indent="-181240">
              <a:buFont typeface="Arial" panose="020B0604020202020204" pitchFamily="34" charset="0"/>
              <a:buChar char="•"/>
            </a:pPr>
            <a:r>
              <a:rPr lang="en-US" altLang="en-US" dirty="0">
                <a:latin typeface="Arial" panose="020B0604020202020204" pitchFamily="34" charset="0"/>
              </a:rPr>
              <a:t>Tribal sovereignty renders the ADA largely inapplicable to Tribal Nations.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effectLst/>
                <a:ea typeface="Calibri" panose="020F0502020204030204" pitchFamily="34" charset="0"/>
                <a:cs typeface="Times New Roman" panose="02020603050405020304" pitchFamily="18" charset="0"/>
              </a:rPr>
              <a:t>DOUBLE CLICK</a:t>
            </a:r>
            <a:endParaRPr lang="en-US" altLang="en-US" dirty="0">
              <a:latin typeface="Arial" panose="020B0604020202020204" pitchFamily="34" charset="0"/>
            </a:endParaRPr>
          </a:p>
          <a:p>
            <a:pPr marL="181240" indent="-181240">
              <a:buFont typeface="Arial" panose="020B0604020202020204" pitchFamily="34" charset="0"/>
              <a:buChar char="•"/>
            </a:pPr>
            <a:r>
              <a:rPr lang="en-US" altLang="en-US" dirty="0">
                <a:latin typeface="Arial" panose="020B0604020202020204" pitchFamily="34" charset="0"/>
              </a:rPr>
              <a:t>Private membership clubs do not have to comply with ADA regulations except when they open their facilities to the general public.</a:t>
            </a:r>
          </a:p>
          <a:p>
            <a:pPr marL="181240" indent="-181240">
              <a:buFont typeface="Arial" panose="020B0604020202020204" pitchFamily="34" charset="0"/>
              <a:buChar char="•"/>
            </a:pPr>
            <a:r>
              <a:rPr lang="en-US" altLang="en-US" dirty="0">
                <a:latin typeface="Arial" panose="020B0604020202020204" pitchFamily="34" charset="0"/>
              </a:rPr>
              <a:t>Courts, in deciding whether an organization is truly a private club, have considered factors such as:</a:t>
            </a:r>
          </a:p>
          <a:p>
            <a:pPr marL="638440" lvl="1" indent="-181240">
              <a:buFont typeface="Courier New" panose="02070309020205020404" pitchFamily="49" charset="0"/>
              <a:buChar char="o"/>
            </a:pPr>
            <a:r>
              <a:rPr lang="en-US" altLang="en-US" dirty="0">
                <a:latin typeface="Arial" panose="020B0604020202020204" pitchFamily="34" charset="0"/>
              </a:rPr>
              <a:t>The degree to which members control club operations</a:t>
            </a:r>
          </a:p>
          <a:p>
            <a:pPr marL="638440" lvl="1" indent="-181240">
              <a:buFont typeface="Courier New" panose="02070309020205020404" pitchFamily="49" charset="0"/>
              <a:buChar char="o"/>
            </a:pPr>
            <a:r>
              <a:rPr lang="en-US" altLang="en-US" dirty="0">
                <a:latin typeface="Arial" panose="020B0604020202020204" pitchFamily="34" charset="0"/>
              </a:rPr>
              <a:t>The selectivity of the membership process</a:t>
            </a:r>
          </a:p>
          <a:p>
            <a:pPr marL="638440" lvl="1" indent="-181240">
              <a:buFont typeface="Courier New" panose="02070309020205020404" pitchFamily="49" charset="0"/>
              <a:buChar char="o"/>
            </a:pPr>
            <a:r>
              <a:rPr lang="en-US" altLang="en-US" dirty="0">
                <a:latin typeface="Arial" panose="020B0604020202020204" pitchFamily="34" charset="0"/>
              </a:rPr>
              <a:t>Whether substantial membership fees are charged</a:t>
            </a:r>
          </a:p>
          <a:p>
            <a:pPr marL="638440" lvl="1" indent="-181240">
              <a:buFont typeface="Courier New" panose="02070309020205020404" pitchFamily="49" charset="0"/>
              <a:buChar char="o"/>
            </a:pPr>
            <a:r>
              <a:rPr lang="en-US" altLang="en-US" dirty="0">
                <a:latin typeface="Arial" panose="020B0604020202020204" pitchFamily="34" charset="0"/>
              </a:rPr>
              <a:t>Whether the organization is operated on a nonprofit basis</a:t>
            </a:r>
          </a:p>
          <a:p>
            <a:pPr marL="638440" lvl="1" indent="-181240">
              <a:buFont typeface="Courier New" panose="02070309020205020404" pitchFamily="49" charset="0"/>
              <a:buChar char="o"/>
            </a:pPr>
            <a:r>
              <a:rPr lang="en-US" altLang="en-US" dirty="0">
                <a:latin typeface="Arial" panose="020B0604020202020204" pitchFamily="34" charset="0"/>
              </a:rPr>
              <a:t>To what extent the facilities are open to the public and the club receives public funding</a:t>
            </a:r>
          </a:p>
          <a:p>
            <a:pPr marL="638440" lvl="1" indent="-181240">
              <a:buFont typeface="Courier New" panose="02070309020205020404" pitchFamily="49" charset="0"/>
              <a:buChar char="o"/>
            </a:pPr>
            <a:r>
              <a:rPr lang="en-US" altLang="en-US" dirty="0">
                <a:latin typeface="Arial" panose="020B0604020202020204" pitchFamily="34" charset="0"/>
              </a:rPr>
              <a:t>Also whether the club was created specifically to avoid compliance with civil rights laws</a:t>
            </a:r>
          </a:p>
          <a:p>
            <a:pPr marL="0" indent="0">
              <a:buFont typeface="Arial" panose="020B0604020202020204" pitchFamily="34" charset="0"/>
              <a:buNone/>
            </a:pPr>
            <a:r>
              <a:rPr lang="en-US" altLang="en-US" dirty="0">
                <a:latin typeface="Arial" panose="020B0604020202020204" pitchFamily="34" charset="0"/>
              </a:rPr>
              <a:t>Moving onto slide 13</a:t>
            </a:r>
          </a:p>
        </p:txBody>
      </p:sp>
      <p:sp>
        <p:nvSpPr>
          <p:cNvPr id="4" name="Slide Number Placeholder 3"/>
          <p:cNvSpPr>
            <a:spLocks noGrp="1"/>
          </p:cNvSpPr>
          <p:nvPr>
            <p:ph type="sldNum" sz="quarter" idx="5"/>
          </p:nvPr>
        </p:nvSpPr>
        <p:spPr/>
        <p:txBody>
          <a:bodyPr/>
          <a:lstStyle/>
          <a:p>
            <a:fld id="{40E60467-868E-4120-BCCD-97469C488C52}" type="slidenum">
              <a:rPr lang="en-US" smtClean="0"/>
              <a:t>12</a:t>
            </a:fld>
            <a:endParaRPr lang="en-US" dirty="0"/>
          </a:p>
        </p:txBody>
      </p:sp>
    </p:spTree>
    <p:extLst>
      <p:ext uri="{BB962C8B-B14F-4D97-AF65-F5344CB8AC3E}">
        <p14:creationId xmlns:p14="http://schemas.microsoft.com/office/powerpoint/2010/main" val="6793189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20000"/>
              </a:lnSpc>
              <a:spcBef>
                <a:spcPts val="0"/>
              </a:spcBef>
              <a:spcAft>
                <a:spcPts val="600"/>
              </a:spcAft>
              <a:buClrTx/>
              <a:buSzTx/>
              <a:buFont typeface="Arial" panose="020B0604020202020204" pitchFamily="34" charset="0"/>
              <a:buNone/>
              <a:tabLst/>
              <a:defRPr/>
            </a:pPr>
            <a:r>
              <a:rPr lang="en-US" sz="1200" b="1" dirty="0">
                <a:effectLst/>
                <a:ea typeface="Calibri" panose="020F0502020204030204" pitchFamily="34" charset="0"/>
                <a:cs typeface="Times New Roman" panose="02020603050405020304" pitchFamily="18" charset="0"/>
              </a:rPr>
              <a:t>CLICK</a:t>
            </a:r>
            <a:endParaRPr lang="en-US" b="0" dirty="0"/>
          </a:p>
          <a:p>
            <a:pPr marL="171450" indent="-171450">
              <a:lnSpc>
                <a:spcPct val="120000"/>
              </a:lnSpc>
              <a:spcBef>
                <a:spcPts val="0"/>
              </a:spcBef>
              <a:spcAft>
                <a:spcPts val="600"/>
              </a:spcAft>
              <a:buFont typeface="Arial" panose="020B0604020202020204" pitchFamily="34" charset="0"/>
              <a:buChar char="•"/>
            </a:pPr>
            <a:r>
              <a:rPr lang="en-US" b="0" dirty="0"/>
              <a:t>Title IV of the ADA applies to telephone companies and public service announcements</a:t>
            </a:r>
          </a:p>
          <a:p>
            <a:pPr marL="0" marR="0" lvl="0" indent="0" algn="l" defTabSz="914400" rtl="0" eaLnBrk="1" fontAlgn="auto" latinLnBrk="0" hangingPunct="1">
              <a:lnSpc>
                <a:spcPct val="120000"/>
              </a:lnSpc>
              <a:spcBef>
                <a:spcPts val="0"/>
              </a:spcBef>
              <a:spcAft>
                <a:spcPts val="600"/>
              </a:spcAft>
              <a:buClrTx/>
              <a:buSzTx/>
              <a:buFont typeface="Arial" panose="020B0604020202020204" pitchFamily="34" charset="0"/>
              <a:buNone/>
              <a:tabLst/>
              <a:defRPr/>
            </a:pPr>
            <a:r>
              <a:rPr lang="en-US" sz="1200" b="1" dirty="0">
                <a:effectLst/>
                <a:ea typeface="Calibri" panose="020F0502020204030204" pitchFamily="34" charset="0"/>
                <a:cs typeface="Times New Roman" panose="02020603050405020304" pitchFamily="18" charset="0"/>
              </a:rPr>
              <a:t>CLICK</a:t>
            </a:r>
            <a:endParaRPr lang="en-US" b="0" i="0" dirty="0">
              <a:solidFill>
                <a:srgbClr val="212529"/>
              </a:solidFill>
              <a:effectLst/>
            </a:endParaRPr>
          </a:p>
          <a:p>
            <a:pPr marL="171450" marR="0" lvl="0" indent="-17145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lang="en-US" b="0" dirty="0"/>
              <a:t>Telephone companies must provide </a:t>
            </a:r>
            <a:r>
              <a:rPr lang="en-US" b="0" i="0" dirty="0">
                <a:solidFill>
                  <a:srgbClr val="212529"/>
                </a:solidFill>
                <a:effectLst/>
              </a:rPr>
              <a:t>Telecommunications Relay Services, or TRS, and must be "functionally equivalent" to standard telephone services</a:t>
            </a:r>
            <a:endParaRPr lang="en-US" b="0" i="0" dirty="0">
              <a:solidFill>
                <a:schemeClr val="tx1"/>
              </a:solidFill>
              <a:effectLst/>
            </a:endParaRPr>
          </a:p>
          <a:p>
            <a:pPr marL="171450" indent="-171450">
              <a:lnSpc>
                <a:spcPct val="120000"/>
              </a:lnSpc>
              <a:spcBef>
                <a:spcPts val="0"/>
              </a:spcBef>
              <a:spcAft>
                <a:spcPts val="600"/>
              </a:spcAft>
              <a:buFont typeface="Arial" panose="020B0604020202020204" pitchFamily="34" charset="0"/>
              <a:buChar char="•"/>
            </a:pPr>
            <a:r>
              <a:rPr lang="en-US" b="0" i="0" dirty="0">
                <a:solidFill>
                  <a:srgbClr val="212529"/>
                </a:solidFill>
                <a:effectLst/>
              </a:rPr>
              <a:t>TRS enables telephone conversations between people with and without hearing or speech disabilities</a:t>
            </a:r>
          </a:p>
          <a:p>
            <a:pPr marL="171450" marR="0" lvl="0" indent="-17145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lang="en-US" sz="1200" b="0" dirty="0"/>
              <a:t>Also, entities that produce federally-funded public service announcements must add closed captioning to these announcements</a:t>
            </a:r>
            <a:endParaRPr lang="en-US" b="0" i="0" dirty="0">
              <a:solidFill>
                <a:srgbClr val="212529"/>
              </a:solidFill>
              <a:effectLst/>
            </a:endParaRPr>
          </a:p>
          <a:p>
            <a:pPr marL="0" marR="0" lvl="0" indent="0" algn="l" defTabSz="914400" rtl="0" eaLnBrk="1" fontAlgn="auto" latinLnBrk="0" hangingPunct="1">
              <a:lnSpc>
                <a:spcPct val="120000"/>
              </a:lnSpc>
              <a:spcBef>
                <a:spcPts val="0"/>
              </a:spcBef>
              <a:spcAft>
                <a:spcPts val="600"/>
              </a:spcAft>
              <a:buClrTx/>
              <a:buSzTx/>
              <a:buFont typeface="Arial" panose="020B0604020202020204" pitchFamily="34" charset="0"/>
              <a:buNone/>
              <a:tabLst/>
              <a:defRPr/>
            </a:pPr>
            <a:r>
              <a:rPr lang="en-US" sz="1200" b="1" dirty="0">
                <a:effectLst/>
                <a:ea typeface="Calibri" panose="020F0502020204030204" pitchFamily="34" charset="0"/>
                <a:cs typeface="Times New Roman" panose="02020603050405020304" pitchFamily="18" charset="0"/>
              </a:rPr>
              <a:t>DOUBLE CLICK</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Title IV of the ADA is enforced by the Federal Communication Commission or FCC</a:t>
            </a:r>
          </a:p>
          <a:p>
            <a:pPr marL="171450" marR="0" lvl="0" indent="-17145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lang="en-US" b="0" i="0" dirty="0">
                <a:effectLst/>
              </a:rPr>
              <a:t>The FCC issued regulations specifying standards for the operation of these services</a:t>
            </a:r>
          </a:p>
          <a:p>
            <a:r>
              <a:rPr lang="en-US" b="0" i="0" dirty="0">
                <a:solidFill>
                  <a:srgbClr val="2C2C2C"/>
                </a:solidFill>
                <a:effectLst/>
                <a:latin typeface="Arial" panose="020B0604020202020204" pitchFamily="34" charset="0"/>
              </a:rPr>
              <a:t>Moving onto slide 14</a:t>
            </a:r>
            <a:endParaRPr lang="en-US" dirty="0"/>
          </a:p>
        </p:txBody>
      </p:sp>
      <p:sp>
        <p:nvSpPr>
          <p:cNvPr id="4" name="Slide Number Placeholder 3"/>
          <p:cNvSpPr>
            <a:spLocks noGrp="1"/>
          </p:cNvSpPr>
          <p:nvPr>
            <p:ph type="sldNum" sz="quarter" idx="5"/>
          </p:nvPr>
        </p:nvSpPr>
        <p:spPr/>
        <p:txBody>
          <a:bodyPr/>
          <a:lstStyle/>
          <a:p>
            <a:fld id="{40E60467-868E-4120-BCCD-97469C488C52}" type="slidenum">
              <a:rPr lang="en-US" smtClean="0"/>
              <a:t>13</a:t>
            </a:fld>
            <a:endParaRPr lang="en-US" dirty="0"/>
          </a:p>
        </p:txBody>
      </p:sp>
    </p:spTree>
    <p:extLst>
      <p:ext uri="{BB962C8B-B14F-4D97-AF65-F5344CB8AC3E}">
        <p14:creationId xmlns:p14="http://schemas.microsoft.com/office/powerpoint/2010/main" val="34116616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Title V applies to all covered entities of the ADA</a:t>
            </a: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There are some Significant Provisions of Title V such as:</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defRPr/>
            </a:pPr>
            <a:r>
              <a:rPr lang="en-US" sz="1100" b="1" dirty="0">
                <a:effectLst/>
                <a:ea typeface="Calibri" panose="020F0502020204030204" pitchFamily="34" charset="0"/>
                <a:cs typeface="Times New Roman" panose="02020603050405020304" pitchFamily="18" charset="0"/>
              </a:rPr>
              <a:t>CLICK</a:t>
            </a:r>
            <a:endPar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ADA doesn’t override other laws that provide equal or greater protections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t>Both federal laws—like the ADA—and state laws can address disability and service animal protections</a:t>
            </a:r>
            <a:endParaRPr lang="en-US" sz="1050"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dirty="0"/>
              <a:t>States can provide greater protections and rights than what the ADA requires, but not fewer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b="0" dirty="0"/>
              <a:t>A state, city, county, or agency must adhere to whichever law provides the greatest protection for a person with a disability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dirty="0"/>
              <a:t>For example, state building codes may require great accessibility than the 2010 ADA Accessible Standards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dirty="0"/>
              <a:t>Some state laws pro</a:t>
            </a:r>
            <a:r>
              <a:rPr lang="en-US" sz="2000" dirty="0"/>
              <a:t>vide protections to service animals in training, unlike the ADA</a:t>
            </a:r>
            <a:endPar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defRPr/>
            </a:pPr>
            <a:r>
              <a:rPr lang="en-US" sz="1100" b="1" dirty="0">
                <a:effectLst/>
                <a:ea typeface="Calibri" panose="020F0502020204030204" pitchFamily="34" charset="0"/>
                <a:cs typeface="Times New Roman" panose="02020603050405020304" pitchFamily="18" charset="0"/>
              </a:rPr>
              <a:t>CLICK</a:t>
            </a:r>
            <a:endPar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Individuals who exercise their rights under the ADA or assist others in exercising their rights are protected from retaliation. </a:t>
            </a: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For example, A covered entity may NOT refuse to serve an individual because they encouraged another individual to file a complaint or because they testified for that individual in a proceeding to enforce the ADA.</a:t>
            </a: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Or, take another example: It would be a violation for a teacher or other individual to harass or intimidate an individual with a disability in an effort to prevent that individual from attending the school.</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defRPr/>
            </a:pPr>
            <a:r>
              <a:rPr lang="en-US" sz="1100" b="1" dirty="0">
                <a:effectLst/>
                <a:ea typeface="Calibri" panose="020F0502020204030204" pitchFamily="34" charset="0"/>
                <a:cs typeface="Times New Roman" panose="02020603050405020304" pitchFamily="18" charset="0"/>
              </a:rPr>
              <a:t>CLICK</a:t>
            </a:r>
            <a:endPar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Individuals with disabilities may not be required to accept an aid or accommodation or special “benefits” if they choose not to do so. </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defRPr/>
            </a:pPr>
            <a:r>
              <a:rPr lang="en-US" sz="1100" b="1" dirty="0">
                <a:effectLst/>
                <a:ea typeface="Calibri" panose="020F0502020204030204" pitchFamily="34" charset="0"/>
                <a:cs typeface="Times New Roman" panose="02020603050405020304" pitchFamily="18" charset="0"/>
              </a:rPr>
              <a:t>CLICK</a:t>
            </a:r>
            <a:endPar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Exclusion of conditions from the definition of disability, such as: pedophilia (pe-do-phil-i-a), exhibitionism (ex-hi-bi-</a:t>
            </a:r>
            <a:r>
              <a:rPr lang="en-US" sz="1100" b="0" kern="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tion</a:t>
            </a:r>
            <a:r>
              <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-sim), voyeurism, compulsive gambling, kleptomania, pyromania, sexual orientation, and conditions resulting from current illegal use of drugs</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defRPr/>
            </a:pPr>
            <a:r>
              <a:rPr lang="en-US" sz="1100" b="1" dirty="0">
                <a:effectLst/>
                <a:ea typeface="Calibri" panose="020F0502020204030204" pitchFamily="34" charset="0"/>
                <a:cs typeface="Times New Roman" panose="02020603050405020304" pitchFamily="18" charset="0"/>
              </a:rPr>
              <a:t>CLICK</a:t>
            </a:r>
            <a:endPar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An individual cannot make a claim of “reverse discrimination.”</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defRPr/>
            </a:pPr>
            <a:r>
              <a:rPr lang="en-US" sz="1100" b="1" dirty="0">
                <a:effectLst/>
                <a:ea typeface="Calibri" panose="020F0502020204030204" pitchFamily="34" charset="0"/>
                <a:cs typeface="Times New Roman" panose="02020603050405020304" pitchFamily="18" charset="0"/>
              </a:rPr>
              <a:t>CLICK</a:t>
            </a:r>
            <a:endPar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Authorizing courts to award attorneys’ fees to the winning party in a lawsuit under the ADA</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defRPr/>
            </a:pPr>
            <a:r>
              <a:rPr lang="en-US" sz="1100" b="1" dirty="0">
                <a:effectLst/>
                <a:ea typeface="Calibri" panose="020F0502020204030204" pitchFamily="34" charset="0"/>
                <a:cs typeface="Times New Roman" panose="02020603050405020304" pitchFamily="18" charset="0"/>
              </a:rPr>
              <a:t>CLICK</a:t>
            </a:r>
            <a:endPar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Directing certain federal agencies to issue guidance explaining the law</a:t>
            </a:r>
          </a:p>
          <a:p>
            <a:pPr marL="0" marR="0" lvl="0" indent="0" algn="l" defTabSz="914400" rtl="0" eaLnBrk="1" fontAlgn="auto" latinLnBrk="0" hangingPunct="1">
              <a:lnSpc>
                <a:spcPct val="107000"/>
              </a:lnSpc>
              <a:spcBef>
                <a:spcPts val="0"/>
              </a:spcBef>
              <a:spcAft>
                <a:spcPts val="0"/>
              </a:spcAft>
              <a:buClrTx/>
              <a:buSzTx/>
              <a:buFont typeface="Arial" panose="020B0604020202020204" pitchFamily="34" charset="0"/>
              <a:buNone/>
              <a:tabLst/>
              <a:defRPr/>
            </a:pPr>
            <a:r>
              <a:rPr lang="en-US" sz="1100" b="1" dirty="0">
                <a:effectLst/>
                <a:ea typeface="Calibri" panose="020F0502020204030204" pitchFamily="34" charset="0"/>
                <a:cs typeface="Times New Roman" panose="02020603050405020304" pitchFamily="18" charset="0"/>
              </a:rPr>
              <a:t>CLICK</a:t>
            </a:r>
            <a:endPar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Title V is enforced by the respective federal agency for the specific ADA Title</a:t>
            </a:r>
          </a:p>
          <a:p>
            <a:pPr marL="0" marR="0" lvl="0" indent="0" algn="l" defTabSz="914400" rtl="0" eaLnBrk="1" fontAlgn="auto" latinLnBrk="0" hangingPunct="1">
              <a:lnSpc>
                <a:spcPct val="107000"/>
              </a:lnSpc>
              <a:spcBef>
                <a:spcPts val="0"/>
              </a:spcBef>
              <a:spcAft>
                <a:spcPts val="0"/>
              </a:spcAft>
              <a:buClrTx/>
              <a:buSzTx/>
              <a:buFontTx/>
              <a:buNone/>
              <a:tabLst/>
              <a:defRPr/>
            </a:pPr>
            <a:r>
              <a:rPr lang="en-US" sz="1100" b="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Moving onto slide 15</a:t>
            </a:r>
          </a:p>
          <a:p>
            <a:endParaRPr lang="en-US" dirty="0"/>
          </a:p>
        </p:txBody>
      </p:sp>
      <p:sp>
        <p:nvSpPr>
          <p:cNvPr id="4" name="Slide Number Placeholder 3"/>
          <p:cNvSpPr>
            <a:spLocks noGrp="1"/>
          </p:cNvSpPr>
          <p:nvPr>
            <p:ph type="sldNum" sz="quarter" idx="5"/>
          </p:nvPr>
        </p:nvSpPr>
        <p:spPr/>
        <p:txBody>
          <a:bodyPr/>
          <a:lstStyle/>
          <a:p>
            <a:fld id="{40E60467-868E-4120-BCCD-97469C488C52}" type="slidenum">
              <a:rPr lang="en-US" smtClean="0"/>
              <a:t>14</a:t>
            </a:fld>
            <a:endParaRPr lang="en-US" dirty="0"/>
          </a:p>
        </p:txBody>
      </p:sp>
    </p:spTree>
    <p:extLst>
      <p:ext uri="{BB962C8B-B14F-4D97-AF65-F5344CB8AC3E}">
        <p14:creationId xmlns:p14="http://schemas.microsoft.com/office/powerpoint/2010/main" val="36507404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To learn more about the concepts reviewed during this training, check out the ADA resources provided in this unit within Brightspace.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en-US" sz="1200" b="1" dirty="0">
                <a:solidFill>
                  <a:schemeClr val="tx1"/>
                </a:solidFill>
              </a:rPr>
              <a:t>CLICK</a:t>
            </a:r>
            <a:endParaRPr lang="en-US"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If you have questions about the ADA, call your regional ADA Center at 800-949-4232</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en-US" sz="1200" b="1" dirty="0">
                <a:solidFill>
                  <a:schemeClr val="tx1"/>
                </a:solidFill>
              </a:rPr>
              <a:t>CLICK</a:t>
            </a:r>
            <a:endParaRPr lang="en-US" altLang="en-US" sz="1200" b="0"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concludes the </a:t>
            </a:r>
            <a:r>
              <a:rPr lang="en-US" i="1" dirty="0">
                <a:solidFill>
                  <a:srgbClr val="1A2026"/>
                </a:solidFill>
              </a:rPr>
              <a:t>Americans with Disabilities Act</a:t>
            </a:r>
            <a:r>
              <a:rPr lang="en-US" dirty="0"/>
              <a:t>- </a:t>
            </a:r>
            <a:r>
              <a:rPr lang="en-US" sz="1200" b="0" i="0" dirty="0">
                <a:solidFill>
                  <a:srgbClr val="1A2026"/>
                </a:solidFill>
                <a:effectLst/>
              </a:rPr>
              <a:t>5 Titles of the ADA</a:t>
            </a:r>
            <a:endParaRPr lang="en-US" i="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next step is to view the </a:t>
            </a:r>
            <a:r>
              <a:rPr lang="en-US" i="1" dirty="0">
                <a:solidFill>
                  <a:srgbClr val="1A2026"/>
                </a:solidFill>
              </a:rPr>
              <a:t>Americans with Disabilities Act–</a:t>
            </a:r>
            <a:r>
              <a:rPr lang="en-US" sz="1200" b="0" dirty="0">
                <a:solidFill>
                  <a:srgbClr val="1A2026"/>
                </a:solidFill>
              </a:rPr>
              <a:t>ADA Requirements</a:t>
            </a:r>
            <a:endParaRPr lang="en-US" i="1" dirty="0">
              <a:solidFill>
                <a:srgbClr val="1A2026"/>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p:cNvSpPr>
            <a:spLocks noGrp="1"/>
          </p:cNvSpPr>
          <p:nvPr>
            <p:ph type="sldNum" sz="quarter" idx="5"/>
          </p:nvPr>
        </p:nvSpPr>
        <p:spPr/>
        <p:txBody>
          <a:bodyPr/>
          <a:lstStyle/>
          <a:p>
            <a:fld id="{40E60467-868E-4120-BCCD-97469C488C52}" type="slidenum">
              <a:rPr lang="en-US" smtClean="0"/>
              <a:t>15</a:t>
            </a:fld>
            <a:endParaRPr lang="en-US" dirty="0"/>
          </a:p>
        </p:txBody>
      </p:sp>
    </p:spTree>
    <p:extLst>
      <p:ext uri="{BB962C8B-B14F-4D97-AF65-F5344CB8AC3E}">
        <p14:creationId xmlns:p14="http://schemas.microsoft.com/office/powerpoint/2010/main" val="39576161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6B697-AADF-4B5B-BDFA-7C5EEA36DACB}"/>
              </a:ext>
            </a:extLst>
          </p:cNvPr>
          <p:cNvSpPr>
            <a:spLocks noGrp="1"/>
          </p:cNvSpPr>
          <p:nvPr>
            <p:ph type="ctrTitle"/>
          </p:nvPr>
        </p:nvSpPr>
        <p:spPr>
          <a:xfrm>
            <a:off x="0" y="2503487"/>
            <a:ext cx="12192000" cy="1006475"/>
          </a:xfrm>
          <a:prstGeom prst="rect">
            <a:avLst/>
          </a:prstGeom>
        </p:spPr>
        <p:txBody>
          <a:bodyPr anchor="b">
            <a:normAutofit/>
          </a:bodyPr>
          <a:lstStyle>
            <a:lvl1pPr algn="ctr">
              <a:defRPr sz="5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DF369B17-3B56-4E4B-8C66-CB4E097840CA}"/>
              </a:ext>
            </a:extLst>
          </p:cNvPr>
          <p:cNvSpPr>
            <a:spLocks noGrp="1"/>
          </p:cNvSpPr>
          <p:nvPr>
            <p:ph type="subTitle" idx="1"/>
          </p:nvPr>
        </p:nvSpPr>
        <p:spPr>
          <a:xfrm>
            <a:off x="1524000" y="3686012"/>
            <a:ext cx="9144000" cy="445987"/>
          </a:xfrm>
          <a:prstGeom prst="rect">
            <a:avLst/>
          </a:prstGeom>
        </p:spPr>
        <p:txBody>
          <a:bodyPr>
            <a:noAutofit/>
          </a:bodyPr>
          <a:lstStyle>
            <a:lvl1pPr marL="0" indent="0" algn="ctr">
              <a:buNone/>
              <a:defRPr sz="26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Slide Number Placeholder 5">
            <a:extLst>
              <a:ext uri="{FF2B5EF4-FFF2-40B4-BE49-F238E27FC236}">
                <a16:creationId xmlns:a16="http://schemas.microsoft.com/office/drawing/2014/main" id="{8AE8C83D-9332-4AA3-A687-19395E8264DF}"/>
              </a:ext>
            </a:extLst>
          </p:cNvPr>
          <p:cNvSpPr>
            <a:spLocks noGrp="1"/>
          </p:cNvSpPr>
          <p:nvPr>
            <p:ph type="sldNum" sz="quarter" idx="12"/>
          </p:nvPr>
        </p:nvSpPr>
        <p:spPr>
          <a:xfrm>
            <a:off x="9199880" y="6352540"/>
            <a:ext cx="2743200" cy="365125"/>
          </a:xfrm>
          <a:prstGeom prst="rect">
            <a:avLst/>
          </a:prstGeom>
        </p:spPr>
        <p:txBody>
          <a:bodyPr/>
          <a:lstStyle>
            <a:lvl1pPr algn="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
        <p:nvSpPr>
          <p:cNvPr id="7" name="Rectangle 6">
            <a:extLst>
              <a:ext uri="{FF2B5EF4-FFF2-40B4-BE49-F238E27FC236}">
                <a16:creationId xmlns:a16="http://schemas.microsoft.com/office/drawing/2014/main" id="{9E3E90D3-3A88-4C42-9FC7-3F8911146C6E}"/>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10" name="Picture 9" descr="Great Lakes ADA Center Logo">
            <a:extLst>
              <a:ext uri="{FF2B5EF4-FFF2-40B4-BE49-F238E27FC236}">
                <a16:creationId xmlns:a16="http://schemas.microsoft.com/office/drawing/2014/main" id="{063C4914-6CDC-4E2A-8601-8D963CA7C5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1" name="TextBox 10">
            <a:extLst>
              <a:ext uri="{FF2B5EF4-FFF2-40B4-BE49-F238E27FC236}">
                <a16:creationId xmlns:a16="http://schemas.microsoft.com/office/drawing/2014/main" id="{7A4361BA-743B-4239-B1F2-F6EBEDCC2EC1}"/>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Tree>
    <p:extLst>
      <p:ext uri="{BB962C8B-B14F-4D97-AF65-F5344CB8AC3E}">
        <p14:creationId xmlns:p14="http://schemas.microsoft.com/office/powerpoint/2010/main" val="4192679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A45C6-2D39-4CAA-AAB8-1B99E4A13C91}"/>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438BC5F2-7BED-4188-839B-AB7B42659ED6}"/>
              </a:ext>
            </a:extLst>
          </p:cNvPr>
          <p:cNvSpPr>
            <a:spLocks noGrp="1"/>
          </p:cNvSpPr>
          <p:nvPr>
            <p:ph idx="1"/>
          </p:nvPr>
        </p:nvSpPr>
        <p:spPr>
          <a:xfrm>
            <a:off x="838200" y="1823283"/>
            <a:ext cx="10515600" cy="4353680"/>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nSpc>
                <a:spcPct val="100000"/>
              </a:lnSpc>
              <a:spcBef>
                <a:spcPts val="600"/>
              </a:spcBef>
              <a:defRPr sz="2600" baseline="0">
                <a:latin typeface="Arial" panose="020B0604020202020204" pitchFamily="34" charset="0"/>
                <a:cs typeface="Arial" panose="020B0604020202020204" pitchFamily="34" charset="0"/>
              </a:defRPr>
            </a:lvl2pPr>
            <a:lvl3pPr marL="1143000" indent="-182880">
              <a:lnSpc>
                <a:spcPct val="100000"/>
              </a:lnSpc>
              <a:spcBef>
                <a:spcPts val="600"/>
              </a:spcBef>
              <a:buSzPct val="90000"/>
              <a:buFont typeface="Wingdings" panose="05000000000000000000" pitchFamily="2" charset="2"/>
              <a:buChar char="§"/>
              <a:defRPr sz="2400">
                <a:latin typeface="Arial" panose="020B0604020202020204" pitchFamily="34" charset="0"/>
                <a:cs typeface="Arial" panose="020B0604020202020204" pitchFamily="34" charset="0"/>
              </a:defRPr>
            </a:lvl3pPr>
            <a:lvl4pPr marL="1600200" indent="-182880">
              <a:lnSpc>
                <a:spcPct val="100000"/>
              </a:lnSpc>
              <a:spcBef>
                <a:spcPts val="600"/>
              </a:spcBef>
              <a:buSzPct val="100000"/>
              <a:buFont typeface="Arial" panose="020B0604020202020204" pitchFamily="34" charset="0"/>
              <a:buChar char="−"/>
              <a:defRPr sz="2200">
                <a:latin typeface="Arial" panose="020B0604020202020204" pitchFamily="34" charset="0"/>
                <a:cs typeface="Arial" panose="020B0604020202020204" pitchFamily="34" charset="0"/>
              </a:defRPr>
            </a:lvl4pPr>
            <a:lvl5pPr marL="2057400" indent="-182880">
              <a:lnSpc>
                <a:spcPct val="100000"/>
              </a:lnSpc>
              <a:spcBef>
                <a:spcPts val="600"/>
              </a:spcBef>
              <a:buSzPct val="100000"/>
              <a:buFont typeface="Arial" panose="020B0604020202020204" pitchFamily="34" charset="0"/>
              <a:buChar char="•"/>
              <a:defRPr sz="2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0C30E95-B5EC-4389-84F8-9D8ACD4E1782}"/>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17380DD-8276-4811-83A9-3D963CE4FD7A}"/>
              </a:ext>
            </a:extLst>
          </p:cNvPr>
          <p:cNvSpPr>
            <a:spLocks noGrp="1"/>
          </p:cNvSpPr>
          <p:nvPr>
            <p:ph type="ftr" sz="quarter" idx="11"/>
          </p:nvPr>
        </p:nvSpPr>
        <p:spPr/>
        <p:txBody>
          <a:bodyPr/>
          <a:lstStyle/>
          <a:p>
            <a:endParaRPr lang="en-US" dirty="0"/>
          </a:p>
        </p:txBody>
      </p:sp>
      <p:sp>
        <p:nvSpPr>
          <p:cNvPr id="7" name="Rectangle 6">
            <a:extLst>
              <a:ext uri="{FF2B5EF4-FFF2-40B4-BE49-F238E27FC236}">
                <a16:creationId xmlns:a16="http://schemas.microsoft.com/office/drawing/2014/main" id="{3805A767-A071-4356-B862-8141438BE659}"/>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8" name="Picture 7" descr="Great Lakes ADA Center Logo">
            <a:extLst>
              <a:ext uri="{FF2B5EF4-FFF2-40B4-BE49-F238E27FC236}">
                <a16:creationId xmlns:a16="http://schemas.microsoft.com/office/drawing/2014/main" id="{F7512FE2-31F3-45F6-AB6E-262603B756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9" name="TextBox 8">
            <a:extLst>
              <a:ext uri="{FF2B5EF4-FFF2-40B4-BE49-F238E27FC236}">
                <a16:creationId xmlns:a16="http://schemas.microsoft.com/office/drawing/2014/main" id="{A10A531D-88C5-4E50-B1B1-77921D291A6D}"/>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0" name="Slide Number Placeholder 5">
            <a:extLst>
              <a:ext uri="{FF2B5EF4-FFF2-40B4-BE49-F238E27FC236}">
                <a16:creationId xmlns:a16="http://schemas.microsoft.com/office/drawing/2014/main" id="{5E718D1A-8C96-4B6D-AE6F-5F520AEB52BD}"/>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pic>
        <p:nvPicPr>
          <p:cNvPr id="12" name="Picture 11" descr="A blue and black logo&#10;&#10;Description automatically generated with medium confidence">
            <a:extLst>
              <a:ext uri="{FF2B5EF4-FFF2-40B4-BE49-F238E27FC236}">
                <a16:creationId xmlns:a16="http://schemas.microsoft.com/office/drawing/2014/main" id="{9316E9A4-964C-46CE-873A-2C0820133B5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Tree>
    <p:extLst>
      <p:ext uri="{BB962C8B-B14F-4D97-AF65-F5344CB8AC3E}">
        <p14:creationId xmlns:p14="http://schemas.microsoft.com/office/powerpoint/2010/main" val="1726645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1C3E6-4F14-4493-A95F-5AE51C3867FA}"/>
              </a:ext>
            </a:extLst>
          </p:cNvPr>
          <p:cNvSpPr>
            <a:spLocks noGrp="1"/>
          </p:cNvSpPr>
          <p:nvPr>
            <p:ph type="title"/>
          </p:nvPr>
        </p:nvSpPr>
        <p:spPr>
          <a:xfrm>
            <a:off x="831850" y="1709738"/>
            <a:ext cx="10515600" cy="2852737"/>
          </a:xfrm>
          <a:prstGeom prst="rect">
            <a:avLst/>
          </a:prstGeom>
        </p:spPr>
        <p:txBody>
          <a:bodyPr anchor="b">
            <a:normAutofit/>
          </a:bodyPr>
          <a:lstStyle>
            <a:lvl1pPr>
              <a:defRPr sz="5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B30AC31A-C92F-4518-ABEE-8CD6CA202F4A}"/>
              </a:ext>
            </a:extLst>
          </p:cNvPr>
          <p:cNvSpPr>
            <a:spLocks noGrp="1"/>
          </p:cNvSpPr>
          <p:nvPr>
            <p:ph type="body" idx="1"/>
          </p:nvPr>
        </p:nvSpPr>
        <p:spPr>
          <a:xfrm>
            <a:off x="831850" y="4589463"/>
            <a:ext cx="10515600" cy="1500187"/>
          </a:xfrm>
          <a:prstGeom prst="rect">
            <a:avLst/>
          </a:prstGeom>
        </p:spPr>
        <p:txBody>
          <a:bodyPr/>
          <a:lstStyle>
            <a:lvl1pPr marL="0" indent="0">
              <a:buNone/>
              <a:defRPr sz="2400" b="0">
                <a:solidFill>
                  <a:schemeClr val="tx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C65140FE-8272-4BBE-AC7A-76C6704F22F2}"/>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D8BE251F-0289-47CA-A1F7-AA5CE80E9FAF}"/>
              </a:ext>
            </a:extLst>
          </p:cNvPr>
          <p:cNvSpPr>
            <a:spLocks noGrp="1"/>
          </p:cNvSpPr>
          <p:nvPr>
            <p:ph type="ftr" sz="quarter" idx="11"/>
          </p:nvPr>
        </p:nvSpPr>
        <p:spPr/>
        <p:txBody>
          <a:bodyPr/>
          <a:lstStyle/>
          <a:p>
            <a:endParaRPr lang="en-US" dirty="0"/>
          </a:p>
        </p:txBody>
      </p:sp>
      <p:sp>
        <p:nvSpPr>
          <p:cNvPr id="7" name="Rectangle 6">
            <a:extLst>
              <a:ext uri="{FF2B5EF4-FFF2-40B4-BE49-F238E27FC236}">
                <a16:creationId xmlns:a16="http://schemas.microsoft.com/office/drawing/2014/main" id="{B4AF4C47-64C5-420C-A05B-CC30B5FCE271}"/>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8" name="Picture 7" descr="Great Lakes ADA Center Logo">
            <a:extLst>
              <a:ext uri="{FF2B5EF4-FFF2-40B4-BE49-F238E27FC236}">
                <a16:creationId xmlns:a16="http://schemas.microsoft.com/office/drawing/2014/main" id="{61A85098-592F-4DC9-8019-4353E5F509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9" name="TextBox 8">
            <a:extLst>
              <a:ext uri="{FF2B5EF4-FFF2-40B4-BE49-F238E27FC236}">
                <a16:creationId xmlns:a16="http://schemas.microsoft.com/office/drawing/2014/main" id="{AD9BE9B6-9CD1-4605-AE7B-F009A0F30DB1}"/>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0" name="Slide Number Placeholder 5">
            <a:extLst>
              <a:ext uri="{FF2B5EF4-FFF2-40B4-BE49-F238E27FC236}">
                <a16:creationId xmlns:a16="http://schemas.microsoft.com/office/drawing/2014/main" id="{CA5FB1DC-BCDB-4814-B3F4-C086DC3D0551}"/>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Tree>
    <p:extLst>
      <p:ext uri="{BB962C8B-B14F-4D97-AF65-F5344CB8AC3E}">
        <p14:creationId xmlns:p14="http://schemas.microsoft.com/office/powerpoint/2010/main" val="835784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1E0C3B-3AD2-40B9-B584-A8CB95D95665}"/>
              </a:ext>
            </a:extLst>
          </p:cNvPr>
          <p:cNvSpPr>
            <a:spLocks noGrp="1"/>
          </p:cNvSpPr>
          <p:nvPr>
            <p:ph sz="half" idx="1"/>
          </p:nvPr>
        </p:nvSpPr>
        <p:spPr>
          <a:xfrm>
            <a:off x="838200" y="1823283"/>
            <a:ext cx="5334000" cy="4223040"/>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8446652-59E9-447E-8DE5-DDC23C203AD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E7186E85-3B71-426E-970C-250A0BF767DC}"/>
              </a:ext>
            </a:extLst>
          </p:cNvPr>
          <p:cNvSpPr>
            <a:spLocks noGrp="1"/>
          </p:cNvSpPr>
          <p:nvPr>
            <p:ph type="ftr" sz="quarter" idx="11"/>
          </p:nvPr>
        </p:nvSpPr>
        <p:spPr/>
        <p:txBody>
          <a:bodyPr/>
          <a:lstStyle/>
          <a:p>
            <a:endParaRPr lang="en-US" dirty="0"/>
          </a:p>
        </p:txBody>
      </p:sp>
      <p:sp>
        <p:nvSpPr>
          <p:cNvPr id="8" name="Rectangle 7">
            <a:extLst>
              <a:ext uri="{FF2B5EF4-FFF2-40B4-BE49-F238E27FC236}">
                <a16:creationId xmlns:a16="http://schemas.microsoft.com/office/drawing/2014/main" id="{06D4CC1D-9749-47F2-9F1C-4395A5EB78DC}"/>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9" name="Picture 8" descr="Great Lakes ADA Center Logo">
            <a:extLst>
              <a:ext uri="{FF2B5EF4-FFF2-40B4-BE49-F238E27FC236}">
                <a16:creationId xmlns:a16="http://schemas.microsoft.com/office/drawing/2014/main" id="{9B4D940D-154E-4428-8CD8-15247DAD60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0" name="TextBox 9">
            <a:extLst>
              <a:ext uri="{FF2B5EF4-FFF2-40B4-BE49-F238E27FC236}">
                <a16:creationId xmlns:a16="http://schemas.microsoft.com/office/drawing/2014/main" id="{CED8A158-8BB6-417C-B6BF-41D3646CAEFE}"/>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2" name="Slide Number Placeholder 5">
            <a:extLst>
              <a:ext uri="{FF2B5EF4-FFF2-40B4-BE49-F238E27FC236}">
                <a16:creationId xmlns:a16="http://schemas.microsoft.com/office/drawing/2014/main" id="{75BFECCB-0466-4C1B-B5D4-ED9D5EFED82E}"/>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pic>
        <p:nvPicPr>
          <p:cNvPr id="13" name="Picture 12" descr="A blue and black logo&#10;&#10;Description automatically generated with medium confidence">
            <a:extLst>
              <a:ext uri="{FF2B5EF4-FFF2-40B4-BE49-F238E27FC236}">
                <a16:creationId xmlns:a16="http://schemas.microsoft.com/office/drawing/2014/main" id="{F3681B53-9206-4AC5-96C2-FE910C0A122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4" name="Content Placeholder 2">
            <a:extLst>
              <a:ext uri="{FF2B5EF4-FFF2-40B4-BE49-F238E27FC236}">
                <a16:creationId xmlns:a16="http://schemas.microsoft.com/office/drawing/2014/main" id="{1A1D122C-5EA1-4887-BE48-3D0CC2063A5B}"/>
              </a:ext>
            </a:extLst>
          </p:cNvPr>
          <p:cNvSpPr>
            <a:spLocks noGrp="1"/>
          </p:cNvSpPr>
          <p:nvPr>
            <p:ph sz="half" idx="13"/>
          </p:nvPr>
        </p:nvSpPr>
        <p:spPr>
          <a:xfrm>
            <a:off x="6183560" y="1823282"/>
            <a:ext cx="5334000" cy="4223040"/>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1">
            <a:extLst>
              <a:ext uri="{FF2B5EF4-FFF2-40B4-BE49-F238E27FC236}">
                <a16:creationId xmlns:a16="http://schemas.microsoft.com/office/drawing/2014/main" id="{1869BF63-28BC-4E67-80CA-4A26E9AE9EDE}"/>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2601110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B89D18-FEBB-4366-AAF1-9E031C54EE16}"/>
              </a:ext>
            </a:extLst>
          </p:cNvPr>
          <p:cNvSpPr>
            <a:spLocks noGrp="1"/>
          </p:cNvSpPr>
          <p:nvPr>
            <p:ph type="body" idx="1"/>
          </p:nvPr>
        </p:nvSpPr>
        <p:spPr>
          <a:xfrm>
            <a:off x="839787" y="1823283"/>
            <a:ext cx="5311755" cy="681792"/>
          </a:xfrm>
          <a:prstGeom prst="rect">
            <a:avLst/>
          </a:prstGeom>
        </p:spPr>
        <p:txBody>
          <a:bodyPr anchor="b">
            <a:noAutofit/>
          </a:bodyPr>
          <a:lstStyle>
            <a:lvl1pPr marL="0" indent="0">
              <a:buNone/>
              <a:defRPr sz="28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A0C0206A-6894-4182-86E8-7AD013C4B233}"/>
              </a:ext>
            </a:extLst>
          </p:cNvPr>
          <p:cNvSpPr>
            <a:spLocks noGrp="1"/>
          </p:cNvSpPr>
          <p:nvPr>
            <p:ph type="body" sz="quarter" idx="3"/>
          </p:nvPr>
        </p:nvSpPr>
        <p:spPr>
          <a:xfrm>
            <a:off x="6415503" y="1821446"/>
            <a:ext cx="5311755" cy="681793"/>
          </a:xfrm>
          <a:prstGeom prst="rect">
            <a:avLst/>
          </a:prstGeom>
        </p:spPr>
        <p:txBody>
          <a:bodyPr anchor="b">
            <a:noAutofit/>
          </a:bodyPr>
          <a:lstStyle>
            <a:lvl1pPr marL="0" indent="0">
              <a:buNone/>
              <a:defRPr sz="28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Date Placeholder 6">
            <a:extLst>
              <a:ext uri="{FF2B5EF4-FFF2-40B4-BE49-F238E27FC236}">
                <a16:creationId xmlns:a16="http://schemas.microsoft.com/office/drawing/2014/main" id="{98CD63A9-E7CA-49AC-ACBE-FA8D1F9AA59E}"/>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6F221F0F-BE4E-4A93-B2EB-02933E330628}"/>
              </a:ext>
            </a:extLst>
          </p:cNvPr>
          <p:cNvSpPr>
            <a:spLocks noGrp="1"/>
          </p:cNvSpPr>
          <p:nvPr>
            <p:ph type="ftr" sz="quarter" idx="11"/>
          </p:nvPr>
        </p:nvSpPr>
        <p:spPr/>
        <p:txBody>
          <a:bodyPr/>
          <a:lstStyle/>
          <a:p>
            <a:endParaRPr lang="en-US" dirty="0"/>
          </a:p>
        </p:txBody>
      </p:sp>
      <p:sp>
        <p:nvSpPr>
          <p:cNvPr id="10" name="Rectangle 9">
            <a:extLst>
              <a:ext uri="{FF2B5EF4-FFF2-40B4-BE49-F238E27FC236}">
                <a16:creationId xmlns:a16="http://schemas.microsoft.com/office/drawing/2014/main" id="{1F777C50-0445-4424-9486-6AE6027BD038}"/>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11" name="Picture 10" descr="Great Lakes ADA Center Logo">
            <a:extLst>
              <a:ext uri="{FF2B5EF4-FFF2-40B4-BE49-F238E27FC236}">
                <a16:creationId xmlns:a16="http://schemas.microsoft.com/office/drawing/2014/main" id="{FBFBEB4D-1F79-48A5-83E1-5B296A7352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2" name="TextBox 11">
            <a:extLst>
              <a:ext uri="{FF2B5EF4-FFF2-40B4-BE49-F238E27FC236}">
                <a16:creationId xmlns:a16="http://schemas.microsoft.com/office/drawing/2014/main" id="{888978D7-9BD4-45C1-B334-30DF7DEC778C}"/>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4" name="Slide Number Placeholder 5">
            <a:extLst>
              <a:ext uri="{FF2B5EF4-FFF2-40B4-BE49-F238E27FC236}">
                <a16:creationId xmlns:a16="http://schemas.microsoft.com/office/drawing/2014/main" id="{D54A9D79-D4FF-46CC-85A3-841236EF8DCF}"/>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
        <p:nvSpPr>
          <p:cNvPr id="17" name="Content Placeholder 2">
            <a:extLst>
              <a:ext uri="{FF2B5EF4-FFF2-40B4-BE49-F238E27FC236}">
                <a16:creationId xmlns:a16="http://schemas.microsoft.com/office/drawing/2014/main" id="{144E307B-A373-41F5-A858-679BB34EDFAC}"/>
              </a:ext>
            </a:extLst>
          </p:cNvPr>
          <p:cNvSpPr>
            <a:spLocks noGrp="1"/>
          </p:cNvSpPr>
          <p:nvPr>
            <p:ph sz="half" idx="13"/>
          </p:nvPr>
        </p:nvSpPr>
        <p:spPr>
          <a:xfrm>
            <a:off x="838200" y="2573595"/>
            <a:ext cx="5334000" cy="3472727"/>
          </a:xfrm>
          <a:prstGeom prst="rect">
            <a:avLst/>
          </a:prstGeom>
        </p:spPr>
        <p:txBody>
          <a:bodyPr/>
          <a:lstStyle>
            <a:lvl1pPr marL="0" indent="0">
              <a:buNone/>
              <a:defRPr b="0">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a:extLst>
              <a:ext uri="{FF2B5EF4-FFF2-40B4-BE49-F238E27FC236}">
                <a16:creationId xmlns:a16="http://schemas.microsoft.com/office/drawing/2014/main" id="{3A6B19AB-6343-4688-8712-9DB1D0FEB8C2}"/>
              </a:ext>
            </a:extLst>
          </p:cNvPr>
          <p:cNvSpPr>
            <a:spLocks noGrp="1"/>
          </p:cNvSpPr>
          <p:nvPr>
            <p:ph sz="half" idx="14"/>
          </p:nvPr>
        </p:nvSpPr>
        <p:spPr>
          <a:xfrm>
            <a:off x="6404380" y="2569922"/>
            <a:ext cx="5334000" cy="3476400"/>
          </a:xfrm>
          <a:prstGeom prst="rect">
            <a:avLst/>
          </a:prstGeom>
        </p:spPr>
        <p:txBody>
          <a:bodyPr/>
          <a:lstStyle>
            <a:lvl1pPr marL="0" indent="0">
              <a:buNone/>
              <a:defRPr b="0">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9" name="Picture 18" descr="A blue and black logo&#10;&#10;Description automatically generated with medium confidence">
            <a:extLst>
              <a:ext uri="{FF2B5EF4-FFF2-40B4-BE49-F238E27FC236}">
                <a16:creationId xmlns:a16="http://schemas.microsoft.com/office/drawing/2014/main" id="{4E81C796-9A75-4B52-9431-4799EB1F40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20" name="Title 1">
            <a:extLst>
              <a:ext uri="{FF2B5EF4-FFF2-40B4-BE49-F238E27FC236}">
                <a16:creationId xmlns:a16="http://schemas.microsoft.com/office/drawing/2014/main" id="{6B6993ED-B142-4D9C-B3D8-D9AC6A174CF1}"/>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269661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102C23-2683-4B4B-AA23-37E6B1F8AB67}"/>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7E9F4F8C-3111-44C7-8636-B529776FF520}"/>
              </a:ext>
            </a:extLst>
          </p:cNvPr>
          <p:cNvSpPr>
            <a:spLocks noGrp="1"/>
          </p:cNvSpPr>
          <p:nvPr>
            <p:ph type="ftr" sz="quarter" idx="11"/>
          </p:nvPr>
        </p:nvSpPr>
        <p:spPr/>
        <p:txBody>
          <a:bodyPr/>
          <a:lstStyle/>
          <a:p>
            <a:endParaRPr lang="en-US" dirty="0"/>
          </a:p>
        </p:txBody>
      </p:sp>
      <p:sp>
        <p:nvSpPr>
          <p:cNvPr id="6" name="Rectangle 5">
            <a:extLst>
              <a:ext uri="{FF2B5EF4-FFF2-40B4-BE49-F238E27FC236}">
                <a16:creationId xmlns:a16="http://schemas.microsoft.com/office/drawing/2014/main" id="{8D7CB051-7C34-43BC-B62E-A2AC7EA49B45}"/>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7" name="Picture 6" descr="Great Lakes ADA Center Logo">
            <a:extLst>
              <a:ext uri="{FF2B5EF4-FFF2-40B4-BE49-F238E27FC236}">
                <a16:creationId xmlns:a16="http://schemas.microsoft.com/office/drawing/2014/main" id="{CB9B59AE-C96C-4C0B-A851-FBFC90FAED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8" name="TextBox 7">
            <a:extLst>
              <a:ext uri="{FF2B5EF4-FFF2-40B4-BE49-F238E27FC236}">
                <a16:creationId xmlns:a16="http://schemas.microsoft.com/office/drawing/2014/main" id="{1F1CD3B2-8302-42DA-B1F4-99AA733CF3D4}"/>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9" name="Slide Number Placeholder 5">
            <a:extLst>
              <a:ext uri="{FF2B5EF4-FFF2-40B4-BE49-F238E27FC236}">
                <a16:creationId xmlns:a16="http://schemas.microsoft.com/office/drawing/2014/main" id="{5DCCD664-C7F3-466C-9D7C-35A5A085B877}"/>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pic>
        <p:nvPicPr>
          <p:cNvPr id="10" name="Picture 9" descr="A blue and black logo&#10;&#10;Description automatically generated with medium confidence">
            <a:extLst>
              <a:ext uri="{FF2B5EF4-FFF2-40B4-BE49-F238E27FC236}">
                <a16:creationId xmlns:a16="http://schemas.microsoft.com/office/drawing/2014/main" id="{1BC79AB4-4F85-4403-BE09-084B431A7C3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2" name="Title 1">
            <a:extLst>
              <a:ext uri="{FF2B5EF4-FFF2-40B4-BE49-F238E27FC236}">
                <a16:creationId xmlns:a16="http://schemas.microsoft.com/office/drawing/2014/main" id="{C050C4CD-01E7-48D5-8ECC-647274FC5CA6}"/>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88909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F33D2-6A5C-48E9-A65B-5BEA71498A52}"/>
              </a:ext>
            </a:extLst>
          </p:cNvPr>
          <p:cNvSpPr>
            <a:spLocks noGrp="1"/>
          </p:cNvSpPr>
          <p:nvPr>
            <p:ph type="title"/>
          </p:nvPr>
        </p:nvSpPr>
        <p:spPr>
          <a:xfrm>
            <a:off x="839788" y="987425"/>
            <a:ext cx="3932237" cy="1069974"/>
          </a:xfrm>
          <a:prstGeom prst="rect">
            <a:avLst/>
          </a:prstGeom>
        </p:spPr>
        <p:txBody>
          <a:bodyPr anchor="b">
            <a:noAutofit/>
          </a:bodyPr>
          <a:lstStyle>
            <a:lvl1pPr>
              <a:defRPr sz="36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id="{7C5036BB-774C-4A49-A56A-24783B628134}"/>
              </a:ext>
            </a:extLst>
          </p:cNvPr>
          <p:cNvSpPr>
            <a:spLocks noGrp="1"/>
          </p:cNvSpPr>
          <p:nvPr>
            <p:ph type="body" sz="half" idx="2"/>
          </p:nvPr>
        </p:nvSpPr>
        <p:spPr>
          <a:xfrm>
            <a:off x="839788" y="2158210"/>
            <a:ext cx="3932237" cy="3710777"/>
          </a:xfrm>
          <a:prstGeom prst="rect">
            <a:avLst/>
          </a:prstGeom>
        </p:spPr>
        <p:txBody>
          <a:bodyPr>
            <a:normAutofit/>
          </a:bodyPr>
          <a:lstStyle>
            <a:lvl1pPr marL="0" indent="0">
              <a:buNone/>
              <a:defRPr sz="2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65706DE4-249F-4186-B59D-508D75FF3D3B}"/>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D35D79A-C33C-4C23-AA78-D88A74F47B99}"/>
              </a:ext>
            </a:extLst>
          </p:cNvPr>
          <p:cNvSpPr>
            <a:spLocks noGrp="1"/>
          </p:cNvSpPr>
          <p:nvPr>
            <p:ph type="ftr" sz="quarter" idx="11"/>
          </p:nvPr>
        </p:nvSpPr>
        <p:spPr/>
        <p:txBody>
          <a:bodyPr/>
          <a:lstStyle/>
          <a:p>
            <a:endParaRPr lang="en-US" dirty="0"/>
          </a:p>
        </p:txBody>
      </p:sp>
      <p:sp>
        <p:nvSpPr>
          <p:cNvPr id="8" name="Rectangle 7">
            <a:extLst>
              <a:ext uri="{FF2B5EF4-FFF2-40B4-BE49-F238E27FC236}">
                <a16:creationId xmlns:a16="http://schemas.microsoft.com/office/drawing/2014/main" id="{E3C3B159-F006-45E8-8757-6D1448F98D90}"/>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9" name="Picture 8" descr="Great Lakes ADA Center Logo">
            <a:extLst>
              <a:ext uri="{FF2B5EF4-FFF2-40B4-BE49-F238E27FC236}">
                <a16:creationId xmlns:a16="http://schemas.microsoft.com/office/drawing/2014/main" id="{AE0E6BC4-7CEC-42F2-A969-97780A91F8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0" name="TextBox 9">
            <a:extLst>
              <a:ext uri="{FF2B5EF4-FFF2-40B4-BE49-F238E27FC236}">
                <a16:creationId xmlns:a16="http://schemas.microsoft.com/office/drawing/2014/main" id="{E16CA744-EAA5-458D-93EE-F90E3D21A132}"/>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pic>
        <p:nvPicPr>
          <p:cNvPr id="11" name="Picture 10" descr="A blue and black logo&#10;&#10;Description automatically generated with medium confidence">
            <a:extLst>
              <a:ext uri="{FF2B5EF4-FFF2-40B4-BE49-F238E27FC236}">
                <a16:creationId xmlns:a16="http://schemas.microsoft.com/office/drawing/2014/main" id="{A0787189-DCFC-4BC5-87CE-87692C7DE4B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2" name="Slide Number Placeholder 5">
            <a:extLst>
              <a:ext uri="{FF2B5EF4-FFF2-40B4-BE49-F238E27FC236}">
                <a16:creationId xmlns:a16="http://schemas.microsoft.com/office/drawing/2014/main" id="{E7FE86DB-6C5F-43CB-B956-F77EF27C67C9}"/>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
        <p:nvSpPr>
          <p:cNvPr id="13" name="Content Placeholder 2">
            <a:extLst>
              <a:ext uri="{FF2B5EF4-FFF2-40B4-BE49-F238E27FC236}">
                <a16:creationId xmlns:a16="http://schemas.microsoft.com/office/drawing/2014/main" id="{49A905B8-E38D-4A42-B81E-9D9A6851F187}"/>
              </a:ext>
            </a:extLst>
          </p:cNvPr>
          <p:cNvSpPr>
            <a:spLocks noGrp="1"/>
          </p:cNvSpPr>
          <p:nvPr>
            <p:ph idx="1"/>
          </p:nvPr>
        </p:nvSpPr>
        <p:spPr>
          <a:xfrm>
            <a:off x="5020682" y="987426"/>
            <a:ext cx="6922398" cy="4881562"/>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nSpc>
                <a:spcPct val="100000"/>
              </a:lnSpc>
              <a:spcBef>
                <a:spcPts val="600"/>
              </a:spcBef>
              <a:defRPr sz="2600">
                <a:latin typeface="Arial" panose="020B0604020202020204" pitchFamily="34" charset="0"/>
                <a:cs typeface="Arial" panose="020B0604020202020204" pitchFamily="34" charset="0"/>
              </a:defRPr>
            </a:lvl2pPr>
            <a:lvl3pPr marL="1143000" indent="-182880">
              <a:lnSpc>
                <a:spcPct val="100000"/>
              </a:lnSpc>
              <a:spcBef>
                <a:spcPts val="600"/>
              </a:spcBef>
              <a:buSzPct val="90000"/>
              <a:buFont typeface="Wingdings" panose="05000000000000000000" pitchFamily="2" charset="2"/>
              <a:buChar char="§"/>
              <a:defRPr sz="2400">
                <a:latin typeface="Arial" panose="020B0604020202020204" pitchFamily="34" charset="0"/>
                <a:cs typeface="Arial" panose="020B0604020202020204" pitchFamily="34" charset="0"/>
              </a:defRPr>
            </a:lvl3pPr>
            <a:lvl4pPr marL="1600200" indent="-182880">
              <a:lnSpc>
                <a:spcPct val="100000"/>
              </a:lnSpc>
              <a:spcBef>
                <a:spcPts val="600"/>
              </a:spcBef>
              <a:buSzPct val="100000"/>
              <a:buFont typeface="Arial" panose="020B0604020202020204" pitchFamily="34" charset="0"/>
              <a:buChar char="−"/>
              <a:defRPr sz="2200">
                <a:latin typeface="Arial" panose="020B0604020202020204" pitchFamily="34" charset="0"/>
                <a:cs typeface="Arial" panose="020B0604020202020204" pitchFamily="34" charset="0"/>
              </a:defRPr>
            </a:lvl4pPr>
            <a:lvl5pPr marL="2057400" indent="-182880">
              <a:lnSpc>
                <a:spcPct val="100000"/>
              </a:lnSpc>
              <a:spcBef>
                <a:spcPts val="600"/>
              </a:spcBef>
              <a:buSzPct val="100000"/>
              <a:buFont typeface="Arial" panose="020B0604020202020204" pitchFamily="34" charset="0"/>
              <a:buChar char="•"/>
              <a:defRPr sz="20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1464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A2F218-E0CC-46F0-B4DF-A1B7B469D00A}"/>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5" name="Date Placeholder 4">
            <a:extLst>
              <a:ext uri="{FF2B5EF4-FFF2-40B4-BE49-F238E27FC236}">
                <a16:creationId xmlns:a16="http://schemas.microsoft.com/office/drawing/2014/main" id="{D29F0338-5875-43F6-A614-1A5E719EFCB6}"/>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3305C358-FDE1-46D8-AD25-6107FC3C5418}"/>
              </a:ext>
            </a:extLst>
          </p:cNvPr>
          <p:cNvSpPr>
            <a:spLocks noGrp="1"/>
          </p:cNvSpPr>
          <p:nvPr>
            <p:ph type="ftr" sz="quarter" idx="11"/>
          </p:nvPr>
        </p:nvSpPr>
        <p:spPr/>
        <p:txBody>
          <a:bodyPr/>
          <a:lstStyle/>
          <a:p>
            <a:endParaRPr lang="en-US" dirty="0"/>
          </a:p>
        </p:txBody>
      </p:sp>
      <p:sp>
        <p:nvSpPr>
          <p:cNvPr id="8" name="Title 1">
            <a:extLst>
              <a:ext uri="{FF2B5EF4-FFF2-40B4-BE49-F238E27FC236}">
                <a16:creationId xmlns:a16="http://schemas.microsoft.com/office/drawing/2014/main" id="{CA917260-5A80-4B47-A62F-E589239945BB}"/>
              </a:ext>
            </a:extLst>
          </p:cNvPr>
          <p:cNvSpPr>
            <a:spLocks noGrp="1"/>
          </p:cNvSpPr>
          <p:nvPr>
            <p:ph type="title"/>
          </p:nvPr>
        </p:nvSpPr>
        <p:spPr>
          <a:xfrm>
            <a:off x="839788" y="987425"/>
            <a:ext cx="3932237" cy="1069974"/>
          </a:xfrm>
          <a:prstGeom prst="rect">
            <a:avLst/>
          </a:prstGeom>
        </p:spPr>
        <p:txBody>
          <a:bodyPr anchor="b">
            <a:noAutofit/>
          </a:bodyPr>
          <a:lstStyle>
            <a:lvl1pPr>
              <a:defRPr sz="36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9" name="Text Placeholder 3">
            <a:extLst>
              <a:ext uri="{FF2B5EF4-FFF2-40B4-BE49-F238E27FC236}">
                <a16:creationId xmlns:a16="http://schemas.microsoft.com/office/drawing/2014/main" id="{66BD97FD-52D7-4D27-BC2D-E0503BA4E5B2}"/>
              </a:ext>
            </a:extLst>
          </p:cNvPr>
          <p:cNvSpPr>
            <a:spLocks noGrp="1"/>
          </p:cNvSpPr>
          <p:nvPr>
            <p:ph type="body" sz="half" idx="2"/>
          </p:nvPr>
        </p:nvSpPr>
        <p:spPr>
          <a:xfrm>
            <a:off x="839788" y="2158210"/>
            <a:ext cx="3932237" cy="3710777"/>
          </a:xfrm>
          <a:prstGeom prst="rect">
            <a:avLst/>
          </a:prstGeom>
        </p:spPr>
        <p:txBody>
          <a:bodyPr>
            <a:normAutofit/>
          </a:bodyPr>
          <a:lstStyle>
            <a:lvl1pPr marL="0" indent="0">
              <a:buNone/>
              <a:defRPr sz="2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0" name="Rectangle 9">
            <a:extLst>
              <a:ext uri="{FF2B5EF4-FFF2-40B4-BE49-F238E27FC236}">
                <a16:creationId xmlns:a16="http://schemas.microsoft.com/office/drawing/2014/main" id="{5EFACB75-0E86-421C-8F2B-8906B61C1F67}"/>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11" name="Picture 10" descr="Great Lakes ADA Center Logo">
            <a:extLst>
              <a:ext uri="{FF2B5EF4-FFF2-40B4-BE49-F238E27FC236}">
                <a16:creationId xmlns:a16="http://schemas.microsoft.com/office/drawing/2014/main" id="{8A64F6AE-200D-4215-85C3-5C2B397376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2" name="TextBox 11">
            <a:extLst>
              <a:ext uri="{FF2B5EF4-FFF2-40B4-BE49-F238E27FC236}">
                <a16:creationId xmlns:a16="http://schemas.microsoft.com/office/drawing/2014/main" id="{2CCC1008-3C55-4388-89C7-50AC30F7B0FE}"/>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pic>
        <p:nvPicPr>
          <p:cNvPr id="13" name="Picture 12" descr="A blue and black logo&#10;&#10;Description automatically generated with medium confidence">
            <a:extLst>
              <a:ext uri="{FF2B5EF4-FFF2-40B4-BE49-F238E27FC236}">
                <a16:creationId xmlns:a16="http://schemas.microsoft.com/office/drawing/2014/main" id="{96E22B44-F99A-4DC3-87BD-D3753A20D56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4" name="Slide Number Placeholder 5">
            <a:extLst>
              <a:ext uri="{FF2B5EF4-FFF2-40B4-BE49-F238E27FC236}">
                <a16:creationId xmlns:a16="http://schemas.microsoft.com/office/drawing/2014/main" id="{DA57BB0F-8EB9-47CD-A02F-5B60C3372853}"/>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Tree>
    <p:extLst>
      <p:ext uri="{BB962C8B-B14F-4D97-AF65-F5344CB8AC3E}">
        <p14:creationId xmlns:p14="http://schemas.microsoft.com/office/powerpoint/2010/main" val="654909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CAE80B-33E5-4BD5-B721-BAFC6CC43B66}"/>
              </a:ext>
            </a:extLst>
          </p:cNvPr>
          <p:cNvSpPr>
            <a:spLocks noGrp="1"/>
          </p:cNvSpPr>
          <p:nvPr>
            <p:ph type="title"/>
          </p:nvPr>
        </p:nvSpPr>
        <p:spPr>
          <a:xfrm>
            <a:off x="838200" y="410368"/>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0754B02-1727-4D4B-87CD-9B6C5CB15C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A174867-AAC3-4132-A790-7D6AD7A771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272D7818-CE99-42D2-B43D-D2417FBC22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7" name="Slide Number Placeholder 5">
            <a:extLst>
              <a:ext uri="{FF2B5EF4-FFF2-40B4-BE49-F238E27FC236}">
                <a16:creationId xmlns:a16="http://schemas.microsoft.com/office/drawing/2014/main" id="{DB0EA154-45F9-4B33-A4D6-E616F925CDB5}"/>
              </a:ext>
            </a:extLst>
          </p:cNvPr>
          <p:cNvSpPr>
            <a:spLocks noGrp="1"/>
          </p:cNvSpPr>
          <p:nvPr>
            <p:ph type="sldNum" sz="quarter" idx="4"/>
          </p:nvPr>
        </p:nvSpPr>
        <p:spPr>
          <a:xfrm>
            <a:off x="9199880" y="6352540"/>
            <a:ext cx="2743200" cy="365125"/>
          </a:xfrm>
          <a:prstGeom prst="rect">
            <a:avLst/>
          </a:prstGeom>
        </p:spPr>
        <p:txBody>
          <a:bodyPr/>
          <a:lstStyle>
            <a:lvl1pPr algn="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Tree>
    <p:extLst>
      <p:ext uri="{BB962C8B-B14F-4D97-AF65-F5344CB8AC3E}">
        <p14:creationId xmlns:p14="http://schemas.microsoft.com/office/powerpoint/2010/main" val="72823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Lst>
  <p:hf hdr="0" ftr="0" dt="0"/>
  <p:txStyles>
    <p:titleStyle>
      <a:lvl1pPr algn="l" defTabSz="914400" rtl="0" eaLnBrk="1" latinLnBrk="0" hangingPunct="1">
        <a:lnSpc>
          <a:spcPct val="90000"/>
        </a:lnSpc>
        <a:spcBef>
          <a:spcPct val="0"/>
        </a:spcBef>
        <a:buNone/>
        <a:defRPr sz="5000" b="1" kern="1200">
          <a:solidFill>
            <a:srgbClr val="005580"/>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1pPr>
      <a:lvl2pPr marL="685800" indent="-182880" algn="l" defTabSz="914400" rtl="0" eaLnBrk="1" latinLnBrk="0" hangingPunct="1">
        <a:lnSpc>
          <a:spcPct val="100000"/>
        </a:lnSpc>
        <a:spcBef>
          <a:spcPts val="600"/>
        </a:spcBef>
        <a:buFont typeface="Arial" panose="020B0604020202020204" pitchFamily="34" charset="0"/>
        <a:buChar char="•"/>
        <a:defRPr sz="2600" kern="120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3.png"/><Relationship Id="rId4" Type="http://schemas.openxmlformats.org/officeDocument/2006/relationships/image" Target="../media/image22.jpe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B325F-F7C4-47F9-AB0D-F4E85898A0A3}"/>
              </a:ext>
            </a:extLst>
          </p:cNvPr>
          <p:cNvSpPr>
            <a:spLocks noGrp="1"/>
          </p:cNvSpPr>
          <p:nvPr>
            <p:ph type="ctrTitle"/>
          </p:nvPr>
        </p:nvSpPr>
        <p:spPr>
          <a:xfrm>
            <a:off x="0" y="1111539"/>
            <a:ext cx="12192000" cy="2101510"/>
          </a:xfrm>
        </p:spPr>
        <p:txBody>
          <a:bodyPr>
            <a:noAutofit/>
          </a:bodyPr>
          <a:lstStyle/>
          <a:p>
            <a:pPr>
              <a:lnSpc>
                <a:spcPct val="100000"/>
              </a:lnSpc>
              <a:spcBef>
                <a:spcPts val="600"/>
              </a:spcBef>
            </a:pPr>
            <a:r>
              <a:rPr lang="en-US" sz="6000" dirty="0"/>
              <a:t>Americans with Disabilities Act  (ADA)</a:t>
            </a:r>
          </a:p>
        </p:txBody>
      </p:sp>
      <p:cxnSp>
        <p:nvCxnSpPr>
          <p:cNvPr id="7" name="Straight Connector 6">
            <a:extLst>
              <a:ext uri="{FF2B5EF4-FFF2-40B4-BE49-F238E27FC236}">
                <a16:creationId xmlns:a16="http://schemas.microsoft.com/office/drawing/2014/main" id="{FACD0B6F-466A-5600-572F-99890278C07C}"/>
              </a:ext>
              <a:ext uri="{C183D7F6-B498-43B3-948B-1728B52AA6E4}">
                <adec:decorative xmlns:adec="http://schemas.microsoft.com/office/drawing/2017/decorative" val="1"/>
              </a:ext>
            </a:extLst>
          </p:cNvPr>
          <p:cNvCxnSpPr>
            <a:cxnSpLocks/>
          </p:cNvCxnSpPr>
          <p:nvPr/>
        </p:nvCxnSpPr>
        <p:spPr>
          <a:xfrm>
            <a:off x="1123951" y="3393142"/>
            <a:ext cx="99441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DD6DA53E-826D-4A69-82AC-DE11CE124D34}"/>
              </a:ext>
            </a:extLst>
          </p:cNvPr>
          <p:cNvSpPr>
            <a:spLocks noGrp="1"/>
          </p:cNvSpPr>
          <p:nvPr>
            <p:ph type="subTitle" idx="1"/>
          </p:nvPr>
        </p:nvSpPr>
        <p:spPr>
          <a:xfrm>
            <a:off x="776176" y="3455201"/>
            <a:ext cx="10908562" cy="1615212"/>
          </a:xfrm>
        </p:spPr>
        <p:txBody>
          <a:bodyPr/>
          <a:lstStyle/>
          <a:p>
            <a:pPr>
              <a:lnSpc>
                <a:spcPct val="100000"/>
              </a:lnSpc>
              <a:spcBef>
                <a:spcPts val="0"/>
              </a:spcBef>
              <a:spcAft>
                <a:spcPts val="1200"/>
              </a:spcAft>
            </a:pPr>
            <a:r>
              <a:rPr lang="en-US" sz="4000" dirty="0">
                <a:solidFill>
                  <a:srgbClr val="1A2026"/>
                </a:solidFill>
              </a:rPr>
              <a:t>5 Titles of the ADA</a:t>
            </a:r>
            <a:endParaRPr lang="en-US" sz="4000" dirty="0">
              <a:solidFill>
                <a:schemeClr val="tx1">
                  <a:lumMod val="75000"/>
                  <a:lumOff val="25000"/>
                </a:schemeClr>
              </a:solidFill>
            </a:endParaRPr>
          </a:p>
          <a:p>
            <a:pPr>
              <a:lnSpc>
                <a:spcPct val="100000"/>
              </a:lnSpc>
              <a:spcBef>
                <a:spcPts val="0"/>
              </a:spcBef>
            </a:pPr>
            <a:r>
              <a:rPr lang="en-US" sz="2800" b="0" dirty="0">
                <a:solidFill>
                  <a:schemeClr val="tx1">
                    <a:lumMod val="75000"/>
                    <a:lumOff val="25000"/>
                  </a:schemeClr>
                </a:solidFill>
              </a:rPr>
              <a:t>ADA Participation Action Research Consortium (PARC) </a:t>
            </a:r>
          </a:p>
          <a:p>
            <a:pPr>
              <a:lnSpc>
                <a:spcPct val="100000"/>
              </a:lnSpc>
              <a:spcBef>
                <a:spcPts val="0"/>
              </a:spcBef>
            </a:pPr>
            <a:r>
              <a:rPr lang="en-US" sz="2800" b="0" dirty="0">
                <a:solidFill>
                  <a:schemeClr val="tx1">
                    <a:lumMod val="75000"/>
                    <a:lumOff val="25000"/>
                  </a:schemeClr>
                </a:solidFill>
              </a:rPr>
              <a:t>Participation Equity Navigator Training</a:t>
            </a:r>
          </a:p>
        </p:txBody>
      </p:sp>
      <p:pic>
        <p:nvPicPr>
          <p:cNvPr id="5" name="Picture 4" descr="ADA National Network logo">
            <a:extLst>
              <a:ext uri="{FF2B5EF4-FFF2-40B4-BE49-F238E27FC236}">
                <a16:creationId xmlns:a16="http://schemas.microsoft.com/office/drawing/2014/main" id="{E38DE6DF-4A58-387E-B23B-6CD5C3A63E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459" y="5492660"/>
            <a:ext cx="1624410" cy="2102177"/>
          </a:xfrm>
          <a:prstGeom prst="rect">
            <a:avLst/>
          </a:prstGeom>
        </p:spPr>
      </p:pic>
      <p:pic>
        <p:nvPicPr>
          <p:cNvPr id="1026" name="Picture 5" descr="Americans with Disabilities Act Participation Action Research Consortium logo">
            <a:extLst>
              <a:ext uri="{FF2B5EF4-FFF2-40B4-BE49-F238E27FC236}">
                <a16:creationId xmlns:a16="http://schemas.microsoft.com/office/drawing/2014/main" id="{551196FB-48BD-3D49-5A86-886D55CF77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8283" y="5180162"/>
            <a:ext cx="1735433" cy="1132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lide Number Placeholder 9">
            <a:extLst>
              <a:ext uri="{FF2B5EF4-FFF2-40B4-BE49-F238E27FC236}">
                <a16:creationId xmlns:a16="http://schemas.microsoft.com/office/drawing/2014/main" id="{C76734AB-28BF-47B3-94D6-2C2884B8B53B}"/>
              </a:ext>
            </a:extLst>
          </p:cNvPr>
          <p:cNvSpPr>
            <a:spLocks noGrp="1"/>
          </p:cNvSpPr>
          <p:nvPr>
            <p:ph type="sldNum" sz="quarter" idx="12"/>
          </p:nvPr>
        </p:nvSpPr>
        <p:spPr/>
        <p:txBody>
          <a:bodyPr/>
          <a:lstStyle/>
          <a:p>
            <a:fld id="{A9D5B481-CC43-4D95-B982-500CB2D3FC20}" type="slidenum">
              <a:rPr lang="en-US" smtClean="0"/>
              <a:pPr/>
              <a:t>1</a:t>
            </a:fld>
            <a:endParaRPr lang="en-US" dirty="0"/>
          </a:p>
        </p:txBody>
      </p:sp>
    </p:spTree>
    <p:extLst>
      <p:ext uri="{BB962C8B-B14F-4D97-AF65-F5344CB8AC3E}">
        <p14:creationId xmlns:p14="http://schemas.microsoft.com/office/powerpoint/2010/main" val="3817404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D00E4-3F8F-DA54-6427-F2DB7D6C7902}"/>
              </a:ext>
            </a:extLst>
          </p:cNvPr>
          <p:cNvSpPr>
            <a:spLocks noGrp="1"/>
          </p:cNvSpPr>
          <p:nvPr>
            <p:ph type="title"/>
          </p:nvPr>
        </p:nvSpPr>
        <p:spPr>
          <a:xfrm>
            <a:off x="636104" y="739007"/>
            <a:ext cx="10717696" cy="961496"/>
          </a:xfrm>
        </p:spPr>
        <p:txBody>
          <a:bodyPr>
            <a:normAutofit/>
          </a:bodyPr>
          <a:lstStyle/>
          <a:p>
            <a:r>
              <a:rPr lang="en-US" sz="4400" dirty="0"/>
              <a:t>Title I of the ADA – Employment </a:t>
            </a:r>
          </a:p>
        </p:txBody>
      </p:sp>
      <p:sp>
        <p:nvSpPr>
          <p:cNvPr id="3" name="Content Placeholder 2">
            <a:extLst>
              <a:ext uri="{FF2B5EF4-FFF2-40B4-BE49-F238E27FC236}">
                <a16:creationId xmlns:a16="http://schemas.microsoft.com/office/drawing/2014/main" id="{6C6DC506-AE06-45BF-1E22-97DDC8171200}"/>
              </a:ext>
            </a:extLst>
          </p:cNvPr>
          <p:cNvSpPr>
            <a:spLocks noGrp="1"/>
          </p:cNvSpPr>
          <p:nvPr>
            <p:ph idx="1"/>
          </p:nvPr>
        </p:nvSpPr>
        <p:spPr>
          <a:xfrm>
            <a:off x="838200" y="1626962"/>
            <a:ext cx="11104880" cy="4963023"/>
          </a:xfrm>
        </p:spPr>
        <p:txBody>
          <a:bodyPr>
            <a:normAutofit fontScale="92500" lnSpcReduction="20000"/>
          </a:bodyPr>
          <a:lstStyle/>
          <a:p>
            <a:pPr>
              <a:lnSpc>
                <a:spcPct val="120000"/>
              </a:lnSpc>
              <a:spcBef>
                <a:spcPts val="0"/>
              </a:spcBef>
              <a:spcAft>
                <a:spcPts val="600"/>
              </a:spcAft>
              <a:buClr>
                <a:schemeClr val="tx1"/>
              </a:buClr>
              <a:buSzPct val="100000"/>
            </a:pPr>
            <a:r>
              <a:rPr lang="en-US" sz="2600" dirty="0">
                <a:ea typeface="Calibri" panose="020F0502020204030204" pitchFamily="34" charset="0"/>
              </a:rPr>
              <a:t>Applies to:</a:t>
            </a:r>
          </a:p>
          <a:p>
            <a:pPr marL="347472" indent="-347472">
              <a:lnSpc>
                <a:spcPct val="120000"/>
              </a:lnSpc>
              <a:spcBef>
                <a:spcPts val="0"/>
              </a:spcBef>
              <a:spcAft>
                <a:spcPts val="600"/>
              </a:spcAft>
              <a:buClr>
                <a:schemeClr val="tx1"/>
              </a:buClr>
              <a:buSzPct val="100000"/>
              <a:buFont typeface="Arial" panose="020B0604020202020204" pitchFamily="34" charset="0"/>
              <a:buChar char="•"/>
            </a:pPr>
            <a:r>
              <a:rPr lang="en-US" sz="2500" b="0" dirty="0">
                <a:ea typeface="Calibri" panose="020F0502020204030204" pitchFamily="34" charset="0"/>
              </a:rPr>
              <a:t>Private sector workplaces with 15 or more employees</a:t>
            </a:r>
          </a:p>
          <a:p>
            <a:pPr marL="347472" indent="-347472">
              <a:lnSpc>
                <a:spcPct val="120000"/>
              </a:lnSpc>
              <a:spcBef>
                <a:spcPts val="0"/>
              </a:spcBef>
              <a:spcAft>
                <a:spcPts val="600"/>
              </a:spcAft>
              <a:buClr>
                <a:schemeClr val="tx1"/>
              </a:buClr>
              <a:buSzPct val="100000"/>
              <a:buFont typeface="Arial" panose="020B0604020202020204" pitchFamily="34" charset="0"/>
              <a:buChar char="•"/>
            </a:pPr>
            <a:r>
              <a:rPr lang="en-US" sz="2500" b="0" u="sng" dirty="0">
                <a:ea typeface="Calibri" panose="020F0502020204030204" pitchFamily="34" charset="0"/>
              </a:rPr>
              <a:t>All</a:t>
            </a:r>
            <a:r>
              <a:rPr lang="en-US" sz="2500" b="0" dirty="0">
                <a:ea typeface="Calibri" panose="020F0502020204030204" pitchFamily="34" charset="0"/>
              </a:rPr>
              <a:t> state/local government employers</a:t>
            </a:r>
          </a:p>
          <a:p>
            <a:pPr marL="347472" indent="-347472">
              <a:lnSpc>
                <a:spcPct val="120000"/>
              </a:lnSpc>
              <a:spcBef>
                <a:spcPts val="0"/>
              </a:spcBef>
              <a:spcAft>
                <a:spcPts val="600"/>
              </a:spcAft>
              <a:buClr>
                <a:schemeClr val="tx1"/>
              </a:buClr>
              <a:buSzPct val="100000"/>
              <a:buFont typeface="Arial" panose="020B0604020202020204" pitchFamily="34" charset="0"/>
              <a:buChar char="•"/>
            </a:pPr>
            <a:r>
              <a:rPr lang="en-US" sz="2500" b="0" dirty="0">
                <a:ea typeface="Calibri" panose="020F0502020204030204" pitchFamily="34" charset="0"/>
              </a:rPr>
              <a:t>Employment agencies</a:t>
            </a:r>
          </a:p>
          <a:p>
            <a:pPr marL="347472" indent="-347472">
              <a:lnSpc>
                <a:spcPct val="120000"/>
              </a:lnSpc>
              <a:spcBef>
                <a:spcPts val="0"/>
              </a:spcBef>
              <a:spcAft>
                <a:spcPts val="600"/>
              </a:spcAft>
              <a:buClr>
                <a:schemeClr val="tx1"/>
              </a:buClr>
              <a:buSzPct val="100000"/>
              <a:buFont typeface="Arial" panose="020B0604020202020204" pitchFamily="34" charset="0"/>
              <a:buChar char="•"/>
            </a:pPr>
            <a:r>
              <a:rPr lang="en-US" sz="2500" b="0" dirty="0">
                <a:ea typeface="Calibri" panose="020F0502020204030204" pitchFamily="34" charset="0"/>
              </a:rPr>
              <a:t>Labor unions</a:t>
            </a:r>
          </a:p>
          <a:p>
            <a:pPr>
              <a:lnSpc>
                <a:spcPct val="120000"/>
              </a:lnSpc>
              <a:spcBef>
                <a:spcPts val="0"/>
              </a:spcBef>
              <a:spcAft>
                <a:spcPts val="600"/>
              </a:spcAft>
            </a:pPr>
            <a:r>
              <a:rPr lang="en-US" sz="2800" dirty="0"/>
              <a:t>Provides protections to qualified individuals with disabilities</a:t>
            </a:r>
          </a:p>
          <a:p>
            <a:pPr marL="347472" indent="-347472">
              <a:lnSpc>
                <a:spcPct val="120000"/>
              </a:lnSpc>
              <a:spcBef>
                <a:spcPts val="0"/>
              </a:spcBef>
              <a:spcAft>
                <a:spcPts val="600"/>
              </a:spcAft>
              <a:buFont typeface="Arial" panose="020B0604020202020204" pitchFamily="34" charset="0"/>
              <a:buChar char="•"/>
            </a:pPr>
            <a:r>
              <a:rPr lang="en-US" sz="2500" b="0" dirty="0"/>
              <a:t>Prohibits discrimination and harassment</a:t>
            </a:r>
          </a:p>
          <a:p>
            <a:pPr marL="347472" indent="-347472">
              <a:lnSpc>
                <a:spcPct val="120000"/>
              </a:lnSpc>
              <a:spcBef>
                <a:spcPts val="0"/>
              </a:spcBef>
              <a:spcAft>
                <a:spcPts val="600"/>
              </a:spcAft>
              <a:buFont typeface="Arial" panose="020B0604020202020204" pitchFamily="34" charset="0"/>
              <a:buChar char="•"/>
            </a:pPr>
            <a:r>
              <a:rPr lang="en-US" sz="2500" b="0" dirty="0">
                <a:latin typeface="Arial" panose="020B0604020202020204" pitchFamily="34" charset="0"/>
                <a:ea typeface="Calibri" panose="020F0502020204030204" pitchFamily="34" charset="0"/>
                <a:cs typeface="Arial" panose="020B0604020202020204" pitchFamily="34" charset="0"/>
              </a:rPr>
              <a:t>Limits employer disability inquiry</a:t>
            </a:r>
            <a:endParaRPr lang="en-US" sz="2500" b="0" dirty="0"/>
          </a:p>
          <a:p>
            <a:pPr marL="347472" indent="-347472">
              <a:lnSpc>
                <a:spcPct val="120000"/>
              </a:lnSpc>
              <a:spcBef>
                <a:spcPts val="0"/>
              </a:spcBef>
              <a:spcAft>
                <a:spcPts val="600"/>
              </a:spcAft>
              <a:buFont typeface="Arial" panose="020B0604020202020204" pitchFamily="34" charset="0"/>
              <a:buChar char="•"/>
            </a:pPr>
            <a:r>
              <a:rPr lang="en-US" sz="2500" b="0" dirty="0"/>
              <a:t>Requires reasonable accommodation to applicants and employees</a:t>
            </a:r>
          </a:p>
          <a:p>
            <a:pPr marL="347472" indent="-347472">
              <a:lnSpc>
                <a:spcPct val="120000"/>
              </a:lnSpc>
              <a:spcBef>
                <a:spcPts val="0"/>
              </a:spcBef>
              <a:spcAft>
                <a:spcPts val="600"/>
              </a:spcAft>
              <a:buFont typeface="Arial" panose="020B0604020202020204" pitchFamily="34" charset="0"/>
              <a:buChar char="•"/>
            </a:pPr>
            <a:r>
              <a:rPr lang="en-US" sz="2500" b="0" dirty="0"/>
              <a:t>Prohibits retaliation</a:t>
            </a:r>
          </a:p>
          <a:p>
            <a:pPr marL="0" indent="0">
              <a:lnSpc>
                <a:spcPct val="120000"/>
              </a:lnSpc>
              <a:spcBef>
                <a:spcPts val="0"/>
              </a:spcBef>
              <a:spcAft>
                <a:spcPts val="600"/>
              </a:spcAft>
              <a:buClr>
                <a:schemeClr val="tx1"/>
              </a:buClr>
              <a:buSzPct val="100000"/>
              <a:buNone/>
            </a:pPr>
            <a:r>
              <a:rPr lang="en-US" sz="2600" b="1" dirty="0">
                <a:effectLst/>
                <a:latin typeface="Arial" panose="020B0604020202020204" pitchFamily="34" charset="0"/>
                <a:ea typeface="Calibri" panose="020F0502020204030204" pitchFamily="34" charset="0"/>
                <a:cs typeface="Arial" panose="020B0604020202020204" pitchFamily="34" charset="0"/>
              </a:rPr>
              <a:t>Enforcement</a:t>
            </a:r>
            <a:r>
              <a:rPr lang="en-US" sz="2600" dirty="0">
                <a:ea typeface="Calibri" panose="020F0502020204030204" pitchFamily="34" charset="0"/>
              </a:rPr>
              <a:t> by the </a:t>
            </a:r>
            <a:r>
              <a:rPr lang="en-US" sz="2600" dirty="0">
                <a:effectLst/>
                <a:latin typeface="Arial" panose="020B0604020202020204" pitchFamily="34" charset="0"/>
                <a:ea typeface="Calibri" panose="020F0502020204030204" pitchFamily="34" charset="0"/>
                <a:cs typeface="Arial" panose="020B0604020202020204" pitchFamily="34" charset="0"/>
              </a:rPr>
              <a:t>Equal Employment Opportunity Commission (EEOC) </a:t>
            </a:r>
          </a:p>
        </p:txBody>
      </p:sp>
      <p:sp>
        <p:nvSpPr>
          <p:cNvPr id="4" name="Slide Number Placeholder 3">
            <a:extLst>
              <a:ext uri="{FF2B5EF4-FFF2-40B4-BE49-F238E27FC236}">
                <a16:creationId xmlns:a16="http://schemas.microsoft.com/office/drawing/2014/main" id="{544754C0-7968-817C-F851-97FF9C3248C2}"/>
              </a:ext>
            </a:extLst>
          </p:cNvPr>
          <p:cNvSpPr>
            <a:spLocks noGrp="1"/>
          </p:cNvSpPr>
          <p:nvPr>
            <p:ph type="sldNum" sz="quarter" idx="12"/>
          </p:nvPr>
        </p:nvSpPr>
        <p:spPr/>
        <p:txBody>
          <a:bodyPr/>
          <a:lstStyle/>
          <a:p>
            <a:fld id="{A9D5B481-CC43-4D95-B982-500CB2D3FC20}" type="slidenum">
              <a:rPr lang="en-US" smtClean="0"/>
              <a:pPr/>
              <a:t>2</a:t>
            </a:fld>
            <a:endParaRPr lang="en-US" dirty="0"/>
          </a:p>
        </p:txBody>
      </p:sp>
      <p:pic>
        <p:nvPicPr>
          <p:cNvPr id="6" name="Picture 5" descr="laptop with word job on screen">
            <a:extLst>
              <a:ext uri="{FF2B5EF4-FFF2-40B4-BE49-F238E27FC236}">
                <a16:creationId xmlns:a16="http://schemas.microsoft.com/office/drawing/2014/main" id="{4E4D3DBC-4A6E-2A22-174C-DEB71BEDE88D}"/>
              </a:ext>
            </a:extLst>
          </p:cNvPr>
          <p:cNvPicPr>
            <a:picLocks noChangeAspect="1"/>
          </p:cNvPicPr>
          <p:nvPr/>
        </p:nvPicPr>
        <p:blipFill>
          <a:blip r:embed="rId3"/>
          <a:stretch>
            <a:fillRect/>
          </a:stretch>
        </p:blipFill>
        <p:spPr>
          <a:xfrm>
            <a:off x="8851410" y="1818647"/>
            <a:ext cx="1720070" cy="1700223"/>
          </a:xfrm>
          <a:prstGeom prst="rect">
            <a:avLst/>
          </a:prstGeom>
        </p:spPr>
      </p:pic>
      <p:pic>
        <p:nvPicPr>
          <p:cNvPr id="5" name="Picture 2" descr="Enforcement by the Equal Employment Opportunity Commission logo">
            <a:extLst>
              <a:ext uri="{FF2B5EF4-FFF2-40B4-BE49-F238E27FC236}">
                <a16:creationId xmlns:a16="http://schemas.microsoft.com/office/drawing/2014/main" id="{33403DC3-5B71-BB35-741E-643CC2B740D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12991" y="4396400"/>
            <a:ext cx="1504950" cy="15049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0029A299-5360-93ED-E5B9-5B781AA0C25F}"/>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6162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7B0A04A-7D05-B4D8-E876-EC81C93731F0}"/>
              </a:ext>
            </a:extLst>
          </p:cNvPr>
          <p:cNvSpPr>
            <a:spLocks noGrp="1"/>
          </p:cNvSpPr>
          <p:nvPr>
            <p:ph type="title"/>
          </p:nvPr>
        </p:nvSpPr>
        <p:spPr>
          <a:xfrm>
            <a:off x="449317" y="748642"/>
            <a:ext cx="10515600" cy="961496"/>
          </a:xfrm>
        </p:spPr>
        <p:txBody>
          <a:bodyPr>
            <a:normAutofit/>
          </a:bodyPr>
          <a:lstStyle/>
          <a:p>
            <a:r>
              <a:rPr lang="en-US" sz="4400" dirty="0"/>
              <a:t>Reasonable Accommodation</a:t>
            </a:r>
          </a:p>
        </p:txBody>
      </p:sp>
      <p:pic>
        <p:nvPicPr>
          <p:cNvPr id="10" name="Picture 2" descr="Enforcement by the Equal Employment Opportunity Commission logo">
            <a:extLst>
              <a:ext uri="{FF2B5EF4-FFF2-40B4-BE49-F238E27FC236}">
                <a16:creationId xmlns:a16="http://schemas.microsoft.com/office/drawing/2014/main" id="{005833F0-87CB-26F2-5E85-1D512B1710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7081" y="1710138"/>
            <a:ext cx="1077433" cy="1077433"/>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p:cNvSpPr>
            <a:spLocks noGrp="1"/>
          </p:cNvSpPr>
          <p:nvPr>
            <p:ph idx="1"/>
          </p:nvPr>
        </p:nvSpPr>
        <p:spPr>
          <a:xfrm>
            <a:off x="1911553" y="1710138"/>
            <a:ext cx="9683034" cy="1288401"/>
          </a:xfrm>
        </p:spPr>
        <p:txBody>
          <a:bodyPr>
            <a:noAutofit/>
          </a:bodyPr>
          <a:lstStyle/>
          <a:p>
            <a:pPr marL="0" indent="0" algn="ctr">
              <a:spcBef>
                <a:spcPts val="0"/>
              </a:spcBef>
              <a:spcAft>
                <a:spcPts val="600"/>
              </a:spcAft>
              <a:buNone/>
            </a:pPr>
            <a:r>
              <a:rPr lang="en-US" sz="2400" b="0" i="1" dirty="0"/>
              <a:t>“…Any change in the work environment or in the way things are customarily done that enables an individual with a disability to enjoy equal employment opportunities</a:t>
            </a:r>
            <a:r>
              <a:rPr lang="en-US" sz="2400" b="0" dirty="0"/>
              <a:t>.”</a:t>
            </a:r>
          </a:p>
        </p:txBody>
      </p:sp>
      <p:sp>
        <p:nvSpPr>
          <p:cNvPr id="12" name="TextBox 11">
            <a:extLst>
              <a:ext uri="{FF2B5EF4-FFF2-40B4-BE49-F238E27FC236}">
                <a16:creationId xmlns:a16="http://schemas.microsoft.com/office/drawing/2014/main" id="{7B74566F-9C10-BFE2-A353-3BEF1648859E}"/>
              </a:ext>
            </a:extLst>
          </p:cNvPr>
          <p:cNvSpPr txBox="1"/>
          <p:nvPr/>
        </p:nvSpPr>
        <p:spPr>
          <a:xfrm>
            <a:off x="-285230" y="2958889"/>
            <a:ext cx="7010400" cy="1446550"/>
          </a:xfrm>
          <a:prstGeom prst="rect">
            <a:avLst/>
          </a:prstGeom>
          <a:noFill/>
        </p:spPr>
        <p:txBody>
          <a:bodyPr wrap="square">
            <a:spAutoFit/>
          </a:bodyPr>
          <a:lstStyle/>
          <a:p>
            <a:pPr marL="742950" lvl="1" indent="-285750">
              <a:spcBef>
                <a:spcPts val="1200"/>
              </a:spcBef>
              <a:spcAft>
                <a:spcPts val="600"/>
              </a:spcAft>
              <a:buClr>
                <a:schemeClr val="tx1"/>
              </a:buClr>
              <a:buSzPct val="100000"/>
              <a:buFont typeface="Wingdings" panose="05000000000000000000" pitchFamily="2" charset="2"/>
              <a:buChar char="Ø"/>
            </a:pPr>
            <a:r>
              <a:rPr lang="en-US" sz="2200" dirty="0">
                <a:latin typeface="Arial" panose="020B0604020202020204" pitchFamily="34" charset="0"/>
                <a:cs typeface="Arial" panose="020B0604020202020204" pitchFamily="34" charset="0"/>
              </a:rPr>
              <a:t>The purpose of reasonable accommodation is not to provide an advantage but to </a:t>
            </a:r>
            <a:r>
              <a:rPr lang="en-US" sz="2200" b="1" dirty="0">
                <a:latin typeface="Arial" panose="020B0604020202020204" pitchFamily="34" charset="0"/>
                <a:cs typeface="Arial" panose="020B0604020202020204" pitchFamily="34" charset="0"/>
              </a:rPr>
              <a:t>make</a:t>
            </a:r>
            <a:r>
              <a:rPr lang="en-US" sz="2200" dirty="0">
                <a:latin typeface="Arial" panose="020B0604020202020204" pitchFamily="34" charset="0"/>
                <a:cs typeface="Arial" panose="020B0604020202020204" pitchFamily="34" charset="0"/>
              </a:rPr>
              <a:t> a person with a disability </a:t>
            </a:r>
            <a:r>
              <a:rPr lang="en-US" sz="2200" b="1" dirty="0">
                <a:latin typeface="Arial" panose="020B0604020202020204" pitchFamily="34" charset="0"/>
                <a:cs typeface="Arial" panose="020B0604020202020204" pitchFamily="34" charset="0"/>
              </a:rPr>
              <a:t>opportunity for success or failure equal</a:t>
            </a:r>
            <a:r>
              <a:rPr lang="en-US" sz="2200" dirty="0">
                <a:latin typeface="Arial" panose="020B0604020202020204" pitchFamily="34" charset="0"/>
                <a:cs typeface="Arial" panose="020B0604020202020204" pitchFamily="34" charset="0"/>
              </a:rPr>
              <a:t> to someone without a disability</a:t>
            </a:r>
          </a:p>
        </p:txBody>
      </p:sp>
      <p:sp>
        <p:nvSpPr>
          <p:cNvPr id="4" name="Content Placeholder 1">
            <a:extLst>
              <a:ext uri="{FF2B5EF4-FFF2-40B4-BE49-F238E27FC236}">
                <a16:creationId xmlns:a16="http://schemas.microsoft.com/office/drawing/2014/main" id="{2D3D1B49-E357-40EB-9150-B3D04BDC1B91}"/>
              </a:ext>
            </a:extLst>
          </p:cNvPr>
          <p:cNvSpPr txBox="1">
            <a:spLocks/>
          </p:cNvSpPr>
          <p:nvPr/>
        </p:nvSpPr>
        <p:spPr>
          <a:xfrm>
            <a:off x="838200" y="4576757"/>
            <a:ext cx="5740196" cy="1873911"/>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662940" lvl="1" indent="-342900">
              <a:buClrTx/>
              <a:buFont typeface="Arial" panose="020B0604020202020204" pitchFamily="34" charset="0"/>
              <a:buChar char="•"/>
            </a:pPr>
            <a:r>
              <a:rPr lang="en-US" sz="2400" dirty="0">
                <a:latin typeface="Arial" panose="020B0604020202020204" pitchFamily="34" charset="0"/>
                <a:cs typeface="Arial" panose="020B0604020202020204" pitchFamily="34" charset="0"/>
              </a:rPr>
              <a:t>Application process</a:t>
            </a:r>
          </a:p>
          <a:p>
            <a:pPr marL="662940" lvl="1" indent="-342900">
              <a:buClrTx/>
              <a:buFont typeface="Arial" panose="020B0604020202020204" pitchFamily="34" charset="0"/>
              <a:buChar char="•"/>
            </a:pPr>
            <a:r>
              <a:rPr lang="en-US" sz="2400" dirty="0">
                <a:latin typeface="Arial" panose="020B0604020202020204" pitchFamily="34" charset="0"/>
                <a:cs typeface="Arial" panose="020B0604020202020204" pitchFamily="34" charset="0"/>
              </a:rPr>
              <a:t>Work environment, facilities, or polices/processes/practices</a:t>
            </a:r>
          </a:p>
          <a:p>
            <a:pPr marL="662940" lvl="1" indent="-342900">
              <a:buClrTx/>
              <a:buFont typeface="Arial" panose="020B0604020202020204" pitchFamily="34" charset="0"/>
              <a:buChar char="•"/>
            </a:pPr>
            <a:r>
              <a:rPr lang="en-US" sz="2400" dirty="0">
                <a:latin typeface="Arial" panose="020B0604020202020204" pitchFamily="34" charset="0"/>
                <a:cs typeface="Arial" panose="020B0604020202020204" pitchFamily="34" charset="0"/>
              </a:rPr>
              <a:t>Any other employment benefits</a:t>
            </a:r>
          </a:p>
        </p:txBody>
      </p:sp>
      <p:pic>
        <p:nvPicPr>
          <p:cNvPr id="8" name="Picture 4" descr="Equality does not mean equity.  On the left side of the image (equality) shows three people of different heights reaching for an apple from a tree on the same height box, and only one person can reach the apple.  On the right side of the image (equity), the same three people are on different height boxes, allowing them each to reach the apples.">
            <a:extLst>
              <a:ext uri="{FF2B5EF4-FFF2-40B4-BE49-F238E27FC236}">
                <a16:creationId xmlns:a16="http://schemas.microsoft.com/office/drawing/2014/main" id="{B269748D-37A8-620D-0644-C59FB3B7C9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2209" y="2998539"/>
            <a:ext cx="4882498" cy="326217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90B0A3E0-3545-4AAA-480D-1E5100F7EC9A}"/>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8">
            <a:extLst>
              <a:ext uri="{FF2B5EF4-FFF2-40B4-BE49-F238E27FC236}">
                <a16:creationId xmlns:a16="http://schemas.microsoft.com/office/drawing/2014/main" id="{B346501F-455B-862D-068F-92B5D2E656A2}"/>
              </a:ext>
            </a:extLst>
          </p:cNvPr>
          <p:cNvSpPr>
            <a:spLocks noGrp="1"/>
          </p:cNvSpPr>
          <p:nvPr>
            <p:ph type="sldNum" sz="quarter" idx="12"/>
          </p:nvPr>
        </p:nvSpPr>
        <p:spPr/>
        <p:txBody>
          <a:bodyPr/>
          <a:lstStyle/>
          <a:p>
            <a:fld id="{A9D5B481-CC43-4D95-B982-500CB2D3FC20}" type="slidenum">
              <a:rPr lang="en-US" smtClean="0"/>
              <a:pPr/>
              <a:t>3</a:t>
            </a:fld>
            <a:endParaRPr lang="en-US" dirty="0"/>
          </a:p>
        </p:txBody>
      </p:sp>
    </p:spTree>
    <p:extLst>
      <p:ext uri="{BB962C8B-B14F-4D97-AF65-F5344CB8AC3E}">
        <p14:creationId xmlns:p14="http://schemas.microsoft.com/office/powerpoint/2010/main" val="614494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04D7D70-6989-A153-23ED-69A76AF9EAC8}"/>
              </a:ext>
            </a:extLst>
          </p:cNvPr>
          <p:cNvSpPr>
            <a:spLocks noGrp="1"/>
          </p:cNvSpPr>
          <p:nvPr>
            <p:ph type="title"/>
          </p:nvPr>
        </p:nvSpPr>
        <p:spPr>
          <a:xfrm>
            <a:off x="472966" y="735392"/>
            <a:ext cx="11719034" cy="961496"/>
          </a:xfrm>
        </p:spPr>
        <p:txBody>
          <a:bodyPr>
            <a:normAutofit/>
          </a:bodyPr>
          <a:lstStyle/>
          <a:p>
            <a:r>
              <a:rPr lang="en-US" sz="4400" dirty="0"/>
              <a:t>Concepts of Reasonable Accommodation</a:t>
            </a:r>
          </a:p>
        </p:txBody>
      </p:sp>
      <p:sp>
        <p:nvSpPr>
          <p:cNvPr id="2" name="Content Placeholder 1"/>
          <p:cNvSpPr>
            <a:spLocks noGrp="1"/>
          </p:cNvSpPr>
          <p:nvPr>
            <p:ph idx="1"/>
          </p:nvPr>
        </p:nvSpPr>
        <p:spPr>
          <a:xfrm>
            <a:off x="630621" y="1548091"/>
            <a:ext cx="11453349" cy="5309909"/>
          </a:xfrm>
        </p:spPr>
        <p:txBody>
          <a:bodyPr>
            <a:normAutofit lnSpcReduction="10000"/>
          </a:bodyPr>
          <a:lstStyle/>
          <a:p>
            <a:pPr marL="347472" indent="-347472">
              <a:lnSpc>
                <a:spcPct val="110000"/>
              </a:lnSpc>
              <a:spcBef>
                <a:spcPts val="0"/>
              </a:spcBef>
              <a:spcAft>
                <a:spcPts val="600"/>
              </a:spcAft>
              <a:buFont typeface="Arial" panose="020B0604020202020204" pitchFamily="34" charset="0"/>
              <a:buChar char="•"/>
            </a:pPr>
            <a:r>
              <a:rPr lang="en-US" sz="2200" dirty="0">
                <a:effectLst/>
                <a:ea typeface="Calibri" panose="020F0502020204030204" pitchFamily="34" charset="0"/>
              </a:rPr>
              <a:t>The goal is to keep an employee working in their current position</a:t>
            </a:r>
          </a:p>
          <a:p>
            <a:pPr marL="347472" indent="-347472">
              <a:lnSpc>
                <a:spcPct val="110000"/>
              </a:lnSpc>
              <a:spcBef>
                <a:spcPts val="0"/>
              </a:spcBef>
              <a:spcAft>
                <a:spcPts val="600"/>
              </a:spcAft>
              <a:buFont typeface="Arial" panose="020B0604020202020204" pitchFamily="34" charset="0"/>
              <a:buChar char="•"/>
            </a:pPr>
            <a:r>
              <a:rPr lang="en-US" sz="2200" dirty="0"/>
              <a:t>Must be effective</a:t>
            </a:r>
            <a:r>
              <a:rPr lang="en-US" sz="2200" b="0" dirty="0"/>
              <a:t>, that is, the accommodation removes (addresses) the barrier</a:t>
            </a:r>
          </a:p>
          <a:p>
            <a:pPr marL="1033272" lvl="1" indent="-347472">
              <a:lnSpc>
                <a:spcPct val="110000"/>
              </a:lnSpc>
              <a:spcBef>
                <a:spcPts val="0"/>
              </a:spcBef>
              <a:spcAft>
                <a:spcPts val="600"/>
              </a:spcAft>
              <a:buFont typeface="Arial" panose="020B0604020202020204" pitchFamily="34" charset="0"/>
              <a:buChar char="­"/>
            </a:pPr>
            <a:r>
              <a:rPr lang="en-US" sz="2000" dirty="0">
                <a:solidFill>
                  <a:srgbClr val="1B1B1B"/>
                </a:solidFill>
              </a:rPr>
              <a:t>An employer doesn’t have to provide the employee’s preferred accommodation as long as they provide an effective accommodation</a:t>
            </a:r>
          </a:p>
          <a:p>
            <a:pPr marL="347472" indent="-347472" eaLnBrk="1" hangingPunct="1">
              <a:lnSpc>
                <a:spcPct val="110000"/>
              </a:lnSpc>
              <a:spcBef>
                <a:spcPts val="0"/>
              </a:spcBef>
              <a:spcAft>
                <a:spcPts val="600"/>
              </a:spcAft>
              <a:buFont typeface="Arial" panose="020B0604020202020204" pitchFamily="34" charset="0"/>
              <a:buChar char="•"/>
            </a:pPr>
            <a:r>
              <a:rPr lang="en-US" sz="2200" b="0" dirty="0"/>
              <a:t>Considered on a </a:t>
            </a:r>
            <a:r>
              <a:rPr lang="en-US" sz="2200" dirty="0"/>
              <a:t>case-by-case basis </a:t>
            </a:r>
            <a:endParaRPr lang="en-US" sz="2200" b="0" dirty="0"/>
          </a:p>
          <a:p>
            <a:pPr marL="1033272" lvl="1" indent="-347472">
              <a:lnSpc>
                <a:spcPct val="110000"/>
              </a:lnSpc>
              <a:spcBef>
                <a:spcPts val="0"/>
              </a:spcBef>
              <a:spcAft>
                <a:spcPts val="600"/>
              </a:spcAft>
              <a:buFont typeface="Arial" panose="020B0604020202020204" pitchFamily="34" charset="0"/>
              <a:buChar char="­"/>
            </a:pPr>
            <a:r>
              <a:rPr lang="en-US" sz="2000" dirty="0"/>
              <a:t>I</a:t>
            </a:r>
            <a:r>
              <a:rPr lang="en-US" sz="2000" b="0" dirty="0"/>
              <a:t>ndividual assessment of reasonableness and undue hardship </a:t>
            </a:r>
            <a:endParaRPr lang="en-US" sz="2000" dirty="0"/>
          </a:p>
          <a:p>
            <a:pPr marL="1033272" lvl="1" indent="-347472">
              <a:lnSpc>
                <a:spcPct val="110000"/>
              </a:lnSpc>
              <a:spcBef>
                <a:spcPts val="0"/>
              </a:spcBef>
              <a:spcAft>
                <a:spcPts val="600"/>
              </a:spcAft>
              <a:buFont typeface="Arial" panose="020B0604020202020204" pitchFamily="34" charset="0"/>
              <a:buChar char="­"/>
            </a:pPr>
            <a:r>
              <a:rPr lang="en-US" sz="2000" b="0" dirty="0"/>
              <a:t>Can be temporary for a designated period of time </a:t>
            </a:r>
          </a:p>
          <a:p>
            <a:pPr marL="347472" indent="-347472" eaLnBrk="1" hangingPunct="1">
              <a:lnSpc>
                <a:spcPct val="110000"/>
              </a:lnSpc>
              <a:spcBef>
                <a:spcPts val="0"/>
              </a:spcBef>
              <a:spcAft>
                <a:spcPts val="600"/>
              </a:spcAft>
              <a:buFont typeface="Arial" panose="020B0604020202020204" pitchFamily="34" charset="0"/>
              <a:buChar char="•"/>
            </a:pPr>
            <a:r>
              <a:rPr lang="en-US" sz="2200" b="0" dirty="0"/>
              <a:t>Does NOT include: </a:t>
            </a:r>
          </a:p>
          <a:p>
            <a:pPr marL="1033272" lvl="1" indent="-347472">
              <a:lnSpc>
                <a:spcPct val="110000"/>
              </a:lnSpc>
              <a:spcBef>
                <a:spcPts val="0"/>
              </a:spcBef>
              <a:spcAft>
                <a:spcPts val="600"/>
              </a:spcAft>
              <a:buFont typeface="Arial" panose="020B0604020202020204" pitchFamily="34" charset="0"/>
              <a:buChar char="‒"/>
            </a:pPr>
            <a:r>
              <a:rPr lang="en-US" sz="2000" b="0" dirty="0"/>
              <a:t>Elimination of an essential function</a:t>
            </a:r>
          </a:p>
          <a:p>
            <a:pPr marL="1033272" lvl="1" indent="-347472">
              <a:lnSpc>
                <a:spcPct val="110000"/>
              </a:lnSpc>
              <a:spcBef>
                <a:spcPts val="0"/>
              </a:spcBef>
              <a:spcAft>
                <a:spcPts val="600"/>
              </a:spcAft>
              <a:buFont typeface="Arial" panose="020B0604020202020204" pitchFamily="34" charset="0"/>
              <a:buChar char="‒"/>
            </a:pPr>
            <a:r>
              <a:rPr lang="en-US" sz="2000" b="0" dirty="0"/>
              <a:t>Lowering production standards</a:t>
            </a:r>
          </a:p>
          <a:p>
            <a:pPr marL="1033272" lvl="1" indent="-347472">
              <a:lnSpc>
                <a:spcPct val="110000"/>
              </a:lnSpc>
              <a:spcBef>
                <a:spcPts val="0"/>
              </a:spcBef>
              <a:spcAft>
                <a:spcPts val="600"/>
              </a:spcAft>
              <a:buFont typeface="Arial" panose="020B0604020202020204" pitchFamily="34" charset="0"/>
              <a:buChar char="‒"/>
            </a:pPr>
            <a:r>
              <a:rPr lang="en-US" sz="2000" b="0" dirty="0"/>
              <a:t>Transfer to a different supervisor</a:t>
            </a:r>
          </a:p>
          <a:p>
            <a:pPr marL="1033272" lvl="1" indent="-347472">
              <a:lnSpc>
                <a:spcPct val="110000"/>
              </a:lnSpc>
              <a:spcBef>
                <a:spcPts val="0"/>
              </a:spcBef>
              <a:spcAft>
                <a:spcPts val="600"/>
              </a:spcAft>
              <a:buFont typeface="Arial" panose="020B0604020202020204" pitchFamily="34" charset="0"/>
              <a:buChar char="‒"/>
            </a:pPr>
            <a:r>
              <a:rPr lang="en-US" sz="2000" b="0" dirty="0"/>
              <a:t>Personal items unless only needed at work</a:t>
            </a:r>
          </a:p>
          <a:p>
            <a:pPr marL="347472" indent="-347472" eaLnBrk="1" hangingPunct="1">
              <a:lnSpc>
                <a:spcPct val="110000"/>
              </a:lnSpc>
              <a:spcBef>
                <a:spcPts val="0"/>
              </a:spcBef>
              <a:spcAft>
                <a:spcPts val="600"/>
              </a:spcAft>
              <a:buFont typeface="Arial" panose="020B0604020202020204" pitchFamily="34" charset="0"/>
              <a:buChar char="•"/>
            </a:pPr>
            <a:r>
              <a:rPr lang="en-US" sz="2200" b="0" dirty="0"/>
              <a:t>Employers can provide accommodation beyond what is required by the ADA</a:t>
            </a:r>
          </a:p>
        </p:txBody>
      </p:sp>
      <p:sp>
        <p:nvSpPr>
          <p:cNvPr id="4" name="Slide Number Placeholder 3">
            <a:extLst>
              <a:ext uri="{FF2B5EF4-FFF2-40B4-BE49-F238E27FC236}">
                <a16:creationId xmlns:a16="http://schemas.microsoft.com/office/drawing/2014/main" id="{415A956E-5A06-3717-3E2F-BDB07C551110}"/>
              </a:ext>
            </a:extLst>
          </p:cNvPr>
          <p:cNvSpPr>
            <a:spLocks noGrp="1"/>
          </p:cNvSpPr>
          <p:nvPr>
            <p:ph type="sldNum" sz="quarter" idx="12"/>
          </p:nvPr>
        </p:nvSpPr>
        <p:spPr/>
        <p:txBody>
          <a:bodyPr/>
          <a:lstStyle/>
          <a:p>
            <a:fld id="{A9D5B481-CC43-4D95-B982-500CB2D3FC20}" type="slidenum">
              <a:rPr lang="en-US" smtClean="0"/>
              <a:pPr/>
              <a:t>4</a:t>
            </a:fld>
            <a:endParaRPr lang="en-US" dirty="0"/>
          </a:p>
        </p:txBody>
      </p:sp>
      <p:pic>
        <p:nvPicPr>
          <p:cNvPr id="5" name="Picture 8" descr="the word Barrier in three dimension with an arrow crossing over it and a stick figure at the tip of the arrow">
            <a:extLst>
              <a:ext uri="{FF2B5EF4-FFF2-40B4-BE49-F238E27FC236}">
                <a16:creationId xmlns:a16="http://schemas.microsoft.com/office/drawing/2014/main" id="{2E352157-DB25-87C1-951F-2525507117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461" y="3429000"/>
            <a:ext cx="2947619" cy="220760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DBACF62-2035-17E3-B58A-31DBBF969E61}"/>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524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A2FFB-75A9-BBDA-81A6-413AA1E8EFD1}"/>
              </a:ext>
            </a:extLst>
          </p:cNvPr>
          <p:cNvSpPr>
            <a:spLocks noGrp="1"/>
          </p:cNvSpPr>
          <p:nvPr>
            <p:ph type="title"/>
          </p:nvPr>
        </p:nvSpPr>
        <p:spPr/>
        <p:txBody>
          <a:bodyPr>
            <a:normAutofit/>
          </a:bodyPr>
          <a:lstStyle/>
          <a:p>
            <a:r>
              <a:rPr lang="en-US" sz="4400" dirty="0"/>
              <a:t>Employment Question: Myth or Fact?</a:t>
            </a:r>
          </a:p>
        </p:txBody>
      </p:sp>
      <p:sp>
        <p:nvSpPr>
          <p:cNvPr id="3" name="Content Placeholder 2">
            <a:extLst>
              <a:ext uri="{FF2B5EF4-FFF2-40B4-BE49-F238E27FC236}">
                <a16:creationId xmlns:a16="http://schemas.microsoft.com/office/drawing/2014/main" id="{23C509D0-9960-5B26-A404-77D577953726}"/>
              </a:ext>
            </a:extLst>
          </p:cNvPr>
          <p:cNvSpPr>
            <a:spLocks noGrp="1"/>
          </p:cNvSpPr>
          <p:nvPr>
            <p:ph idx="1"/>
          </p:nvPr>
        </p:nvSpPr>
        <p:spPr>
          <a:xfrm>
            <a:off x="838198" y="1754763"/>
            <a:ext cx="10892883" cy="1142941"/>
          </a:xfrm>
        </p:spPr>
        <p:txBody>
          <a:bodyPr>
            <a:normAutofit/>
          </a:bodyPr>
          <a:lstStyle/>
          <a:p>
            <a:pPr>
              <a:lnSpc>
                <a:spcPct val="100000"/>
              </a:lnSpc>
              <a:spcAft>
                <a:spcPts val="1200"/>
              </a:spcAft>
            </a:pPr>
            <a:r>
              <a:rPr lang="en-US" sz="2800" b="0" i="1" dirty="0">
                <a:cs typeface="Calibri" pitchFamily="34" charset="0"/>
              </a:rPr>
              <a:t>Employers can discipline and/or terminate (fire) an employee with a disability. </a:t>
            </a:r>
            <a:r>
              <a:rPr lang="en-US" sz="2800" dirty="0"/>
              <a:t>Myth or Fact?</a:t>
            </a:r>
          </a:p>
          <a:p>
            <a:endParaRPr lang="en-US" dirty="0"/>
          </a:p>
        </p:txBody>
      </p:sp>
      <p:sp>
        <p:nvSpPr>
          <p:cNvPr id="4" name="Slide Number Placeholder 3">
            <a:extLst>
              <a:ext uri="{FF2B5EF4-FFF2-40B4-BE49-F238E27FC236}">
                <a16:creationId xmlns:a16="http://schemas.microsoft.com/office/drawing/2014/main" id="{AC60ACE9-A3F5-301B-D7DB-EA8312356A05}"/>
              </a:ext>
            </a:extLst>
          </p:cNvPr>
          <p:cNvSpPr>
            <a:spLocks noGrp="1"/>
          </p:cNvSpPr>
          <p:nvPr>
            <p:ph type="sldNum" sz="quarter" idx="12"/>
          </p:nvPr>
        </p:nvSpPr>
        <p:spPr/>
        <p:txBody>
          <a:bodyPr/>
          <a:lstStyle/>
          <a:p>
            <a:fld id="{A9D5B481-CC43-4D95-B982-500CB2D3FC20}" type="slidenum">
              <a:rPr lang="en-US" smtClean="0"/>
              <a:pPr/>
              <a:t>5</a:t>
            </a:fld>
            <a:endParaRPr lang="en-US" dirty="0"/>
          </a:p>
        </p:txBody>
      </p:sp>
      <p:sp>
        <p:nvSpPr>
          <p:cNvPr id="5" name="Content Placeholder 2">
            <a:extLst>
              <a:ext uri="{FF2B5EF4-FFF2-40B4-BE49-F238E27FC236}">
                <a16:creationId xmlns:a16="http://schemas.microsoft.com/office/drawing/2014/main" id="{AA661CA5-4345-D589-BF41-98EEE95B95D5}"/>
              </a:ext>
            </a:extLst>
          </p:cNvPr>
          <p:cNvSpPr txBox="1">
            <a:spLocks/>
          </p:cNvSpPr>
          <p:nvPr/>
        </p:nvSpPr>
        <p:spPr>
          <a:xfrm>
            <a:off x="923259" y="2823175"/>
            <a:ext cx="8423389" cy="3711385"/>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1pPr>
            <a:lvl2pPr marL="685800" indent="-182880" algn="l" defTabSz="914400" rtl="0" eaLnBrk="1" latinLnBrk="0" hangingPunct="1">
              <a:lnSpc>
                <a:spcPct val="100000"/>
              </a:lnSpc>
              <a:spcBef>
                <a:spcPts val="600"/>
              </a:spcBef>
              <a:buFont typeface="Arial" panose="020B0604020202020204" pitchFamily="34" charset="0"/>
              <a:buChar char="•"/>
              <a:defRPr sz="2600" kern="1200" baseline="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SzPct val="100000"/>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10000"/>
              </a:lnSpc>
              <a:spcBef>
                <a:spcPts val="0"/>
              </a:spcBef>
              <a:spcAft>
                <a:spcPts val="2400"/>
              </a:spcAft>
              <a:buFont typeface="Arial" panose="020B0604020202020204" pitchFamily="34" charset="0"/>
              <a:buChar char="•"/>
            </a:pPr>
            <a:r>
              <a:rPr lang="en-US" sz="2600" dirty="0">
                <a:solidFill>
                  <a:srgbClr val="005580"/>
                </a:solidFill>
              </a:rPr>
              <a:t>FACT</a:t>
            </a:r>
            <a:r>
              <a:rPr lang="en-US" sz="2600" dirty="0"/>
              <a:t>. </a:t>
            </a:r>
            <a:r>
              <a:rPr lang="en-US" sz="2600" b="0" dirty="0"/>
              <a:t>If the performance of an employee with a disability warrants discipline or termination based on a fair and </a:t>
            </a:r>
            <a:r>
              <a:rPr lang="en-US" sz="2600" dirty="0"/>
              <a:t>equally applied</a:t>
            </a:r>
            <a:r>
              <a:rPr lang="en-US" sz="2600" b="0" dirty="0"/>
              <a:t> performance or conduct standard, then this employee can be disciplined or terminated (fired)  </a:t>
            </a:r>
          </a:p>
          <a:p>
            <a:pPr marL="457200" indent="-457200">
              <a:lnSpc>
                <a:spcPct val="110000"/>
              </a:lnSpc>
              <a:spcBef>
                <a:spcPts val="0"/>
              </a:spcBef>
              <a:spcAft>
                <a:spcPts val="2400"/>
              </a:spcAft>
              <a:buFont typeface="Arial" panose="020B0604020202020204" pitchFamily="34" charset="0"/>
              <a:buChar char="•"/>
            </a:pPr>
            <a:r>
              <a:rPr lang="en-US" sz="2600" dirty="0"/>
              <a:t>Additionally, an employer must consider whether an accommodation is needed for the employee to meet the standard</a:t>
            </a:r>
            <a:endParaRPr lang="en-US" b="0" i="1" dirty="0">
              <a:cs typeface="Calibri" pitchFamily="34" charset="0"/>
            </a:endParaRPr>
          </a:p>
          <a:p>
            <a:endParaRPr lang="en-US" dirty="0"/>
          </a:p>
        </p:txBody>
      </p:sp>
      <p:pic>
        <p:nvPicPr>
          <p:cNvPr id="6" name="Picture 5" descr="hand holding a block with the work Fact on it">
            <a:extLst>
              <a:ext uri="{FF2B5EF4-FFF2-40B4-BE49-F238E27FC236}">
                <a16:creationId xmlns:a16="http://schemas.microsoft.com/office/drawing/2014/main" id="{2E2B97AE-AD72-280C-16E0-EDE08F92261E}"/>
              </a:ext>
            </a:extLst>
          </p:cNvPr>
          <p:cNvPicPr>
            <a:picLocks noChangeAspect="1"/>
          </p:cNvPicPr>
          <p:nvPr/>
        </p:nvPicPr>
        <p:blipFill>
          <a:blip r:embed="rId3"/>
          <a:stretch>
            <a:fillRect/>
          </a:stretch>
        </p:blipFill>
        <p:spPr>
          <a:xfrm>
            <a:off x="9244330" y="2766879"/>
            <a:ext cx="2698750" cy="2755566"/>
          </a:xfrm>
          <a:prstGeom prst="rect">
            <a:avLst/>
          </a:prstGeom>
        </p:spPr>
      </p:pic>
      <p:pic>
        <p:nvPicPr>
          <p:cNvPr id="7" name="Picture 6">
            <a:extLst>
              <a:ext uri="{FF2B5EF4-FFF2-40B4-BE49-F238E27FC236}">
                <a16:creationId xmlns:a16="http://schemas.microsoft.com/office/drawing/2014/main" id="{FF8A0CEB-2A22-62BF-69F7-B4F09B3E19ED}"/>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544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6C3C9-2DD0-DC8C-388D-094D3D62D3C5}"/>
              </a:ext>
            </a:extLst>
          </p:cNvPr>
          <p:cNvSpPr>
            <a:spLocks noGrp="1"/>
          </p:cNvSpPr>
          <p:nvPr>
            <p:ph type="title"/>
          </p:nvPr>
        </p:nvSpPr>
        <p:spPr>
          <a:xfrm>
            <a:off x="988492" y="712034"/>
            <a:ext cx="10515600" cy="961496"/>
          </a:xfrm>
        </p:spPr>
        <p:txBody>
          <a:bodyPr>
            <a:normAutofit/>
          </a:bodyPr>
          <a:lstStyle/>
          <a:p>
            <a:r>
              <a:rPr lang="en-US" sz="4400" dirty="0"/>
              <a:t>Title II of the ADA</a:t>
            </a:r>
          </a:p>
        </p:txBody>
      </p:sp>
      <p:sp>
        <p:nvSpPr>
          <p:cNvPr id="3" name="Content Placeholder 2">
            <a:extLst>
              <a:ext uri="{FF2B5EF4-FFF2-40B4-BE49-F238E27FC236}">
                <a16:creationId xmlns:a16="http://schemas.microsoft.com/office/drawing/2014/main" id="{E54BB6EE-6298-E959-F03B-30C202F6D468}"/>
              </a:ext>
            </a:extLst>
          </p:cNvPr>
          <p:cNvSpPr>
            <a:spLocks noGrp="1"/>
          </p:cNvSpPr>
          <p:nvPr>
            <p:ph idx="1"/>
          </p:nvPr>
        </p:nvSpPr>
        <p:spPr>
          <a:xfrm>
            <a:off x="988492" y="1516100"/>
            <a:ext cx="9081977" cy="557441"/>
          </a:xfrm>
        </p:spPr>
        <p:txBody>
          <a:bodyPr>
            <a:normAutofit/>
          </a:bodyPr>
          <a:lstStyle/>
          <a:p>
            <a:pPr>
              <a:lnSpc>
                <a:spcPct val="100000"/>
              </a:lnSpc>
              <a:spcBef>
                <a:spcPts val="0"/>
              </a:spcBef>
              <a:spcAft>
                <a:spcPts val="600"/>
              </a:spcAft>
              <a:buClr>
                <a:schemeClr val="tx1"/>
              </a:buClr>
              <a:buSzPct val="100000"/>
            </a:pPr>
            <a:r>
              <a:rPr lang="en-US" sz="2200" dirty="0">
                <a:ea typeface="Calibri" panose="020F0502020204030204" pitchFamily="34" charset="0"/>
                <a:cs typeface="Arial" panose="020B0604020202020204" pitchFamily="34" charset="0"/>
              </a:rPr>
              <a:t>Applies to all state/local government entities such as:</a:t>
            </a:r>
          </a:p>
          <a:p>
            <a:endParaRPr lang="en-US" dirty="0"/>
          </a:p>
        </p:txBody>
      </p:sp>
      <p:sp>
        <p:nvSpPr>
          <p:cNvPr id="4" name="Slide Number Placeholder 3">
            <a:extLst>
              <a:ext uri="{FF2B5EF4-FFF2-40B4-BE49-F238E27FC236}">
                <a16:creationId xmlns:a16="http://schemas.microsoft.com/office/drawing/2014/main" id="{F9E874C3-D3CA-F822-DB87-5F70C583D582}"/>
              </a:ext>
            </a:extLst>
          </p:cNvPr>
          <p:cNvSpPr>
            <a:spLocks noGrp="1"/>
          </p:cNvSpPr>
          <p:nvPr>
            <p:ph type="sldNum" sz="quarter" idx="12"/>
          </p:nvPr>
        </p:nvSpPr>
        <p:spPr/>
        <p:txBody>
          <a:bodyPr/>
          <a:lstStyle/>
          <a:p>
            <a:fld id="{A9D5B481-CC43-4D95-B982-500CB2D3FC20}" type="slidenum">
              <a:rPr lang="en-US" smtClean="0"/>
              <a:pPr/>
              <a:t>6</a:t>
            </a:fld>
            <a:endParaRPr lang="en-US" dirty="0"/>
          </a:p>
        </p:txBody>
      </p:sp>
      <p:sp>
        <p:nvSpPr>
          <p:cNvPr id="8" name="Content Placeholder 2">
            <a:extLst>
              <a:ext uri="{FF2B5EF4-FFF2-40B4-BE49-F238E27FC236}">
                <a16:creationId xmlns:a16="http://schemas.microsoft.com/office/drawing/2014/main" id="{9EA3DC56-0D94-F518-938D-45B0FCB939DB}"/>
              </a:ext>
            </a:extLst>
          </p:cNvPr>
          <p:cNvSpPr txBox="1">
            <a:spLocks/>
          </p:cNvSpPr>
          <p:nvPr/>
        </p:nvSpPr>
        <p:spPr>
          <a:xfrm>
            <a:off x="988492" y="2018126"/>
            <a:ext cx="9181789" cy="2742521"/>
          </a:xfrm>
          <a:prstGeom prst="rect">
            <a:avLst/>
          </a:prstGeom>
        </p:spPr>
        <p:txBody>
          <a:bodyPr vert="horz" lIns="91440" tIns="45720" rIns="91440" bIns="45720" numCol="2"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1pPr>
            <a:lvl2pPr marL="685800" indent="-182880" algn="l" defTabSz="914400" rtl="0" eaLnBrk="1" latinLnBrk="0" hangingPunct="1">
              <a:lnSpc>
                <a:spcPct val="100000"/>
              </a:lnSpc>
              <a:spcBef>
                <a:spcPts val="600"/>
              </a:spcBef>
              <a:buFont typeface="Arial" panose="020B0604020202020204" pitchFamily="34" charset="0"/>
              <a:buChar char="•"/>
              <a:defRPr sz="2600" kern="1200" baseline="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SzPct val="100000"/>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7472" lvl="1" indent="-347472">
              <a:spcBef>
                <a:spcPts val="0"/>
              </a:spcBef>
            </a:pPr>
            <a:r>
              <a:rPr lang="en-US" sz="2000" dirty="0"/>
              <a:t>Public education (schools)</a:t>
            </a:r>
          </a:p>
          <a:p>
            <a:pPr marL="347472" lvl="1" indent="-347472">
              <a:spcBef>
                <a:spcPts val="0"/>
              </a:spcBef>
            </a:pPr>
            <a:r>
              <a:rPr lang="en-US" sz="2000" dirty="0"/>
              <a:t>Public transportation</a:t>
            </a:r>
          </a:p>
          <a:p>
            <a:pPr marL="347472" lvl="1" indent="-347472">
              <a:spcBef>
                <a:spcPts val="0"/>
              </a:spcBef>
            </a:pPr>
            <a:r>
              <a:rPr lang="en-US" sz="2000" dirty="0">
                <a:ea typeface="Calibri" panose="020F0502020204030204" pitchFamily="34" charset="0"/>
                <a:cs typeface="Times New Roman" panose="02020603050405020304" pitchFamily="18" charset="0"/>
              </a:rPr>
              <a:t>Recreation programs </a:t>
            </a:r>
          </a:p>
          <a:p>
            <a:pPr marL="347472" lvl="1" indent="-347472">
              <a:spcBef>
                <a:spcPts val="0"/>
              </a:spcBef>
            </a:pPr>
            <a:r>
              <a:rPr lang="en-US" sz="2000" dirty="0"/>
              <a:t>Health care</a:t>
            </a:r>
          </a:p>
          <a:p>
            <a:pPr marL="347472" lvl="1" indent="-347472">
              <a:spcBef>
                <a:spcPts val="0"/>
              </a:spcBef>
            </a:pPr>
            <a:r>
              <a:rPr lang="en-US" altLang="en-US" sz="2000" dirty="0"/>
              <a:t>Social Services</a:t>
            </a:r>
          </a:p>
          <a:p>
            <a:pPr marL="347472" lvl="1" indent="-347472">
              <a:spcBef>
                <a:spcPts val="0"/>
              </a:spcBef>
            </a:pPr>
            <a:r>
              <a:rPr lang="en-US" altLang="en-US" sz="2000" dirty="0"/>
              <a:t>Courts</a:t>
            </a:r>
          </a:p>
          <a:p>
            <a:pPr marL="347472" lvl="1" indent="-347472">
              <a:spcBef>
                <a:spcPts val="0"/>
              </a:spcBef>
              <a:buNone/>
            </a:pPr>
            <a:endParaRPr lang="en-US" altLang="en-US" sz="2000" dirty="0"/>
          </a:p>
          <a:p>
            <a:pPr marL="347472" lvl="1" indent="-347472">
              <a:spcBef>
                <a:spcPts val="0"/>
              </a:spcBef>
              <a:buNone/>
            </a:pPr>
            <a:endParaRPr lang="en-US" altLang="en-US" sz="2000" dirty="0"/>
          </a:p>
          <a:p>
            <a:pPr marL="347472" lvl="1" indent="-347472">
              <a:spcBef>
                <a:spcPts val="0"/>
              </a:spcBef>
            </a:pPr>
            <a:r>
              <a:rPr lang="en-US" altLang="en-US" sz="2000" dirty="0"/>
              <a:t>Voting</a:t>
            </a:r>
          </a:p>
          <a:p>
            <a:pPr marL="347472" lvl="1" indent="-347472">
              <a:spcBef>
                <a:spcPts val="0"/>
              </a:spcBef>
            </a:pPr>
            <a:r>
              <a:rPr lang="en-US" altLang="en-US" sz="2000" dirty="0"/>
              <a:t>Emergency services</a:t>
            </a:r>
          </a:p>
          <a:p>
            <a:pPr marL="347472" lvl="1" indent="-347472">
              <a:spcBef>
                <a:spcPts val="0"/>
              </a:spcBef>
            </a:pPr>
            <a:r>
              <a:rPr lang="en-US" altLang="en-US" sz="2000" dirty="0"/>
              <a:t>Offices where people go such as renewing licenses, attending town meetings, conducting other governed business, etc.</a:t>
            </a:r>
          </a:p>
          <a:p>
            <a:endParaRPr lang="en-US" dirty="0"/>
          </a:p>
        </p:txBody>
      </p:sp>
      <p:pic>
        <p:nvPicPr>
          <p:cNvPr id="5" name="Picture 4" descr="outline of a government building">
            <a:extLst>
              <a:ext uri="{FF2B5EF4-FFF2-40B4-BE49-F238E27FC236}">
                <a16:creationId xmlns:a16="http://schemas.microsoft.com/office/drawing/2014/main" id="{B9ADDA7D-D85F-E050-E551-88A0D7303102}"/>
              </a:ext>
            </a:extLst>
          </p:cNvPr>
          <p:cNvPicPr>
            <a:picLocks noChangeAspect="1"/>
          </p:cNvPicPr>
          <p:nvPr/>
        </p:nvPicPr>
        <p:blipFill>
          <a:blip r:embed="rId3"/>
          <a:stretch>
            <a:fillRect/>
          </a:stretch>
        </p:blipFill>
        <p:spPr>
          <a:xfrm>
            <a:off x="9885698" y="2139417"/>
            <a:ext cx="1854772" cy="1776301"/>
          </a:xfrm>
          <a:prstGeom prst="rect">
            <a:avLst/>
          </a:prstGeom>
        </p:spPr>
      </p:pic>
      <p:sp>
        <p:nvSpPr>
          <p:cNvPr id="9" name="Content Placeholder 2">
            <a:extLst>
              <a:ext uri="{FF2B5EF4-FFF2-40B4-BE49-F238E27FC236}">
                <a16:creationId xmlns:a16="http://schemas.microsoft.com/office/drawing/2014/main" id="{C46E2B57-3791-612A-199A-10EFE97CB58F}"/>
              </a:ext>
            </a:extLst>
          </p:cNvPr>
          <p:cNvSpPr txBox="1">
            <a:spLocks/>
          </p:cNvSpPr>
          <p:nvPr/>
        </p:nvSpPr>
        <p:spPr>
          <a:xfrm>
            <a:off x="988492" y="4006958"/>
            <a:ext cx="9727020" cy="2710707"/>
          </a:xfrm>
          <a:prstGeom prst="rect">
            <a:avLst/>
          </a:prstGeom>
        </p:spPr>
        <p:txBody>
          <a:bodyPr vert="horz" lIns="91440" tIns="45720" rIns="91440" bIns="45720" rtlCol="0">
            <a:normAutofit fontScale="2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1pPr>
            <a:lvl2pPr marL="685800" indent="-182880" algn="l" defTabSz="914400" rtl="0" eaLnBrk="1" latinLnBrk="0" hangingPunct="1">
              <a:lnSpc>
                <a:spcPct val="100000"/>
              </a:lnSpc>
              <a:spcBef>
                <a:spcPts val="600"/>
              </a:spcBef>
              <a:buFont typeface="Arial" panose="020B0604020202020204" pitchFamily="34" charset="0"/>
              <a:buChar char="•"/>
              <a:defRPr sz="2600" kern="1200" baseline="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SzPct val="100000"/>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pPr>
            <a:r>
              <a:rPr lang="en-US" sz="8800" dirty="0"/>
              <a:t>Provides protections to qualified individuals with disabilities</a:t>
            </a:r>
          </a:p>
          <a:p>
            <a:pPr marL="347472" indent="-347472">
              <a:lnSpc>
                <a:spcPct val="120000"/>
              </a:lnSpc>
              <a:spcBef>
                <a:spcPts val="0"/>
              </a:spcBef>
              <a:spcAft>
                <a:spcPts val="600"/>
              </a:spcAft>
              <a:buFont typeface="Arial" panose="020B0604020202020204" pitchFamily="34" charset="0"/>
              <a:buChar char="•"/>
            </a:pPr>
            <a:r>
              <a:rPr lang="en-US" sz="8400" b="0" dirty="0"/>
              <a:t>Prohibits discrimination and harassment</a:t>
            </a:r>
          </a:p>
          <a:p>
            <a:pPr marL="347472" indent="-347472">
              <a:lnSpc>
                <a:spcPct val="120000"/>
              </a:lnSpc>
              <a:spcBef>
                <a:spcPts val="0"/>
              </a:spcBef>
              <a:spcAft>
                <a:spcPts val="600"/>
              </a:spcAft>
              <a:buFont typeface="Arial" panose="020B0604020202020204" pitchFamily="34" charset="0"/>
              <a:buChar char="•"/>
            </a:pPr>
            <a:r>
              <a:rPr lang="en-US" sz="8400" b="0" dirty="0"/>
              <a:t>Requires effective communication </a:t>
            </a:r>
          </a:p>
          <a:p>
            <a:pPr marL="347472" indent="-347472">
              <a:lnSpc>
                <a:spcPct val="120000"/>
              </a:lnSpc>
              <a:spcBef>
                <a:spcPts val="0"/>
              </a:spcBef>
              <a:spcAft>
                <a:spcPts val="600"/>
              </a:spcAft>
              <a:buFont typeface="Arial" panose="020B0604020202020204" pitchFamily="34" charset="0"/>
              <a:buChar char="•"/>
            </a:pPr>
            <a:r>
              <a:rPr lang="en-US" sz="8400" b="0" dirty="0"/>
              <a:t>Requires reasonable modifications</a:t>
            </a:r>
          </a:p>
          <a:p>
            <a:pPr marL="347472" indent="-347472">
              <a:lnSpc>
                <a:spcPct val="120000"/>
              </a:lnSpc>
              <a:spcBef>
                <a:spcPts val="0"/>
              </a:spcBef>
              <a:spcAft>
                <a:spcPts val="600"/>
              </a:spcAft>
              <a:buFont typeface="Arial" panose="020B0604020202020204" pitchFamily="34" charset="0"/>
              <a:buChar char="•"/>
            </a:pPr>
            <a:r>
              <a:rPr lang="en-US" sz="8400" b="0" dirty="0"/>
              <a:t>Requires program access</a:t>
            </a:r>
            <a:endParaRPr lang="en-US" sz="8400" dirty="0"/>
          </a:p>
          <a:p>
            <a:pPr>
              <a:lnSpc>
                <a:spcPct val="120000"/>
              </a:lnSpc>
              <a:spcBef>
                <a:spcPts val="0"/>
              </a:spcBef>
              <a:spcAft>
                <a:spcPts val="600"/>
              </a:spcAft>
              <a:buClr>
                <a:schemeClr val="tx1"/>
              </a:buClr>
              <a:buSzPct val="100000"/>
            </a:pPr>
            <a:r>
              <a:rPr lang="en-US" sz="8800" dirty="0">
                <a:solidFill>
                  <a:prstClr val="black"/>
                </a:solidFill>
              </a:rPr>
              <a:t>Enforced by the U.S. Department of Justice (DOJ)</a:t>
            </a:r>
          </a:p>
          <a:p>
            <a:endParaRPr lang="en-US" dirty="0"/>
          </a:p>
        </p:txBody>
      </p:sp>
      <p:pic>
        <p:nvPicPr>
          <p:cNvPr id="7" name="Picture 6" descr="US Department of Justice Logo">
            <a:extLst>
              <a:ext uri="{FF2B5EF4-FFF2-40B4-BE49-F238E27FC236}">
                <a16:creationId xmlns:a16="http://schemas.microsoft.com/office/drawing/2014/main" id="{AF0EBAA5-1E4B-E93B-CBAB-1C176D1C29B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25207" y="4806267"/>
            <a:ext cx="1546273" cy="154627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EB432E0-65E7-BE5D-05D0-6B325E04EF44}"/>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5683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6AB54-1C61-07BF-190C-F92B10E42CD7}"/>
              </a:ext>
            </a:extLst>
          </p:cNvPr>
          <p:cNvSpPr>
            <a:spLocks noGrp="1"/>
          </p:cNvSpPr>
          <p:nvPr>
            <p:ph type="title"/>
          </p:nvPr>
        </p:nvSpPr>
        <p:spPr>
          <a:xfrm>
            <a:off x="694330" y="746903"/>
            <a:ext cx="10515600" cy="961496"/>
          </a:xfrm>
        </p:spPr>
        <p:txBody>
          <a:bodyPr>
            <a:normAutofit/>
          </a:bodyPr>
          <a:lstStyle/>
          <a:p>
            <a:r>
              <a:rPr lang="en-US" sz="4400" dirty="0"/>
              <a:t>Providing Program Access</a:t>
            </a:r>
          </a:p>
        </p:txBody>
      </p:sp>
      <p:sp>
        <p:nvSpPr>
          <p:cNvPr id="5" name="Content Placeholder 4">
            <a:extLst>
              <a:ext uri="{FF2B5EF4-FFF2-40B4-BE49-F238E27FC236}">
                <a16:creationId xmlns:a16="http://schemas.microsoft.com/office/drawing/2014/main" id="{B2B90E36-7E8B-91D6-5EA7-16066786F89D}"/>
              </a:ext>
            </a:extLst>
          </p:cNvPr>
          <p:cNvSpPr>
            <a:spLocks noGrp="1"/>
          </p:cNvSpPr>
          <p:nvPr>
            <p:ph idx="1"/>
          </p:nvPr>
        </p:nvSpPr>
        <p:spPr>
          <a:xfrm>
            <a:off x="694330" y="1723409"/>
            <a:ext cx="10803340" cy="4811693"/>
          </a:xfrm>
        </p:spPr>
        <p:txBody>
          <a:bodyPr>
            <a:normAutofit lnSpcReduction="10000"/>
          </a:bodyPr>
          <a:lstStyle/>
          <a:p>
            <a:pPr marL="342900" indent="-342900">
              <a:lnSpc>
                <a:spcPct val="100000"/>
              </a:lnSpc>
              <a:spcBef>
                <a:spcPts val="0"/>
              </a:spcBef>
              <a:spcAft>
                <a:spcPts val="1200"/>
              </a:spcAft>
              <a:buFont typeface="Arial" panose="020B0604020202020204" pitchFamily="34" charset="0"/>
              <a:buChar char="•"/>
            </a:pPr>
            <a:r>
              <a:rPr lang="en-US" sz="2400" b="0" dirty="0"/>
              <a:t>A public entity’s services, programs, and activities, when </a:t>
            </a:r>
            <a:r>
              <a:rPr lang="en-US" sz="2400" dirty="0"/>
              <a:t>viewed in their entirety, must be readily (easily) accessible to and usable</a:t>
            </a:r>
            <a:r>
              <a:rPr lang="en-US" sz="2400" b="0" dirty="0"/>
              <a:t> by people with disabilities </a:t>
            </a:r>
          </a:p>
          <a:p>
            <a:pPr marL="342900" indent="-342900">
              <a:lnSpc>
                <a:spcPct val="100000"/>
              </a:lnSpc>
              <a:spcBef>
                <a:spcPts val="0"/>
              </a:spcBef>
              <a:spcAft>
                <a:spcPts val="1200"/>
              </a:spcAft>
              <a:buFont typeface="Arial" panose="020B0604020202020204" pitchFamily="34" charset="0"/>
              <a:buChar char="•"/>
            </a:pPr>
            <a:r>
              <a:rPr lang="en-US" sz="2400" b="0" i="0" dirty="0">
                <a:effectLst/>
              </a:rPr>
              <a:t>People with disabilities must have </a:t>
            </a:r>
            <a:r>
              <a:rPr lang="en-US" sz="2400" b="1" i="0" dirty="0">
                <a:effectLst/>
              </a:rPr>
              <a:t>comparable access </a:t>
            </a:r>
            <a:r>
              <a:rPr lang="en-US" sz="2400" b="0" i="0" dirty="0">
                <a:effectLst/>
              </a:rPr>
              <a:t>to programs and services such as the following examples</a:t>
            </a:r>
            <a:r>
              <a:rPr lang="en-US" sz="2600" b="0" i="0" dirty="0">
                <a:effectLst/>
              </a:rPr>
              <a:t>:</a:t>
            </a:r>
            <a:endParaRPr lang="en-US" sz="2600" dirty="0"/>
          </a:p>
          <a:p>
            <a:pPr lvl="1">
              <a:spcBef>
                <a:spcPts val="0"/>
              </a:spcBef>
              <a:spcAft>
                <a:spcPts val="1200"/>
              </a:spcAft>
              <a:buFont typeface="Arial" panose="020B0604020202020204" pitchFamily="34" charset="0"/>
              <a:buChar char="­"/>
            </a:pPr>
            <a:r>
              <a:rPr lang="en-US" sz="2200" dirty="0"/>
              <a:t>Reassigning services to accessible locations</a:t>
            </a:r>
          </a:p>
          <a:p>
            <a:pPr lvl="1">
              <a:spcBef>
                <a:spcPts val="0"/>
              </a:spcBef>
              <a:spcAft>
                <a:spcPts val="1200"/>
              </a:spcAft>
              <a:buFont typeface="Arial" panose="020B0604020202020204" pitchFamily="34" charset="0"/>
              <a:buChar char="­"/>
            </a:pPr>
            <a:r>
              <a:rPr lang="en-US" sz="2200" dirty="0"/>
              <a:t>Home visits </a:t>
            </a:r>
          </a:p>
          <a:p>
            <a:pPr lvl="1">
              <a:spcBef>
                <a:spcPts val="0"/>
              </a:spcBef>
              <a:spcAft>
                <a:spcPts val="1200"/>
              </a:spcAft>
              <a:buFont typeface="Arial" panose="020B0604020202020204" pitchFamily="34" charset="0"/>
              <a:buChar char="­"/>
            </a:pPr>
            <a:r>
              <a:rPr lang="en-US" sz="2200" dirty="0"/>
              <a:t>Purchase or redesign of equipment</a:t>
            </a:r>
          </a:p>
          <a:p>
            <a:pPr lvl="1">
              <a:spcBef>
                <a:spcPts val="0"/>
              </a:spcBef>
              <a:spcAft>
                <a:spcPts val="1200"/>
              </a:spcAft>
              <a:buFont typeface="Arial" panose="020B0604020202020204" pitchFamily="34" charset="0"/>
              <a:buChar char="­"/>
            </a:pPr>
            <a:r>
              <a:rPr lang="en-US" sz="2200" dirty="0"/>
              <a:t>Offering aide/assistance</a:t>
            </a:r>
          </a:p>
          <a:p>
            <a:pPr lvl="1">
              <a:spcBef>
                <a:spcPts val="0"/>
              </a:spcBef>
              <a:spcAft>
                <a:spcPts val="1200"/>
              </a:spcAft>
              <a:buFont typeface="Arial" panose="020B0604020202020204" pitchFamily="34" charset="0"/>
              <a:buChar char="­"/>
            </a:pPr>
            <a:r>
              <a:rPr lang="en-US" sz="2200" dirty="0"/>
              <a:t>Structural change if no other option is available – must comply with 2010 ADA Standards for Accessible Design</a:t>
            </a:r>
          </a:p>
          <a:p>
            <a:endParaRPr lang="en-US" dirty="0"/>
          </a:p>
        </p:txBody>
      </p:sp>
      <p:pic>
        <p:nvPicPr>
          <p:cNvPr id="6" name="Picture 5" descr="illustration of reassigning to a different location">
            <a:extLst>
              <a:ext uri="{FF2B5EF4-FFF2-40B4-BE49-F238E27FC236}">
                <a16:creationId xmlns:a16="http://schemas.microsoft.com/office/drawing/2014/main" id="{4D0142A3-55C5-0355-323C-89CFEF5B44DF}"/>
              </a:ext>
            </a:extLst>
          </p:cNvPr>
          <p:cNvPicPr>
            <a:picLocks noChangeAspect="1"/>
          </p:cNvPicPr>
          <p:nvPr/>
        </p:nvPicPr>
        <p:blipFill>
          <a:blip r:embed="rId3"/>
          <a:stretch>
            <a:fillRect/>
          </a:stretch>
        </p:blipFill>
        <p:spPr>
          <a:xfrm>
            <a:off x="7486565" y="3404286"/>
            <a:ext cx="1554953" cy="1497575"/>
          </a:xfrm>
          <a:prstGeom prst="rect">
            <a:avLst/>
          </a:prstGeom>
        </p:spPr>
      </p:pic>
      <p:pic>
        <p:nvPicPr>
          <p:cNvPr id="7" name="Picture 6" descr="health care provider providing services in elder wheelchair user home">
            <a:extLst>
              <a:ext uri="{FF2B5EF4-FFF2-40B4-BE49-F238E27FC236}">
                <a16:creationId xmlns:a16="http://schemas.microsoft.com/office/drawing/2014/main" id="{CB36D627-5B2E-95B4-02A9-7762AB3D9DF1}"/>
              </a:ext>
            </a:extLst>
          </p:cNvPr>
          <p:cNvPicPr>
            <a:picLocks noChangeAspect="1"/>
          </p:cNvPicPr>
          <p:nvPr/>
        </p:nvPicPr>
        <p:blipFill>
          <a:blip r:embed="rId4"/>
          <a:stretch>
            <a:fillRect/>
          </a:stretch>
        </p:blipFill>
        <p:spPr>
          <a:xfrm>
            <a:off x="9350451" y="3873312"/>
            <a:ext cx="1554953" cy="1521394"/>
          </a:xfrm>
          <a:prstGeom prst="rect">
            <a:avLst/>
          </a:prstGeom>
        </p:spPr>
      </p:pic>
      <p:pic>
        <p:nvPicPr>
          <p:cNvPr id="3" name="Picture 2">
            <a:extLst>
              <a:ext uri="{FF2B5EF4-FFF2-40B4-BE49-F238E27FC236}">
                <a16:creationId xmlns:a16="http://schemas.microsoft.com/office/drawing/2014/main" id="{431B93EF-FAAE-D6D5-53DC-C67EB60097F1}"/>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87E5ABDB-28DC-2B6E-6ADD-DD1FBAA2A198}"/>
              </a:ext>
            </a:extLst>
          </p:cNvPr>
          <p:cNvSpPr>
            <a:spLocks noGrp="1"/>
          </p:cNvSpPr>
          <p:nvPr>
            <p:ph type="sldNum" sz="quarter" idx="12"/>
          </p:nvPr>
        </p:nvSpPr>
        <p:spPr/>
        <p:txBody>
          <a:bodyPr/>
          <a:lstStyle/>
          <a:p>
            <a:fld id="{A9D5B481-CC43-4D95-B982-500CB2D3FC20}" type="slidenum">
              <a:rPr lang="en-US" smtClean="0"/>
              <a:pPr/>
              <a:t>7</a:t>
            </a:fld>
            <a:endParaRPr lang="en-US" dirty="0"/>
          </a:p>
        </p:txBody>
      </p:sp>
    </p:spTree>
    <p:extLst>
      <p:ext uri="{BB962C8B-B14F-4D97-AF65-F5344CB8AC3E}">
        <p14:creationId xmlns:p14="http://schemas.microsoft.com/office/powerpoint/2010/main" val="1405314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BC78B-C55B-C314-C2AE-FA766A72F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E925E-A144-05B8-8260-DA736BEE1776}"/>
              </a:ext>
            </a:extLst>
          </p:cNvPr>
          <p:cNvSpPr>
            <a:spLocks noGrp="1"/>
          </p:cNvSpPr>
          <p:nvPr>
            <p:ph type="title"/>
          </p:nvPr>
        </p:nvSpPr>
        <p:spPr>
          <a:xfrm>
            <a:off x="609600" y="723529"/>
            <a:ext cx="10515600" cy="961496"/>
          </a:xfrm>
        </p:spPr>
        <p:txBody>
          <a:bodyPr>
            <a:normAutofit/>
          </a:bodyPr>
          <a:lstStyle/>
          <a:p>
            <a:r>
              <a:rPr lang="en-US" sz="4400" dirty="0"/>
              <a:t>Program Access Scenario</a:t>
            </a:r>
          </a:p>
        </p:txBody>
      </p:sp>
      <p:sp>
        <p:nvSpPr>
          <p:cNvPr id="3" name="Content Placeholder 2">
            <a:extLst>
              <a:ext uri="{FF2B5EF4-FFF2-40B4-BE49-F238E27FC236}">
                <a16:creationId xmlns:a16="http://schemas.microsoft.com/office/drawing/2014/main" id="{445DFBE6-46F1-2B81-A03F-172CFEF11C51}"/>
              </a:ext>
            </a:extLst>
          </p:cNvPr>
          <p:cNvSpPr>
            <a:spLocks noGrp="1"/>
          </p:cNvSpPr>
          <p:nvPr>
            <p:ph idx="1"/>
          </p:nvPr>
        </p:nvSpPr>
        <p:spPr>
          <a:xfrm>
            <a:off x="609600" y="1644635"/>
            <a:ext cx="10972800" cy="602177"/>
          </a:xfrm>
        </p:spPr>
        <p:txBody>
          <a:bodyPr>
            <a:normAutofit/>
          </a:bodyPr>
          <a:lstStyle/>
          <a:p>
            <a:pPr>
              <a:spcBef>
                <a:spcPct val="0"/>
              </a:spcBef>
              <a:spcAft>
                <a:spcPts val="600"/>
              </a:spcAft>
            </a:pPr>
            <a:r>
              <a:rPr lang="en-US" sz="2400" dirty="0"/>
              <a:t>A state agency has 5 offices downtown: 2 are accessible, and 3 are not </a:t>
            </a:r>
          </a:p>
          <a:p>
            <a:endParaRPr lang="en-US" dirty="0"/>
          </a:p>
        </p:txBody>
      </p:sp>
      <p:sp>
        <p:nvSpPr>
          <p:cNvPr id="5" name="Content Placeholder 2">
            <a:extLst>
              <a:ext uri="{FF2B5EF4-FFF2-40B4-BE49-F238E27FC236}">
                <a16:creationId xmlns:a16="http://schemas.microsoft.com/office/drawing/2014/main" id="{4F897AEE-2BE3-756D-3EAE-CE29D3D36C98}"/>
              </a:ext>
            </a:extLst>
          </p:cNvPr>
          <p:cNvSpPr txBox="1">
            <a:spLocks/>
          </p:cNvSpPr>
          <p:nvPr/>
        </p:nvSpPr>
        <p:spPr>
          <a:xfrm>
            <a:off x="338470" y="2215987"/>
            <a:ext cx="8720470" cy="442104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1pPr>
            <a:lvl2pPr marL="685800" indent="-182880" algn="l" defTabSz="914400" rtl="0" eaLnBrk="1" latinLnBrk="0" hangingPunct="1">
              <a:lnSpc>
                <a:spcPct val="100000"/>
              </a:lnSpc>
              <a:spcBef>
                <a:spcPts val="600"/>
              </a:spcBef>
              <a:buFont typeface="Arial" panose="020B0604020202020204" pitchFamily="34" charset="0"/>
              <a:buChar char="•"/>
              <a:defRPr sz="2600" kern="1200" baseline="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SzPct val="100000"/>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57250" lvl="1" indent="-457200">
              <a:spcBef>
                <a:spcPts val="0"/>
              </a:spcBef>
              <a:spcAft>
                <a:spcPts val="1200"/>
              </a:spcAft>
            </a:pPr>
            <a:r>
              <a:rPr lang="en-US" sz="2300" dirty="0"/>
              <a:t>If the same services/programs are available in all 5 offices, do the 3 inaccessible ones need to be made accessible?</a:t>
            </a:r>
          </a:p>
          <a:p>
            <a:pPr marL="1390650" lvl="2" indent="-533400">
              <a:spcBef>
                <a:spcPts val="0"/>
              </a:spcBef>
              <a:spcAft>
                <a:spcPts val="1200"/>
              </a:spcAft>
              <a:buFont typeface="Wingdings" panose="05000000000000000000" pitchFamily="2" charset="2"/>
              <a:buChar char="Ø"/>
            </a:pPr>
            <a:r>
              <a:rPr lang="en-US" sz="2300" b="1" dirty="0">
                <a:solidFill>
                  <a:srgbClr val="005580"/>
                </a:solidFill>
                <a:ea typeface="Calibri"/>
              </a:rPr>
              <a:t>NO</a:t>
            </a:r>
            <a:r>
              <a:rPr lang="en-US" sz="2300" dirty="0">
                <a:ea typeface="Calibri"/>
              </a:rPr>
              <a:t>. The agency does not have to make structural changes to those inaccessible offices as long as the accessible offices operate the same hours and business/services. However, in a large city where there is significant distance between facilities, this can create barriers to program access; then structural changes may be necessary to achieve program access for everyone. </a:t>
            </a:r>
            <a:endParaRPr lang="en-US" sz="2300" dirty="0"/>
          </a:p>
          <a:p>
            <a:pPr marL="933450" lvl="1" indent="-533400">
              <a:spcBef>
                <a:spcPts val="0"/>
              </a:spcBef>
              <a:buFont typeface="Calibri" panose="020F0502020204030204" pitchFamily="34" charset="0"/>
              <a:buChar char="­"/>
            </a:pPr>
            <a:endParaRPr lang="en-US" sz="2300" dirty="0"/>
          </a:p>
          <a:p>
            <a:endParaRPr lang="en-US" dirty="0"/>
          </a:p>
        </p:txBody>
      </p:sp>
      <p:pic>
        <p:nvPicPr>
          <p:cNvPr id="6" name="Picture 5" descr="downtown buildings, office space">
            <a:extLst>
              <a:ext uri="{FF2B5EF4-FFF2-40B4-BE49-F238E27FC236}">
                <a16:creationId xmlns:a16="http://schemas.microsoft.com/office/drawing/2014/main" id="{F7C2E8E2-67CD-5C43-551A-A2FD4953B3E9}"/>
              </a:ext>
            </a:extLst>
          </p:cNvPr>
          <p:cNvPicPr>
            <a:picLocks noChangeAspect="1"/>
          </p:cNvPicPr>
          <p:nvPr/>
        </p:nvPicPr>
        <p:blipFill>
          <a:blip r:embed="rId3"/>
          <a:stretch>
            <a:fillRect/>
          </a:stretch>
        </p:blipFill>
        <p:spPr>
          <a:xfrm>
            <a:off x="9199880" y="2362076"/>
            <a:ext cx="2752725" cy="2028825"/>
          </a:xfrm>
          <a:prstGeom prst="rect">
            <a:avLst/>
          </a:prstGeom>
        </p:spPr>
      </p:pic>
      <p:pic>
        <p:nvPicPr>
          <p:cNvPr id="7" name="Picture 6">
            <a:extLst>
              <a:ext uri="{FF2B5EF4-FFF2-40B4-BE49-F238E27FC236}">
                <a16:creationId xmlns:a16="http://schemas.microsoft.com/office/drawing/2014/main" id="{776BA962-41EB-4ECE-F54A-922802AFB170}"/>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A95B5058-E63D-4413-8228-CF26EE08B0B7}"/>
              </a:ext>
            </a:extLst>
          </p:cNvPr>
          <p:cNvSpPr>
            <a:spLocks noGrp="1"/>
          </p:cNvSpPr>
          <p:nvPr>
            <p:ph type="sldNum" sz="quarter" idx="12"/>
          </p:nvPr>
        </p:nvSpPr>
        <p:spPr/>
        <p:txBody>
          <a:bodyPr/>
          <a:lstStyle/>
          <a:p>
            <a:fld id="{A9D5B481-CC43-4D95-B982-500CB2D3FC20}" type="slidenum">
              <a:rPr lang="en-US" smtClean="0"/>
              <a:pPr/>
              <a:t>8</a:t>
            </a:fld>
            <a:endParaRPr lang="en-US" dirty="0"/>
          </a:p>
        </p:txBody>
      </p:sp>
    </p:spTree>
    <p:extLst>
      <p:ext uri="{BB962C8B-B14F-4D97-AF65-F5344CB8AC3E}">
        <p14:creationId xmlns:p14="http://schemas.microsoft.com/office/powerpoint/2010/main" val="3117568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59EDC-9959-A135-29B1-1601FBC03A42}"/>
              </a:ext>
            </a:extLst>
          </p:cNvPr>
          <p:cNvSpPr>
            <a:spLocks noGrp="1"/>
          </p:cNvSpPr>
          <p:nvPr>
            <p:ph type="title"/>
          </p:nvPr>
        </p:nvSpPr>
        <p:spPr>
          <a:xfrm>
            <a:off x="692226" y="745968"/>
            <a:ext cx="11499773" cy="961496"/>
          </a:xfrm>
        </p:spPr>
        <p:txBody>
          <a:bodyPr>
            <a:normAutofit/>
          </a:bodyPr>
          <a:lstStyle/>
          <a:p>
            <a:r>
              <a:rPr lang="en-US" sz="4400" dirty="0"/>
              <a:t>Title II Admin Requirements</a:t>
            </a:r>
          </a:p>
        </p:txBody>
      </p:sp>
      <p:sp>
        <p:nvSpPr>
          <p:cNvPr id="3" name="Content Placeholder 2">
            <a:extLst>
              <a:ext uri="{FF2B5EF4-FFF2-40B4-BE49-F238E27FC236}">
                <a16:creationId xmlns:a16="http://schemas.microsoft.com/office/drawing/2014/main" id="{94200F6E-658C-B98E-B6C2-ABAF58B880F8}"/>
              </a:ext>
            </a:extLst>
          </p:cNvPr>
          <p:cNvSpPr>
            <a:spLocks noGrp="1"/>
          </p:cNvSpPr>
          <p:nvPr>
            <p:ph idx="1"/>
          </p:nvPr>
        </p:nvSpPr>
        <p:spPr>
          <a:xfrm>
            <a:off x="776310" y="1614428"/>
            <a:ext cx="9336664" cy="5103237"/>
          </a:xfrm>
        </p:spPr>
        <p:txBody>
          <a:bodyPr>
            <a:normAutofit fontScale="92500" lnSpcReduction="20000"/>
          </a:bodyPr>
          <a:lstStyle/>
          <a:p>
            <a:pPr marL="342900" indent="-342900">
              <a:lnSpc>
                <a:spcPct val="120000"/>
              </a:lnSpc>
              <a:spcBef>
                <a:spcPts val="0"/>
              </a:spcBef>
              <a:spcAft>
                <a:spcPts val="600"/>
              </a:spcAft>
              <a:buFont typeface="Arial" panose="020B0604020202020204" pitchFamily="34" charset="0"/>
              <a:buChar char="•"/>
            </a:pPr>
            <a:r>
              <a:rPr lang="en-US" sz="2400" b="0" dirty="0">
                <a:ea typeface="Calibri" panose="020F0502020204030204" pitchFamily="34" charset="0"/>
              </a:rPr>
              <a:t>Provide a </a:t>
            </a:r>
            <a:r>
              <a:rPr lang="en-US" sz="2400" dirty="0">
                <a:solidFill>
                  <a:srgbClr val="005580"/>
                </a:solidFill>
                <a:ea typeface="Calibri" panose="020F0502020204030204" pitchFamily="34" charset="0"/>
              </a:rPr>
              <a:t>public notice </a:t>
            </a:r>
            <a:r>
              <a:rPr lang="en-US" sz="2400" b="0" dirty="0">
                <a:ea typeface="Calibri" panose="020F0502020204030204" pitchFamily="34" charset="0"/>
              </a:rPr>
              <a:t>to everyone who does or would interact with the </a:t>
            </a:r>
            <a:r>
              <a:rPr lang="en-US" sz="2400" b="0" i="0" dirty="0">
                <a:solidFill>
                  <a:srgbClr val="2C2C2C"/>
                </a:solidFill>
                <a:effectLst/>
                <a:highlight>
                  <a:srgbClr val="FFFFFF"/>
                </a:highlight>
                <a:latin typeface="Arial" panose="020B0604020202020204" pitchFamily="34" charset="0"/>
              </a:rPr>
              <a:t>state/city/county/agency </a:t>
            </a:r>
            <a:r>
              <a:rPr lang="en-US" sz="2400" b="0" dirty="0">
                <a:ea typeface="Calibri" panose="020F0502020204030204" pitchFamily="34" charset="0"/>
              </a:rPr>
              <a:t>with information on the ADA related to its programs, services, activities</a:t>
            </a:r>
          </a:p>
          <a:p>
            <a:pPr marL="342900" indent="-342900">
              <a:lnSpc>
                <a:spcPct val="120000"/>
              </a:lnSpc>
              <a:spcBef>
                <a:spcPts val="0"/>
              </a:spcBef>
              <a:spcAft>
                <a:spcPts val="600"/>
              </a:spcAft>
              <a:buFont typeface="Arial" panose="020B0604020202020204" pitchFamily="34" charset="0"/>
              <a:buChar char="•"/>
            </a:pPr>
            <a:r>
              <a:rPr lang="en-US" sz="2400" dirty="0">
                <a:solidFill>
                  <a:srgbClr val="005580"/>
                </a:solidFill>
              </a:rPr>
              <a:t>Conduct a Self-Evaluation</a:t>
            </a:r>
            <a:r>
              <a:rPr lang="en-US" sz="2400" dirty="0"/>
              <a:t>: </a:t>
            </a:r>
            <a:r>
              <a:rPr lang="en-US" sz="2400" b="0" dirty="0"/>
              <a:t>A review of Title II services, programs, and activities that require modifications to comply with the ADA</a:t>
            </a:r>
          </a:p>
          <a:p>
            <a:pPr marL="1028700" lvl="1" indent="-342900">
              <a:lnSpc>
                <a:spcPct val="120000"/>
              </a:lnSpc>
              <a:spcBef>
                <a:spcPts val="0"/>
              </a:spcBef>
              <a:spcAft>
                <a:spcPts val="600"/>
              </a:spcAft>
              <a:buFont typeface="Arial" panose="020B0604020202020204" pitchFamily="34" charset="0"/>
              <a:buChar char="­"/>
            </a:pPr>
            <a:r>
              <a:rPr lang="en-US" sz="2200" b="0" dirty="0">
                <a:latin typeface="Arial" panose="020B0604020202020204" pitchFamily="34" charset="0"/>
                <a:cs typeface="Arial" panose="020B0604020202020204" pitchFamily="34" charset="0"/>
              </a:rPr>
              <a:t>ALL public entities should have completed a self-evaluation by January 26, 1993; if they didn’t, they must do so</a:t>
            </a:r>
          </a:p>
          <a:p>
            <a:pPr marL="342900" indent="-342900">
              <a:lnSpc>
                <a:spcPct val="120000"/>
              </a:lnSpc>
              <a:spcBef>
                <a:spcPts val="0"/>
              </a:spcBef>
              <a:spcAft>
                <a:spcPts val="600"/>
              </a:spcAft>
              <a:buFont typeface="Arial" panose="020B0604020202020204" pitchFamily="34" charset="0"/>
              <a:buChar char="•"/>
            </a:pPr>
            <a:r>
              <a:rPr lang="en-US" sz="2400" dirty="0"/>
              <a:t>Public entities with </a:t>
            </a:r>
            <a:r>
              <a:rPr lang="en-US" sz="2400" u="sng" dirty="0"/>
              <a:t>50</a:t>
            </a:r>
            <a:r>
              <a:rPr lang="en-US" sz="2400" dirty="0"/>
              <a:t> or more employees are also required to:</a:t>
            </a:r>
          </a:p>
          <a:p>
            <a:pPr marL="1143000" lvl="1" indent="-457200">
              <a:lnSpc>
                <a:spcPct val="120000"/>
              </a:lnSpc>
              <a:spcBef>
                <a:spcPts val="0"/>
              </a:spcBef>
              <a:spcAft>
                <a:spcPts val="600"/>
              </a:spcAft>
              <a:buFont typeface="Arial" panose="020B0604020202020204" pitchFamily="34" charset="0"/>
              <a:buChar char="­"/>
            </a:pPr>
            <a:r>
              <a:rPr lang="en-US" sz="2200" dirty="0"/>
              <a:t>Develop a </a:t>
            </a:r>
            <a:r>
              <a:rPr lang="en-US" sz="2200" b="1" dirty="0">
                <a:solidFill>
                  <a:srgbClr val="005580"/>
                </a:solidFill>
              </a:rPr>
              <a:t>transition plan </a:t>
            </a:r>
            <a:r>
              <a:rPr lang="en-US" sz="2200" dirty="0"/>
              <a:t>if structural changes are necessary to achieve program accessibility</a:t>
            </a:r>
          </a:p>
          <a:p>
            <a:pPr marL="1143000" lvl="1" indent="-457200">
              <a:lnSpc>
                <a:spcPct val="120000"/>
              </a:lnSpc>
              <a:spcBef>
                <a:spcPts val="0"/>
              </a:spcBef>
              <a:spcAft>
                <a:spcPts val="600"/>
              </a:spcAft>
              <a:buFont typeface="Arial" panose="020B0604020202020204" pitchFamily="34" charset="0"/>
              <a:buChar char="­"/>
            </a:pPr>
            <a:r>
              <a:rPr lang="en-US" sz="2200" b="0" dirty="0"/>
              <a:t>Designate at least one employee to oversee compliance (often known as the </a:t>
            </a:r>
            <a:r>
              <a:rPr lang="en-US" sz="2200" b="1" dirty="0">
                <a:solidFill>
                  <a:srgbClr val="005580"/>
                </a:solidFill>
              </a:rPr>
              <a:t>ADA Coordinator</a:t>
            </a:r>
            <a:r>
              <a:rPr lang="en-US" sz="2200" b="0" dirty="0"/>
              <a:t>)</a:t>
            </a:r>
          </a:p>
          <a:p>
            <a:pPr marL="1143000" lvl="1" indent="-457200">
              <a:lnSpc>
                <a:spcPct val="120000"/>
              </a:lnSpc>
              <a:spcBef>
                <a:spcPts val="0"/>
              </a:spcBef>
              <a:spcAft>
                <a:spcPts val="600"/>
              </a:spcAft>
              <a:buFont typeface="Arial" panose="020B0604020202020204" pitchFamily="34" charset="0"/>
              <a:buChar char="­"/>
            </a:pPr>
            <a:r>
              <a:rPr lang="en-US" sz="2200" b="0" dirty="0"/>
              <a:t>Establish a </a:t>
            </a:r>
            <a:r>
              <a:rPr lang="en-US" sz="2200" b="1" dirty="0">
                <a:solidFill>
                  <a:srgbClr val="005580"/>
                </a:solidFill>
              </a:rPr>
              <a:t>grievance procedure</a:t>
            </a:r>
          </a:p>
          <a:p>
            <a:pPr marL="342900" indent="-342900">
              <a:lnSpc>
                <a:spcPct val="100000"/>
              </a:lnSpc>
              <a:spcBef>
                <a:spcPts val="0"/>
              </a:spcBef>
              <a:spcAft>
                <a:spcPts val="1200"/>
              </a:spcAft>
              <a:buFont typeface="Arial" panose="020B0604020202020204" pitchFamily="34" charset="0"/>
              <a:buChar char="•"/>
            </a:pPr>
            <a:endParaRPr lang="en-US" sz="2400" b="0" dirty="0"/>
          </a:p>
          <a:p>
            <a:pPr marL="342900" indent="-342900">
              <a:lnSpc>
                <a:spcPct val="100000"/>
              </a:lnSpc>
              <a:spcBef>
                <a:spcPts val="0"/>
              </a:spcBef>
              <a:spcAft>
                <a:spcPts val="1200"/>
              </a:spcAft>
              <a:buFont typeface="Arial" panose="020B0604020202020204" pitchFamily="34" charset="0"/>
              <a:buChar char="•"/>
            </a:pPr>
            <a:endParaRPr lang="en-US" sz="2400" b="0" dirty="0">
              <a:ea typeface="Calibri" panose="020F0502020204030204" pitchFamily="34" charset="0"/>
            </a:endParaRPr>
          </a:p>
        </p:txBody>
      </p:sp>
      <p:sp>
        <p:nvSpPr>
          <p:cNvPr id="4" name="Slide Number Placeholder 3">
            <a:extLst>
              <a:ext uri="{FF2B5EF4-FFF2-40B4-BE49-F238E27FC236}">
                <a16:creationId xmlns:a16="http://schemas.microsoft.com/office/drawing/2014/main" id="{C4559476-6D3A-8921-C9AB-4199A362492A}"/>
              </a:ext>
            </a:extLst>
          </p:cNvPr>
          <p:cNvSpPr>
            <a:spLocks noGrp="1"/>
          </p:cNvSpPr>
          <p:nvPr>
            <p:ph type="sldNum" sz="quarter" idx="12"/>
          </p:nvPr>
        </p:nvSpPr>
        <p:spPr/>
        <p:txBody>
          <a:bodyPr/>
          <a:lstStyle/>
          <a:p>
            <a:fld id="{A9D5B481-CC43-4D95-B982-500CB2D3FC20}" type="slidenum">
              <a:rPr lang="en-US" smtClean="0"/>
              <a:pPr/>
              <a:t>9</a:t>
            </a:fld>
            <a:endParaRPr lang="en-US" dirty="0"/>
          </a:p>
        </p:txBody>
      </p:sp>
      <p:pic>
        <p:nvPicPr>
          <p:cNvPr id="7" name="Picture 6" descr="speech bubbles with i's for information">
            <a:extLst>
              <a:ext uri="{FF2B5EF4-FFF2-40B4-BE49-F238E27FC236}">
                <a16:creationId xmlns:a16="http://schemas.microsoft.com/office/drawing/2014/main" id="{291CCE8B-ADFF-3784-B40D-862291EDA24D}"/>
              </a:ext>
            </a:extLst>
          </p:cNvPr>
          <p:cNvPicPr>
            <a:picLocks noChangeAspect="1"/>
          </p:cNvPicPr>
          <p:nvPr/>
        </p:nvPicPr>
        <p:blipFill>
          <a:blip r:embed="rId3"/>
          <a:stretch>
            <a:fillRect/>
          </a:stretch>
        </p:blipFill>
        <p:spPr>
          <a:xfrm>
            <a:off x="10028891" y="1342019"/>
            <a:ext cx="2014442" cy="1121768"/>
          </a:xfrm>
          <a:prstGeom prst="rect">
            <a:avLst/>
          </a:prstGeom>
        </p:spPr>
      </p:pic>
      <p:pic>
        <p:nvPicPr>
          <p:cNvPr id="5" name="Picture 4" descr="checklist on a clipboard">
            <a:extLst>
              <a:ext uri="{FF2B5EF4-FFF2-40B4-BE49-F238E27FC236}">
                <a16:creationId xmlns:a16="http://schemas.microsoft.com/office/drawing/2014/main" id="{57A61C15-D955-2CD8-3654-7442668A1CA6}"/>
              </a:ext>
            </a:extLst>
          </p:cNvPr>
          <p:cNvPicPr>
            <a:picLocks noChangeAspect="1"/>
          </p:cNvPicPr>
          <p:nvPr/>
        </p:nvPicPr>
        <p:blipFill>
          <a:blip r:embed="rId4"/>
          <a:stretch>
            <a:fillRect/>
          </a:stretch>
        </p:blipFill>
        <p:spPr>
          <a:xfrm>
            <a:off x="10246105" y="2546840"/>
            <a:ext cx="1580013" cy="1831696"/>
          </a:xfrm>
          <a:prstGeom prst="rect">
            <a:avLst/>
          </a:prstGeom>
        </p:spPr>
      </p:pic>
      <p:pic>
        <p:nvPicPr>
          <p:cNvPr id="8" name="Picture 7" descr="outline of person next to a gear">
            <a:extLst>
              <a:ext uri="{FF2B5EF4-FFF2-40B4-BE49-F238E27FC236}">
                <a16:creationId xmlns:a16="http://schemas.microsoft.com/office/drawing/2014/main" id="{2B575BC8-E7C3-F44C-CD1F-C3D36BAFE951}"/>
              </a:ext>
            </a:extLst>
          </p:cNvPr>
          <p:cNvPicPr>
            <a:picLocks noChangeAspect="1"/>
          </p:cNvPicPr>
          <p:nvPr/>
        </p:nvPicPr>
        <p:blipFill>
          <a:blip r:embed="rId5"/>
          <a:stretch>
            <a:fillRect/>
          </a:stretch>
        </p:blipFill>
        <p:spPr>
          <a:xfrm>
            <a:off x="10289603" y="4498382"/>
            <a:ext cx="1580013" cy="1690096"/>
          </a:xfrm>
          <a:prstGeom prst="rect">
            <a:avLst/>
          </a:prstGeom>
        </p:spPr>
      </p:pic>
      <p:pic>
        <p:nvPicPr>
          <p:cNvPr id="6" name="Picture 5">
            <a:extLst>
              <a:ext uri="{FF2B5EF4-FFF2-40B4-BE49-F238E27FC236}">
                <a16:creationId xmlns:a16="http://schemas.microsoft.com/office/drawing/2014/main" id="{BF030760-D51A-5DC9-3184-108FCB6D01FF}"/>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0922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814D2-C9DB-8141-F269-6136C3952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F6438-545A-6912-2481-CDCB40D88757}"/>
              </a:ext>
            </a:extLst>
          </p:cNvPr>
          <p:cNvSpPr>
            <a:spLocks noGrp="1"/>
          </p:cNvSpPr>
          <p:nvPr>
            <p:ph type="title"/>
          </p:nvPr>
        </p:nvSpPr>
        <p:spPr>
          <a:xfrm>
            <a:off x="813819" y="732601"/>
            <a:ext cx="11430000" cy="961496"/>
          </a:xfrm>
        </p:spPr>
        <p:txBody>
          <a:bodyPr>
            <a:normAutofit/>
          </a:bodyPr>
          <a:lstStyle/>
          <a:p>
            <a:r>
              <a:rPr lang="en-US" sz="4400" dirty="0"/>
              <a:t>Title III of the ADA – Businesses</a:t>
            </a:r>
          </a:p>
        </p:txBody>
      </p:sp>
      <p:sp>
        <p:nvSpPr>
          <p:cNvPr id="3" name="Content Placeholder 2">
            <a:extLst>
              <a:ext uri="{FF2B5EF4-FFF2-40B4-BE49-F238E27FC236}">
                <a16:creationId xmlns:a16="http://schemas.microsoft.com/office/drawing/2014/main" id="{C23A6BA9-3C0E-7BD3-9AF1-6EF7D0AE0EA1}"/>
              </a:ext>
            </a:extLst>
          </p:cNvPr>
          <p:cNvSpPr>
            <a:spLocks noGrp="1"/>
          </p:cNvSpPr>
          <p:nvPr>
            <p:ph idx="1"/>
          </p:nvPr>
        </p:nvSpPr>
        <p:spPr>
          <a:xfrm>
            <a:off x="908125" y="1575894"/>
            <a:ext cx="10515601" cy="4353680"/>
          </a:xfrm>
        </p:spPr>
        <p:txBody>
          <a:bodyPr/>
          <a:lstStyle/>
          <a:p>
            <a:pPr>
              <a:spcBef>
                <a:spcPts val="0"/>
              </a:spcBef>
              <a:spcAft>
                <a:spcPts val="900"/>
              </a:spcAft>
              <a:buClr>
                <a:schemeClr val="tx1"/>
              </a:buClr>
              <a:buSzPct val="100000"/>
            </a:pPr>
            <a:r>
              <a:rPr lang="en-US" sz="2200" dirty="0">
                <a:ea typeface="Calibri" panose="020F0502020204030204" pitchFamily="34" charset="0"/>
                <a:cs typeface="Arial" panose="020B0604020202020204" pitchFamily="34" charset="0"/>
              </a:rPr>
              <a:t>Applies to all businesses, including nonprofits, that are open to the public where commerce is carried out (</a:t>
            </a:r>
            <a:r>
              <a:rPr lang="en-US" sz="2200" dirty="0">
                <a:effectLst/>
              </a:rPr>
              <a:t>goods or services are bought or sold)</a:t>
            </a:r>
            <a:r>
              <a:rPr lang="en-US" sz="2200" dirty="0">
                <a:ea typeface="Calibri" panose="020F0502020204030204" pitchFamily="34" charset="0"/>
                <a:cs typeface="Arial" panose="020B0604020202020204" pitchFamily="34" charset="0"/>
              </a:rPr>
              <a:t> </a:t>
            </a:r>
          </a:p>
        </p:txBody>
      </p:sp>
      <p:sp>
        <p:nvSpPr>
          <p:cNvPr id="5" name="TextBox 4">
            <a:extLst>
              <a:ext uri="{FF2B5EF4-FFF2-40B4-BE49-F238E27FC236}">
                <a16:creationId xmlns:a16="http://schemas.microsoft.com/office/drawing/2014/main" id="{58CAE8AA-9A32-B9A5-1099-7A3EF6EF42CF}"/>
              </a:ext>
            </a:extLst>
          </p:cNvPr>
          <p:cNvSpPr txBox="1"/>
          <p:nvPr/>
        </p:nvSpPr>
        <p:spPr bwMode="auto">
          <a:xfrm>
            <a:off x="908125" y="2291688"/>
            <a:ext cx="917641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2">
            <a:spAutoFit/>
          </a:bodyPr>
          <a:lstStyle/>
          <a:p>
            <a:pPr marL="347472" lvl="1" indent="-347472">
              <a:spcBef>
                <a:spcPts val="0"/>
              </a:spcBef>
              <a:spcAft>
                <a:spcPts val="0"/>
              </a:spcAft>
              <a:buFont typeface="Arial" panose="020B0604020202020204" pitchFamily="34" charset="0"/>
              <a:buChar char="•"/>
            </a:pPr>
            <a:r>
              <a:rPr lang="en-US" sz="2100" dirty="0">
                <a:latin typeface="Arial" panose="020B0604020202020204" pitchFamily="34" charset="0"/>
                <a:cs typeface="Arial" panose="020B0604020202020204" pitchFamily="34" charset="0"/>
              </a:rPr>
              <a:t>Restaurants</a:t>
            </a:r>
          </a:p>
          <a:p>
            <a:pPr marL="347472" lvl="1" indent="-347472">
              <a:spcBef>
                <a:spcPts val="0"/>
              </a:spcBef>
              <a:spcAft>
                <a:spcPts val="0"/>
              </a:spcAft>
              <a:buFont typeface="Arial" panose="020B0604020202020204" pitchFamily="34" charset="0"/>
              <a:buChar char="•"/>
            </a:pPr>
            <a:r>
              <a:rPr lang="en-US" altLang="en-US" sz="2100" dirty="0">
                <a:latin typeface="Arial" panose="020B0604020202020204" pitchFamily="34" charset="0"/>
                <a:cs typeface="Arial" panose="020B0604020202020204" pitchFamily="34" charset="0"/>
              </a:rPr>
              <a:t>Hotels/motels</a:t>
            </a:r>
          </a:p>
          <a:p>
            <a:pPr marL="347472" lvl="1" indent="-347472">
              <a:spcBef>
                <a:spcPts val="0"/>
              </a:spcBef>
              <a:spcAft>
                <a:spcPts val="0"/>
              </a:spcAft>
              <a:buFont typeface="Arial" panose="020B0604020202020204" pitchFamily="34" charset="0"/>
              <a:buChar char="•"/>
            </a:pPr>
            <a:r>
              <a:rPr lang="en-US" altLang="en-US" sz="2100" dirty="0">
                <a:latin typeface="Arial" panose="020B0604020202020204" pitchFamily="34" charset="0"/>
                <a:cs typeface="Arial" panose="020B0604020202020204" pitchFamily="34" charset="0"/>
              </a:rPr>
              <a:t>Shops/stores</a:t>
            </a:r>
          </a:p>
          <a:p>
            <a:pPr marL="347472" lvl="1" indent="-347472">
              <a:spcBef>
                <a:spcPts val="0"/>
              </a:spcBef>
              <a:spcAft>
                <a:spcPts val="0"/>
              </a:spcAft>
              <a:buFont typeface="Arial" panose="020B0604020202020204" pitchFamily="34" charset="0"/>
              <a:buChar char="•"/>
            </a:pPr>
            <a:r>
              <a:rPr lang="en-US" altLang="en-US" sz="2100" dirty="0">
                <a:latin typeface="Arial" panose="020B0604020202020204" pitchFamily="34" charset="0"/>
                <a:cs typeface="Arial" panose="020B0604020202020204" pitchFamily="34" charset="0"/>
              </a:rPr>
              <a:t>Private schools</a:t>
            </a:r>
          </a:p>
          <a:p>
            <a:pPr marL="347472" lvl="1" indent="-347472">
              <a:spcBef>
                <a:spcPts val="0"/>
              </a:spcBef>
              <a:spcAft>
                <a:spcPts val="0"/>
              </a:spcAft>
              <a:buFont typeface="Arial" panose="020B0604020202020204" pitchFamily="34" charset="0"/>
              <a:buChar char="•"/>
            </a:pPr>
            <a:endParaRPr lang="en-US" sz="2100" dirty="0">
              <a:latin typeface="Arial" panose="020B0604020202020204" pitchFamily="34" charset="0"/>
              <a:cs typeface="Arial" panose="020B0604020202020204" pitchFamily="34" charset="0"/>
            </a:endParaRPr>
          </a:p>
          <a:p>
            <a:pPr marL="347472" lvl="1" indent="-347472">
              <a:spcBef>
                <a:spcPts val="0"/>
              </a:spcBef>
              <a:spcAft>
                <a:spcPts val="0"/>
              </a:spcAft>
              <a:buFont typeface="Arial" panose="020B0604020202020204" pitchFamily="34" charset="0"/>
              <a:buChar char="•"/>
            </a:pPr>
            <a:endParaRPr lang="en-US" sz="2100" dirty="0">
              <a:latin typeface="Arial" panose="020B0604020202020204" pitchFamily="34" charset="0"/>
              <a:cs typeface="Arial" panose="020B0604020202020204" pitchFamily="34" charset="0"/>
            </a:endParaRPr>
          </a:p>
          <a:p>
            <a:pPr marL="347472" lvl="1" indent="-347472">
              <a:spcBef>
                <a:spcPts val="0"/>
              </a:spcBef>
              <a:spcAft>
                <a:spcPts val="0"/>
              </a:spcAft>
              <a:buFont typeface="Arial" panose="020B0604020202020204" pitchFamily="34" charset="0"/>
              <a:buChar char="•"/>
            </a:pPr>
            <a:endParaRPr lang="en-US" sz="2100" dirty="0">
              <a:latin typeface="Arial" panose="020B0604020202020204" pitchFamily="34" charset="0"/>
              <a:cs typeface="Arial" panose="020B0604020202020204" pitchFamily="34" charset="0"/>
            </a:endParaRPr>
          </a:p>
          <a:p>
            <a:pPr marL="347472" lvl="1" indent="-347472">
              <a:spcBef>
                <a:spcPts val="0"/>
              </a:spcBef>
              <a:spcAft>
                <a:spcPts val="0"/>
              </a:spcAft>
              <a:buFont typeface="Arial" panose="020B0604020202020204" pitchFamily="34" charset="0"/>
              <a:buChar char="•"/>
            </a:pPr>
            <a:endParaRPr lang="en-US" sz="2100" dirty="0">
              <a:latin typeface="Arial" panose="020B0604020202020204" pitchFamily="34" charset="0"/>
              <a:cs typeface="Arial" panose="020B0604020202020204" pitchFamily="34" charset="0"/>
            </a:endParaRPr>
          </a:p>
          <a:p>
            <a:pPr marL="347472" lvl="1" indent="-342900">
              <a:spcBef>
                <a:spcPts val="0"/>
              </a:spcBef>
              <a:spcAft>
                <a:spcPts val="0"/>
              </a:spcAft>
              <a:buFont typeface="Arial" panose="020B0604020202020204" pitchFamily="34" charset="0"/>
              <a:buChar char="•"/>
            </a:pPr>
            <a:r>
              <a:rPr lang="en-US" sz="2100" dirty="0">
                <a:latin typeface="Arial" panose="020B0604020202020204" pitchFamily="34" charset="0"/>
                <a:cs typeface="Arial" panose="020B0604020202020204" pitchFamily="34" charset="0"/>
              </a:rPr>
              <a:t>Doctor’s offices &amp; private hospitals</a:t>
            </a:r>
          </a:p>
          <a:p>
            <a:pPr marL="347472" lvl="1" indent="-342900">
              <a:spcBef>
                <a:spcPts val="0"/>
              </a:spcBef>
              <a:spcAft>
                <a:spcPts val="0"/>
              </a:spcAft>
              <a:buFont typeface="Arial" panose="020B0604020202020204" pitchFamily="34" charset="0"/>
              <a:buChar char="•"/>
            </a:pPr>
            <a:r>
              <a:rPr lang="en-US" sz="2100" dirty="0">
                <a:latin typeface="Arial" panose="020B0604020202020204" pitchFamily="34" charset="0"/>
                <a:cs typeface="Arial" panose="020B0604020202020204" pitchFamily="34" charset="0"/>
              </a:rPr>
              <a:t>Day care centers</a:t>
            </a:r>
          </a:p>
          <a:p>
            <a:pPr marL="347472" lvl="1" indent="-342900">
              <a:spcBef>
                <a:spcPts val="0"/>
              </a:spcBef>
              <a:spcAft>
                <a:spcPts val="0"/>
              </a:spcAft>
              <a:buFont typeface="Arial" panose="020B0604020202020204" pitchFamily="34" charset="0"/>
              <a:buChar char="•"/>
            </a:pPr>
            <a:r>
              <a:rPr lang="en-US" sz="2100" dirty="0">
                <a:latin typeface="Arial" panose="020B0604020202020204" pitchFamily="34" charset="0"/>
                <a:cs typeface="Arial" panose="020B0604020202020204" pitchFamily="34" charset="0"/>
              </a:rPr>
              <a:t>Privately operated transit</a:t>
            </a:r>
          </a:p>
          <a:p>
            <a:pPr marL="347472" lvl="1" indent="-342900">
              <a:spcBef>
                <a:spcPts val="0"/>
              </a:spcBef>
              <a:spcAft>
                <a:spcPts val="0"/>
              </a:spcAft>
              <a:buFont typeface="Arial" panose="020B0604020202020204" pitchFamily="34" charset="0"/>
              <a:buChar char="•"/>
            </a:pPr>
            <a:r>
              <a:rPr lang="en-US" sz="2100" dirty="0">
                <a:latin typeface="Arial" panose="020B0604020202020204" pitchFamily="34" charset="0"/>
                <a:cs typeface="Arial" panose="020B0604020202020204" pitchFamily="34" charset="0"/>
              </a:rPr>
              <a:t>Non-profits that serve the public</a:t>
            </a:r>
          </a:p>
        </p:txBody>
      </p:sp>
      <p:pic>
        <p:nvPicPr>
          <p:cNvPr id="7" name="Picture 6" descr="store with open sign">
            <a:extLst>
              <a:ext uri="{FF2B5EF4-FFF2-40B4-BE49-F238E27FC236}">
                <a16:creationId xmlns:a16="http://schemas.microsoft.com/office/drawing/2014/main" id="{169F37A5-32CC-6661-AA53-6187BA484967}"/>
              </a:ext>
            </a:extLst>
          </p:cNvPr>
          <p:cNvPicPr>
            <a:picLocks noChangeAspect="1"/>
          </p:cNvPicPr>
          <p:nvPr/>
        </p:nvPicPr>
        <p:blipFill>
          <a:blip r:embed="rId3"/>
          <a:stretch>
            <a:fillRect/>
          </a:stretch>
        </p:blipFill>
        <p:spPr>
          <a:xfrm>
            <a:off x="10179027" y="2262978"/>
            <a:ext cx="1604930" cy="1623520"/>
          </a:xfrm>
          <a:prstGeom prst="rect">
            <a:avLst/>
          </a:prstGeom>
        </p:spPr>
      </p:pic>
      <p:sp>
        <p:nvSpPr>
          <p:cNvPr id="6" name="TextBox 5">
            <a:extLst>
              <a:ext uri="{FF2B5EF4-FFF2-40B4-BE49-F238E27FC236}">
                <a16:creationId xmlns:a16="http://schemas.microsoft.com/office/drawing/2014/main" id="{197CD4D3-1128-F5F4-A0E5-C52449B094D3}"/>
              </a:ext>
            </a:extLst>
          </p:cNvPr>
          <p:cNvSpPr txBox="1"/>
          <p:nvPr/>
        </p:nvSpPr>
        <p:spPr bwMode="auto">
          <a:xfrm>
            <a:off x="909373" y="3779748"/>
            <a:ext cx="10173665"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Aft>
                <a:spcPts val="600"/>
              </a:spcAft>
            </a:pPr>
            <a:r>
              <a:rPr lang="en-US" sz="2200" b="1" dirty="0">
                <a:latin typeface="Arial" panose="020B0604020202020204" pitchFamily="34" charset="0"/>
                <a:cs typeface="Arial" panose="020B0604020202020204" pitchFamily="34" charset="0"/>
              </a:rPr>
              <a:t>Provides protections to qualified individuals with disabilities</a:t>
            </a:r>
          </a:p>
          <a:p>
            <a:pPr marL="347472" indent="-347472">
              <a:spcAft>
                <a:spcPts val="600"/>
              </a:spcAft>
              <a:buFont typeface="Arial" panose="020B0604020202020204" pitchFamily="34" charset="0"/>
              <a:buChar char="•"/>
            </a:pPr>
            <a:r>
              <a:rPr lang="en-US" sz="2100" b="0" dirty="0">
                <a:latin typeface="Arial" panose="020B0604020202020204" pitchFamily="34" charset="0"/>
                <a:cs typeface="Arial" panose="020B0604020202020204" pitchFamily="34" charset="0"/>
              </a:rPr>
              <a:t>Prohibits discrimination and harassment</a:t>
            </a:r>
          </a:p>
          <a:p>
            <a:pPr marL="347472" indent="-347472">
              <a:spcAft>
                <a:spcPts val="600"/>
              </a:spcAft>
              <a:buFont typeface="Arial" panose="020B0604020202020204" pitchFamily="34" charset="0"/>
              <a:buChar char="•"/>
            </a:pPr>
            <a:r>
              <a:rPr lang="en-US" sz="2100" b="0" dirty="0">
                <a:latin typeface="Arial" panose="020B0604020202020204" pitchFamily="34" charset="0"/>
                <a:cs typeface="Arial" panose="020B0604020202020204" pitchFamily="34" charset="0"/>
              </a:rPr>
              <a:t>Requires effective communication </a:t>
            </a:r>
          </a:p>
          <a:p>
            <a:pPr marL="347472" indent="-347472">
              <a:spcAft>
                <a:spcPts val="600"/>
              </a:spcAft>
              <a:buFont typeface="Arial" panose="020B0604020202020204" pitchFamily="34" charset="0"/>
              <a:buChar char="•"/>
            </a:pPr>
            <a:r>
              <a:rPr lang="en-US" sz="2100" b="0" dirty="0">
                <a:latin typeface="Arial" panose="020B0604020202020204" pitchFamily="34" charset="0"/>
                <a:cs typeface="Arial" panose="020B0604020202020204" pitchFamily="34" charset="0"/>
              </a:rPr>
              <a:t>Requires reasonable modifications</a:t>
            </a:r>
          </a:p>
          <a:p>
            <a:pPr marL="347472" indent="-347472">
              <a:spcAft>
                <a:spcPts val="600"/>
              </a:spcAft>
              <a:buFont typeface="Arial" panose="020B0604020202020204" pitchFamily="34" charset="0"/>
              <a:buChar char="•"/>
            </a:pPr>
            <a:r>
              <a:rPr lang="en-US" sz="2100" b="0" dirty="0">
                <a:latin typeface="Arial" panose="020B0604020202020204" pitchFamily="34" charset="0"/>
                <a:cs typeface="Arial" panose="020B0604020202020204" pitchFamily="34" charset="0"/>
              </a:rPr>
              <a:t>Requires removal of architectural barriers</a:t>
            </a:r>
            <a:endParaRPr lang="en-US" sz="2100" dirty="0">
              <a:latin typeface="Arial" panose="020B0604020202020204" pitchFamily="34" charset="0"/>
              <a:cs typeface="Arial" panose="020B0604020202020204" pitchFamily="34" charset="0"/>
            </a:endParaRPr>
          </a:p>
          <a:p>
            <a:pPr>
              <a:spcAft>
                <a:spcPts val="600"/>
              </a:spcAft>
              <a:buClr>
                <a:schemeClr val="tx1"/>
              </a:buClr>
              <a:buSzPct val="100000"/>
            </a:pPr>
            <a:r>
              <a:rPr lang="en-US" sz="2300" b="1" dirty="0">
                <a:solidFill>
                  <a:prstClr val="black"/>
                </a:solidFill>
                <a:highlight>
                  <a:srgbClr val="FFFFFF"/>
                </a:highlight>
                <a:latin typeface="Arial" panose="020B0604020202020204" pitchFamily="34" charset="0"/>
                <a:cs typeface="Arial" panose="020B0604020202020204" pitchFamily="34" charset="0"/>
              </a:rPr>
              <a:t>Enforced by the U.S. Department of Justice (DOJ)</a:t>
            </a:r>
          </a:p>
        </p:txBody>
      </p:sp>
      <p:pic>
        <p:nvPicPr>
          <p:cNvPr id="8" name="Picture 6" descr="US Department Of Justice Logo">
            <a:extLst>
              <a:ext uri="{FF2B5EF4-FFF2-40B4-BE49-F238E27FC236}">
                <a16:creationId xmlns:a16="http://schemas.microsoft.com/office/drawing/2014/main" id="{21510071-5397-6515-3911-4328E0CCAD7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78857" y="4520469"/>
            <a:ext cx="1604930" cy="160493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D4E835E0-4205-E7D4-C2E9-34DBCABB0F3D}"/>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A2A42128-5E64-DFEA-6C7B-64C67CD2C3AD}"/>
              </a:ext>
            </a:extLst>
          </p:cNvPr>
          <p:cNvSpPr>
            <a:spLocks noGrp="1"/>
          </p:cNvSpPr>
          <p:nvPr>
            <p:ph type="sldNum" sz="quarter" idx="12"/>
          </p:nvPr>
        </p:nvSpPr>
        <p:spPr/>
        <p:txBody>
          <a:bodyPr/>
          <a:lstStyle/>
          <a:p>
            <a:fld id="{A9D5B481-CC43-4D95-B982-500CB2D3FC20}" type="slidenum">
              <a:rPr lang="en-US" smtClean="0"/>
              <a:pPr/>
              <a:t>10</a:t>
            </a:fld>
            <a:endParaRPr lang="en-US" dirty="0"/>
          </a:p>
        </p:txBody>
      </p:sp>
    </p:spTree>
    <p:extLst>
      <p:ext uri="{BB962C8B-B14F-4D97-AF65-F5344CB8AC3E}">
        <p14:creationId xmlns:p14="http://schemas.microsoft.com/office/powerpoint/2010/main" val="243237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E0AF9-DCB7-CE5D-B76F-7073CF8351C7}"/>
              </a:ext>
            </a:extLst>
          </p:cNvPr>
          <p:cNvSpPr>
            <a:spLocks noGrp="1"/>
          </p:cNvSpPr>
          <p:nvPr>
            <p:ph type="title"/>
          </p:nvPr>
        </p:nvSpPr>
        <p:spPr>
          <a:xfrm>
            <a:off x="838200" y="735999"/>
            <a:ext cx="10515600" cy="961496"/>
          </a:xfrm>
        </p:spPr>
        <p:txBody>
          <a:bodyPr>
            <a:normAutofit/>
          </a:bodyPr>
          <a:lstStyle/>
          <a:p>
            <a:r>
              <a:rPr lang="en-US" sz="4400" dirty="0"/>
              <a:t>Remove Architectural Barriers</a:t>
            </a:r>
          </a:p>
        </p:txBody>
      </p:sp>
      <p:sp>
        <p:nvSpPr>
          <p:cNvPr id="3" name="Content Placeholder 2">
            <a:extLst>
              <a:ext uri="{FF2B5EF4-FFF2-40B4-BE49-F238E27FC236}">
                <a16:creationId xmlns:a16="http://schemas.microsoft.com/office/drawing/2014/main" id="{086B9F23-346B-D0B8-F326-5A1BE64A3D3E}"/>
              </a:ext>
            </a:extLst>
          </p:cNvPr>
          <p:cNvSpPr>
            <a:spLocks noGrp="1"/>
          </p:cNvSpPr>
          <p:nvPr>
            <p:ph idx="1"/>
          </p:nvPr>
        </p:nvSpPr>
        <p:spPr>
          <a:xfrm>
            <a:off x="739683" y="1596891"/>
            <a:ext cx="10712633" cy="1336765"/>
          </a:xfrm>
        </p:spPr>
        <p:txBody>
          <a:bodyPr>
            <a:normAutofit lnSpcReduction="10000"/>
          </a:bodyPr>
          <a:lstStyle/>
          <a:p>
            <a:pPr marL="457200" indent="-457200">
              <a:lnSpc>
                <a:spcPct val="100000"/>
              </a:lnSpc>
              <a:spcBef>
                <a:spcPts val="0"/>
              </a:spcBef>
              <a:spcAft>
                <a:spcPts val="600"/>
              </a:spcAft>
              <a:buFont typeface="Arial" panose="020B0604020202020204" pitchFamily="34" charset="0"/>
              <a:buChar char="•"/>
            </a:pPr>
            <a:r>
              <a:rPr lang="en-US" sz="2400" b="0" dirty="0"/>
              <a:t>Businesses must </a:t>
            </a:r>
            <a:r>
              <a:rPr lang="en-US" sz="2400" dirty="0">
                <a:solidFill>
                  <a:srgbClr val="005580"/>
                </a:solidFill>
              </a:rPr>
              <a:t>remove architectural barriers </a:t>
            </a:r>
            <a:r>
              <a:rPr lang="en-US" sz="2400" b="0" dirty="0"/>
              <a:t>in existing facilities when it is “readily achievable”</a:t>
            </a:r>
            <a:r>
              <a:rPr lang="en-US" sz="2400" dirty="0"/>
              <a:t> </a:t>
            </a:r>
            <a:r>
              <a:rPr lang="en-US" sz="2400" b="0" i="0" dirty="0">
                <a:effectLst/>
              </a:rPr>
              <a:t>(easy to do without much difficulty or expense)</a:t>
            </a:r>
          </a:p>
          <a:p>
            <a:pPr lvl="1">
              <a:spcBef>
                <a:spcPts val="0"/>
              </a:spcBef>
              <a:spcAft>
                <a:spcPts val="600"/>
              </a:spcAft>
              <a:buFont typeface="Arial" panose="020B0604020202020204" pitchFamily="34" charset="0"/>
              <a:buChar char="‒"/>
            </a:pPr>
            <a:r>
              <a:rPr lang="en-US" sz="2400" dirty="0"/>
              <a:t>B</a:t>
            </a:r>
            <a:r>
              <a:rPr lang="en-US" sz="2400" b="0" i="0" dirty="0">
                <a:effectLst/>
              </a:rPr>
              <a:t>ased on the business’s size &amp; resources</a:t>
            </a:r>
          </a:p>
          <a:p>
            <a:pPr marL="502920" lvl="1" indent="0">
              <a:spcBef>
                <a:spcPts val="0"/>
              </a:spcBef>
              <a:spcAft>
                <a:spcPts val="300"/>
              </a:spcAft>
              <a:buNone/>
            </a:pPr>
            <a:endParaRPr lang="en-US" dirty="0"/>
          </a:p>
        </p:txBody>
      </p:sp>
      <p:sp>
        <p:nvSpPr>
          <p:cNvPr id="5" name="TextBox 4">
            <a:extLst>
              <a:ext uri="{FF2B5EF4-FFF2-40B4-BE49-F238E27FC236}">
                <a16:creationId xmlns:a16="http://schemas.microsoft.com/office/drawing/2014/main" id="{704E47AA-9BD1-FBEC-5E53-482C2ED03AA3}"/>
              </a:ext>
            </a:extLst>
          </p:cNvPr>
          <p:cNvSpPr txBox="1"/>
          <p:nvPr/>
        </p:nvSpPr>
        <p:spPr bwMode="auto">
          <a:xfrm>
            <a:off x="729523" y="2885383"/>
            <a:ext cx="472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Aft>
                <a:spcPts val="600"/>
              </a:spcAft>
              <a:buFont typeface="Arial" panose="020B0604020202020204" pitchFamily="34" charset="0"/>
              <a:buChar char="•"/>
            </a:pPr>
            <a:r>
              <a:rPr lang="en-US" sz="2400" dirty="0">
                <a:latin typeface="Arial" panose="020B0604020202020204" pitchFamily="34" charset="0"/>
                <a:cs typeface="Arial" panose="020B0604020202020204" pitchFamily="34" charset="0"/>
              </a:rPr>
              <a:t>Examples include:</a:t>
            </a:r>
          </a:p>
        </p:txBody>
      </p:sp>
      <p:sp>
        <p:nvSpPr>
          <p:cNvPr id="9" name="TextBox 8">
            <a:extLst>
              <a:ext uri="{FF2B5EF4-FFF2-40B4-BE49-F238E27FC236}">
                <a16:creationId xmlns:a16="http://schemas.microsoft.com/office/drawing/2014/main" id="{8C9CB983-62BA-B198-8252-94061E7DA973}"/>
              </a:ext>
            </a:extLst>
          </p:cNvPr>
          <p:cNvSpPr txBox="1"/>
          <p:nvPr/>
        </p:nvSpPr>
        <p:spPr bwMode="auto">
          <a:xfrm>
            <a:off x="729523" y="3364174"/>
            <a:ext cx="8845401" cy="381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2">
            <a:spAutoFit/>
          </a:bodyPr>
          <a:lstStyle/>
          <a:p>
            <a:pPr marL="800100" lvl="1" indent="-342900">
              <a:buFont typeface="Calibri" panose="020F0502020204030204" pitchFamily="34" charset="0"/>
              <a:buChar char="­"/>
            </a:pPr>
            <a:r>
              <a:rPr lang="en-US" sz="2200" b="0" i="0" dirty="0">
                <a:effectLst/>
                <a:latin typeface="Arial" panose="020B0604020202020204" pitchFamily="34" charset="0"/>
                <a:cs typeface="Arial" panose="020B0604020202020204" pitchFamily="34" charset="0"/>
              </a:rPr>
              <a:t>Providing an accessible route from a parking lot to the business’s entrance</a:t>
            </a:r>
          </a:p>
          <a:p>
            <a:pPr marL="800100" lvl="1" indent="-342900">
              <a:buFont typeface="Calibri" panose="020F0502020204030204" pitchFamily="34" charset="0"/>
              <a:buChar char="­"/>
            </a:pPr>
            <a:r>
              <a:rPr lang="en-US" sz="2200" dirty="0">
                <a:latin typeface="Arial" panose="020B0604020202020204" pitchFamily="34" charset="0"/>
                <a:cs typeface="Arial" panose="020B0604020202020204" pitchFamily="34" charset="0"/>
              </a:rPr>
              <a:t>I</a:t>
            </a:r>
            <a:r>
              <a:rPr lang="en-US" sz="2200" b="0" i="0" dirty="0">
                <a:effectLst/>
                <a:latin typeface="Arial" panose="020B0604020202020204" pitchFamily="34" charset="0"/>
                <a:cs typeface="Arial" panose="020B0604020202020204" pitchFamily="34" charset="0"/>
              </a:rPr>
              <a:t>nstalling an entrance ramp</a:t>
            </a:r>
          </a:p>
          <a:p>
            <a:pPr marL="800100" lvl="1" indent="-342900">
              <a:buFont typeface="Calibri" panose="020F0502020204030204" pitchFamily="34" charset="0"/>
              <a:buChar char="­"/>
            </a:pPr>
            <a:r>
              <a:rPr lang="en-US" sz="2200" dirty="0">
                <a:latin typeface="Arial" panose="020B0604020202020204" pitchFamily="34" charset="0"/>
                <a:cs typeface="Arial" panose="020B0604020202020204" pitchFamily="34" charset="0"/>
              </a:rPr>
              <a:t>W</a:t>
            </a:r>
            <a:r>
              <a:rPr lang="en-US" sz="2200" b="0" i="0" dirty="0">
                <a:effectLst/>
                <a:latin typeface="Arial" panose="020B0604020202020204" pitchFamily="34" charset="0"/>
                <a:cs typeface="Arial" panose="020B0604020202020204" pitchFamily="34" charset="0"/>
              </a:rPr>
              <a:t>idening a doorway</a:t>
            </a:r>
          </a:p>
          <a:p>
            <a:pPr lvl="1"/>
            <a:endParaRPr lang="en-US" sz="2200" dirty="0">
              <a:latin typeface="Arial" panose="020B0604020202020204" pitchFamily="34" charset="0"/>
              <a:cs typeface="Arial" panose="020B0604020202020204" pitchFamily="34" charset="0"/>
            </a:endParaRPr>
          </a:p>
          <a:p>
            <a:pPr marL="800100" lvl="1" indent="-342900">
              <a:buFont typeface="Calibri" panose="020F0502020204030204" pitchFamily="34" charset="0"/>
              <a:buChar char="­"/>
            </a:pPr>
            <a:endParaRPr lang="en-US" sz="2200" b="0" i="0" dirty="0">
              <a:effectLst/>
              <a:latin typeface="Arial" panose="020B0604020202020204" pitchFamily="34" charset="0"/>
              <a:cs typeface="Arial" panose="020B0604020202020204" pitchFamily="34" charset="0"/>
            </a:endParaRPr>
          </a:p>
          <a:p>
            <a:pPr marL="800100" lvl="1" indent="-342900">
              <a:buFont typeface="Calibri" panose="020F0502020204030204" pitchFamily="34" charset="0"/>
              <a:buChar char="­"/>
            </a:pPr>
            <a:endParaRPr lang="en-US" sz="2200" dirty="0">
              <a:latin typeface="Arial" panose="020B0604020202020204" pitchFamily="34" charset="0"/>
              <a:cs typeface="Arial" panose="020B0604020202020204" pitchFamily="34" charset="0"/>
            </a:endParaRPr>
          </a:p>
          <a:p>
            <a:pPr marL="800100" lvl="1" indent="-342900">
              <a:buFont typeface="Calibri" panose="020F0502020204030204" pitchFamily="34" charset="0"/>
              <a:buChar char="­"/>
            </a:pPr>
            <a:endParaRPr lang="en-US" sz="2200" b="0" i="0" dirty="0">
              <a:effectLst/>
              <a:latin typeface="Arial" panose="020B0604020202020204" pitchFamily="34" charset="0"/>
              <a:cs typeface="Arial" panose="020B0604020202020204" pitchFamily="34" charset="0"/>
            </a:endParaRPr>
          </a:p>
          <a:p>
            <a:pPr lvl="1"/>
            <a:endParaRPr lang="en-US" sz="2200" b="0" i="0" dirty="0">
              <a:effectLst/>
              <a:latin typeface="Arial" panose="020B0604020202020204" pitchFamily="34" charset="0"/>
              <a:cs typeface="Arial" panose="020B0604020202020204" pitchFamily="34" charset="0"/>
            </a:endParaRPr>
          </a:p>
          <a:p>
            <a:pPr lvl="1"/>
            <a:endParaRPr lang="en-US" sz="2200" b="0" i="0" dirty="0">
              <a:effectLst/>
              <a:latin typeface="Arial" panose="020B0604020202020204" pitchFamily="34" charset="0"/>
              <a:cs typeface="Arial" panose="020B0604020202020204" pitchFamily="34" charset="0"/>
            </a:endParaRPr>
          </a:p>
          <a:p>
            <a:pPr marL="800100" lvl="1" indent="-342900">
              <a:buFont typeface="Calibri" panose="020F0502020204030204" pitchFamily="34" charset="0"/>
              <a:buChar char="­"/>
            </a:pPr>
            <a:r>
              <a:rPr lang="en-US" sz="2200" dirty="0">
                <a:latin typeface="Arial" panose="020B0604020202020204" pitchFamily="34" charset="0"/>
                <a:cs typeface="Arial" panose="020B0604020202020204" pitchFamily="34" charset="0"/>
              </a:rPr>
              <a:t>I</a:t>
            </a:r>
            <a:r>
              <a:rPr lang="en-US" sz="2200" b="0" i="0" dirty="0">
                <a:effectLst/>
                <a:latin typeface="Arial" panose="020B0604020202020204" pitchFamily="34" charset="0"/>
                <a:cs typeface="Arial" panose="020B0604020202020204" pitchFamily="34" charset="0"/>
              </a:rPr>
              <a:t>nstalling accessible door hardware</a:t>
            </a:r>
          </a:p>
          <a:p>
            <a:pPr marL="800100" lvl="1" indent="-342900">
              <a:buFont typeface="Calibri" panose="020F0502020204030204" pitchFamily="34" charset="0"/>
              <a:buChar char="­"/>
            </a:pPr>
            <a:r>
              <a:rPr lang="en-US" sz="2200" dirty="0">
                <a:latin typeface="Arial" panose="020B0604020202020204" pitchFamily="34" charset="0"/>
                <a:cs typeface="Arial" panose="020B0604020202020204" pitchFamily="34" charset="0"/>
              </a:rPr>
              <a:t>R</a:t>
            </a:r>
            <a:r>
              <a:rPr lang="en-US" sz="2200" b="0" i="0" dirty="0">
                <a:effectLst/>
                <a:latin typeface="Arial" panose="020B0604020202020204" pitchFamily="34" charset="0"/>
                <a:cs typeface="Arial" panose="020B0604020202020204" pitchFamily="34" charset="0"/>
              </a:rPr>
              <a:t>epositioning shelves, or moving tables, chairs, display racks, vending machines, or other furniture</a:t>
            </a:r>
            <a:endParaRPr lang="en-US" sz="2200" dirty="0">
              <a:latin typeface="Arial" panose="020B0604020202020204" pitchFamily="34" charset="0"/>
              <a:cs typeface="Arial" panose="020B0604020202020204" pitchFamily="34" charset="0"/>
            </a:endParaRPr>
          </a:p>
        </p:txBody>
      </p:sp>
      <p:pic>
        <p:nvPicPr>
          <p:cNvPr id="8" name="Picture 7" descr="Examples of removing barriers.">
            <a:extLst>
              <a:ext uri="{FF2B5EF4-FFF2-40B4-BE49-F238E27FC236}">
                <a16:creationId xmlns:a16="http://schemas.microsoft.com/office/drawing/2014/main" id="{EE51154A-5A45-30C7-F651-62BCDC491CE3}"/>
              </a:ext>
            </a:extLst>
          </p:cNvPr>
          <p:cNvPicPr>
            <a:picLocks noChangeAspect="1"/>
          </p:cNvPicPr>
          <p:nvPr/>
        </p:nvPicPr>
        <p:blipFill>
          <a:blip r:embed="rId3"/>
          <a:stretch>
            <a:fillRect/>
          </a:stretch>
        </p:blipFill>
        <p:spPr>
          <a:xfrm>
            <a:off x="9454955" y="3116215"/>
            <a:ext cx="2737045" cy="2254526"/>
          </a:xfrm>
          <a:prstGeom prst="rect">
            <a:avLst/>
          </a:prstGeom>
        </p:spPr>
      </p:pic>
      <p:sp>
        <p:nvSpPr>
          <p:cNvPr id="7" name="TextBox 6">
            <a:extLst>
              <a:ext uri="{FF2B5EF4-FFF2-40B4-BE49-F238E27FC236}">
                <a16:creationId xmlns:a16="http://schemas.microsoft.com/office/drawing/2014/main" id="{A41DD8C6-FC5C-5069-C880-0833C3EB1652}"/>
              </a:ext>
            </a:extLst>
          </p:cNvPr>
          <p:cNvSpPr txBox="1"/>
          <p:nvPr/>
        </p:nvSpPr>
        <p:spPr bwMode="auto">
          <a:xfrm>
            <a:off x="838200" y="5486592"/>
            <a:ext cx="1053591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If removal of barriers is not readily achievable, must take alternate steps to make goods/services accessible</a:t>
            </a:r>
          </a:p>
        </p:txBody>
      </p:sp>
      <p:pic>
        <p:nvPicPr>
          <p:cNvPr id="6" name="Picture 5">
            <a:extLst>
              <a:ext uri="{FF2B5EF4-FFF2-40B4-BE49-F238E27FC236}">
                <a16:creationId xmlns:a16="http://schemas.microsoft.com/office/drawing/2014/main" id="{0B6A2C79-45A4-3437-1ECD-7D31CBAD12CF}"/>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05B46F62-71E4-B960-0F35-534DD81C296A}"/>
              </a:ext>
            </a:extLst>
          </p:cNvPr>
          <p:cNvSpPr>
            <a:spLocks noGrp="1"/>
          </p:cNvSpPr>
          <p:nvPr>
            <p:ph type="sldNum" sz="quarter" idx="12"/>
          </p:nvPr>
        </p:nvSpPr>
        <p:spPr/>
        <p:txBody>
          <a:bodyPr/>
          <a:lstStyle/>
          <a:p>
            <a:fld id="{A9D5B481-CC43-4D95-B982-500CB2D3FC20}" type="slidenum">
              <a:rPr lang="en-US" smtClean="0"/>
              <a:pPr/>
              <a:t>11</a:t>
            </a:fld>
            <a:endParaRPr lang="en-US" dirty="0"/>
          </a:p>
        </p:txBody>
      </p:sp>
    </p:spTree>
    <p:extLst>
      <p:ext uri="{BB962C8B-B14F-4D97-AF65-F5344CB8AC3E}">
        <p14:creationId xmlns:p14="http://schemas.microsoft.com/office/powerpoint/2010/main" val="2284950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0E11B-928C-1E31-6BDB-D354B2E7D570}"/>
              </a:ext>
            </a:extLst>
          </p:cNvPr>
          <p:cNvSpPr>
            <a:spLocks noGrp="1"/>
          </p:cNvSpPr>
          <p:nvPr>
            <p:ph type="title"/>
          </p:nvPr>
        </p:nvSpPr>
        <p:spPr>
          <a:xfrm>
            <a:off x="552548" y="831945"/>
            <a:ext cx="10515600" cy="961496"/>
          </a:xfrm>
        </p:spPr>
        <p:txBody>
          <a:bodyPr>
            <a:normAutofit/>
          </a:bodyPr>
          <a:lstStyle/>
          <a:p>
            <a:r>
              <a:rPr lang="en-US" sz="4400" dirty="0"/>
              <a:t>What the ADA Does </a:t>
            </a:r>
            <a:r>
              <a:rPr lang="en-US" sz="4400" u="sng" dirty="0"/>
              <a:t>NOT</a:t>
            </a:r>
            <a:r>
              <a:rPr lang="en-US" sz="4400" dirty="0"/>
              <a:t> Cover</a:t>
            </a:r>
          </a:p>
        </p:txBody>
      </p:sp>
      <p:sp>
        <p:nvSpPr>
          <p:cNvPr id="3" name="Content Placeholder 2">
            <a:extLst>
              <a:ext uri="{FF2B5EF4-FFF2-40B4-BE49-F238E27FC236}">
                <a16:creationId xmlns:a16="http://schemas.microsoft.com/office/drawing/2014/main" id="{8DE70BB2-7C87-D1C0-C6CB-B552F3A5EFDB}"/>
              </a:ext>
            </a:extLst>
          </p:cNvPr>
          <p:cNvSpPr>
            <a:spLocks noGrp="1"/>
          </p:cNvSpPr>
          <p:nvPr>
            <p:ph idx="1"/>
          </p:nvPr>
        </p:nvSpPr>
        <p:spPr>
          <a:xfrm>
            <a:off x="720714" y="1863357"/>
            <a:ext cx="8620994" cy="4493805"/>
          </a:xfrm>
        </p:spPr>
        <p:txBody>
          <a:bodyPr>
            <a:normAutofit lnSpcReduction="10000"/>
          </a:bodyPr>
          <a:lstStyle/>
          <a:p>
            <a:pPr marL="457200" indent="-457200">
              <a:lnSpc>
                <a:spcPct val="100000"/>
              </a:lnSpc>
              <a:spcBef>
                <a:spcPts val="0"/>
              </a:spcBef>
              <a:spcAft>
                <a:spcPts val="4800"/>
              </a:spcAft>
              <a:buFont typeface="Arial" panose="020B0604020202020204" pitchFamily="34" charset="0"/>
              <a:buChar char="•"/>
            </a:pPr>
            <a:r>
              <a:rPr lang="en-US" sz="2600" b="0" dirty="0">
                <a:solidFill>
                  <a:srgbClr val="000000"/>
                </a:solidFill>
              </a:rPr>
              <a:t>All religious entity facilities, programs, and activities, including programs and activities open to the general public, whether they are religious or secular in nature, are exempt </a:t>
            </a:r>
          </a:p>
          <a:p>
            <a:pPr marL="457200" indent="-457200">
              <a:lnSpc>
                <a:spcPct val="100000"/>
              </a:lnSpc>
              <a:spcBef>
                <a:spcPts val="0"/>
              </a:spcBef>
              <a:spcAft>
                <a:spcPts val="4800"/>
              </a:spcAft>
              <a:buFont typeface="Arial" panose="020B0604020202020204" pitchFamily="34" charset="0"/>
              <a:buChar char="•"/>
            </a:pPr>
            <a:r>
              <a:rPr lang="en-US" altLang="en-US" sz="2600" b="0" dirty="0"/>
              <a:t>Indian Tribal Properties</a:t>
            </a:r>
          </a:p>
          <a:p>
            <a:pPr marL="457200" indent="-457200" eaLnBrk="1" hangingPunct="1">
              <a:lnSpc>
                <a:spcPct val="100000"/>
              </a:lnSpc>
              <a:spcBef>
                <a:spcPts val="0"/>
              </a:spcBef>
              <a:spcAft>
                <a:spcPts val="4800"/>
              </a:spcAft>
              <a:buFont typeface="Arial" panose="020B0604020202020204" pitchFamily="34" charset="0"/>
              <a:buChar char="•"/>
            </a:pPr>
            <a:r>
              <a:rPr lang="en-US" altLang="en-US" sz="2600" b="0" dirty="0"/>
              <a:t>Private Clubs only when their goods or services are </a:t>
            </a:r>
            <a:r>
              <a:rPr lang="en-US" altLang="en-US" sz="2600" b="0" u="sng" dirty="0"/>
              <a:t>NOT</a:t>
            </a:r>
            <a:r>
              <a:rPr lang="en-US" altLang="en-US" sz="2600" b="0" dirty="0"/>
              <a:t> available to the general public</a:t>
            </a:r>
          </a:p>
          <a:p>
            <a:pPr marL="457200" indent="-45720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BEAE0D73-CB39-36D2-9AC2-134945DD8AD3}"/>
              </a:ext>
            </a:extLst>
          </p:cNvPr>
          <p:cNvSpPr>
            <a:spLocks noGrp="1"/>
          </p:cNvSpPr>
          <p:nvPr>
            <p:ph type="sldNum" sz="quarter" idx="12"/>
          </p:nvPr>
        </p:nvSpPr>
        <p:spPr/>
        <p:txBody>
          <a:bodyPr/>
          <a:lstStyle/>
          <a:p>
            <a:fld id="{A9D5B481-CC43-4D95-B982-500CB2D3FC20}" type="slidenum">
              <a:rPr lang="en-US" smtClean="0"/>
              <a:pPr/>
              <a:t>12</a:t>
            </a:fld>
            <a:endParaRPr lang="en-US" dirty="0"/>
          </a:p>
        </p:txBody>
      </p:sp>
      <p:pic>
        <p:nvPicPr>
          <p:cNvPr id="5" name="Picture 2" descr="white church">
            <a:extLst>
              <a:ext uri="{FF2B5EF4-FFF2-40B4-BE49-F238E27FC236}">
                <a16:creationId xmlns:a16="http://schemas.microsoft.com/office/drawing/2014/main" id="{AD534ED5-A1D0-AB4A-884C-4732249BD6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28457" y="1560707"/>
            <a:ext cx="1245529" cy="186829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outdoor sign stating &quot;Welcome Cherokee Indian Reservation&quot;">
            <a:extLst>
              <a:ext uri="{FF2B5EF4-FFF2-40B4-BE49-F238E27FC236}">
                <a16:creationId xmlns:a16="http://schemas.microsoft.com/office/drawing/2014/main" id="{583247E0-C393-95CC-6A52-A0BBD018BF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7814" y="3290240"/>
            <a:ext cx="2163308" cy="128016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rivate Club Members Only sign">
            <a:extLst>
              <a:ext uri="{FF2B5EF4-FFF2-40B4-BE49-F238E27FC236}">
                <a16:creationId xmlns:a16="http://schemas.microsoft.com/office/drawing/2014/main" id="{B70886EA-6F87-96DF-3DBE-37F28D4A9431}"/>
              </a:ext>
            </a:extLst>
          </p:cNvPr>
          <p:cNvPicPr>
            <a:picLocks noChangeAspect="1"/>
          </p:cNvPicPr>
          <p:nvPr/>
        </p:nvPicPr>
        <p:blipFill>
          <a:blip r:embed="rId5"/>
          <a:stretch>
            <a:fillRect/>
          </a:stretch>
        </p:blipFill>
        <p:spPr>
          <a:xfrm>
            <a:off x="9322488" y="4532847"/>
            <a:ext cx="2019027" cy="1224304"/>
          </a:xfrm>
          <a:prstGeom prst="rect">
            <a:avLst/>
          </a:prstGeom>
        </p:spPr>
      </p:pic>
      <p:pic>
        <p:nvPicPr>
          <p:cNvPr id="9" name="Picture 8">
            <a:extLst>
              <a:ext uri="{FF2B5EF4-FFF2-40B4-BE49-F238E27FC236}">
                <a16:creationId xmlns:a16="http://schemas.microsoft.com/office/drawing/2014/main" id="{DB1CC06A-BEBA-F975-5FF8-7DAC36E7D952}"/>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8698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54EEC-4AE2-7EB1-9D45-C1A302C134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702A9-B6DF-EA99-978F-5A3641FC15F6}"/>
              </a:ext>
            </a:extLst>
          </p:cNvPr>
          <p:cNvSpPr>
            <a:spLocks noGrp="1"/>
          </p:cNvSpPr>
          <p:nvPr>
            <p:ph type="title"/>
          </p:nvPr>
        </p:nvSpPr>
        <p:spPr>
          <a:xfrm>
            <a:off x="669073" y="739124"/>
            <a:ext cx="11430000" cy="961496"/>
          </a:xfrm>
        </p:spPr>
        <p:txBody>
          <a:bodyPr>
            <a:normAutofit/>
          </a:bodyPr>
          <a:lstStyle/>
          <a:p>
            <a:r>
              <a:rPr lang="en-US" sz="4400" dirty="0"/>
              <a:t>Title IV of the ADA – Telecommunications</a:t>
            </a:r>
          </a:p>
        </p:txBody>
      </p:sp>
      <p:sp>
        <p:nvSpPr>
          <p:cNvPr id="3" name="Content Placeholder 2">
            <a:extLst>
              <a:ext uri="{FF2B5EF4-FFF2-40B4-BE49-F238E27FC236}">
                <a16:creationId xmlns:a16="http://schemas.microsoft.com/office/drawing/2014/main" id="{1F9B6335-A234-0FA5-D5BA-382E29012711}"/>
              </a:ext>
            </a:extLst>
          </p:cNvPr>
          <p:cNvSpPr>
            <a:spLocks noGrp="1"/>
          </p:cNvSpPr>
          <p:nvPr>
            <p:ph idx="1"/>
          </p:nvPr>
        </p:nvSpPr>
        <p:spPr>
          <a:xfrm>
            <a:off x="791736" y="1571625"/>
            <a:ext cx="11184673" cy="4938757"/>
          </a:xfrm>
        </p:spPr>
        <p:txBody>
          <a:bodyPr>
            <a:normAutofit/>
          </a:bodyPr>
          <a:lstStyle/>
          <a:p>
            <a:pPr marL="0" indent="0">
              <a:lnSpc>
                <a:spcPct val="100000"/>
              </a:lnSpc>
              <a:spcBef>
                <a:spcPts val="0"/>
              </a:spcBef>
              <a:spcAft>
                <a:spcPts val="1200"/>
              </a:spcAft>
              <a:buNone/>
            </a:pPr>
            <a:r>
              <a:rPr lang="en-US" sz="2400" dirty="0"/>
              <a:t>Applies to:</a:t>
            </a:r>
          </a:p>
          <a:p>
            <a:pPr marL="342900" indent="-342900">
              <a:lnSpc>
                <a:spcPct val="100000"/>
              </a:lnSpc>
              <a:spcBef>
                <a:spcPts val="0"/>
              </a:spcBef>
              <a:spcAft>
                <a:spcPts val="1200"/>
              </a:spcAft>
              <a:buFont typeface="Arial" panose="020B0604020202020204" pitchFamily="34" charset="0"/>
              <a:buChar char="•"/>
            </a:pPr>
            <a:r>
              <a:rPr lang="en-US" sz="2200" b="0" dirty="0"/>
              <a:t>Telephone companies</a:t>
            </a:r>
          </a:p>
          <a:p>
            <a:pPr marL="342900" indent="-342900">
              <a:lnSpc>
                <a:spcPct val="100000"/>
              </a:lnSpc>
              <a:spcBef>
                <a:spcPts val="0"/>
              </a:spcBef>
              <a:spcAft>
                <a:spcPts val="1200"/>
              </a:spcAft>
              <a:buFont typeface="Arial" panose="020B0604020202020204" pitchFamily="34" charset="0"/>
              <a:buChar char="•"/>
            </a:pPr>
            <a:r>
              <a:rPr lang="en-US" sz="2200" b="0" dirty="0"/>
              <a:t>Public service announcements</a:t>
            </a:r>
          </a:p>
          <a:p>
            <a:pPr marL="0" indent="0">
              <a:lnSpc>
                <a:spcPct val="100000"/>
              </a:lnSpc>
              <a:spcBef>
                <a:spcPts val="0"/>
              </a:spcBef>
              <a:spcAft>
                <a:spcPts val="1200"/>
              </a:spcAft>
              <a:buNone/>
              <a:defRPr/>
            </a:pPr>
            <a:r>
              <a:rPr lang="en-US" sz="2400" dirty="0"/>
              <a:t>General requirements of Title IV:</a:t>
            </a:r>
          </a:p>
          <a:p>
            <a:pPr marL="342900" indent="-342900">
              <a:lnSpc>
                <a:spcPct val="100000"/>
              </a:lnSpc>
              <a:spcBef>
                <a:spcPts val="0"/>
              </a:spcBef>
              <a:spcAft>
                <a:spcPts val="1200"/>
              </a:spcAft>
              <a:buFont typeface="Arial" panose="020B0604020202020204" pitchFamily="34" charset="0"/>
              <a:buChar char="•"/>
              <a:defRPr/>
            </a:pPr>
            <a:r>
              <a:rPr lang="en-US" sz="2200" b="0" dirty="0"/>
              <a:t>Telephone companies must:</a:t>
            </a:r>
          </a:p>
          <a:p>
            <a:pPr marL="1028700" lvl="1" indent="-342900">
              <a:spcBef>
                <a:spcPts val="0"/>
              </a:spcBef>
              <a:spcAft>
                <a:spcPts val="1200"/>
              </a:spcAft>
              <a:buFont typeface="Arial" panose="020B0604020202020204" pitchFamily="34" charset="0"/>
              <a:buChar char="­"/>
              <a:defRPr/>
            </a:pPr>
            <a:r>
              <a:rPr lang="en-US" sz="2200" b="0" dirty="0"/>
              <a:t>Establish 24-hour-a-day interstate &amp; intrastate telecommunication relay services </a:t>
            </a:r>
          </a:p>
          <a:p>
            <a:pPr marL="1028700" lvl="1" indent="-342900">
              <a:spcBef>
                <a:spcPts val="0"/>
              </a:spcBef>
              <a:spcAft>
                <a:spcPts val="1200"/>
              </a:spcAft>
              <a:buFont typeface="Arial" panose="020B0604020202020204" pitchFamily="34" charset="0"/>
              <a:buChar char="­"/>
              <a:defRPr/>
            </a:pPr>
            <a:r>
              <a:rPr lang="en-US" sz="2200" b="0" dirty="0"/>
              <a:t>Meet minimum standards for the relay service</a:t>
            </a:r>
          </a:p>
          <a:p>
            <a:pPr marL="342900" indent="-342900">
              <a:lnSpc>
                <a:spcPct val="100000"/>
              </a:lnSpc>
              <a:spcBef>
                <a:spcPts val="0"/>
              </a:spcBef>
              <a:spcAft>
                <a:spcPts val="1200"/>
              </a:spcAft>
              <a:buFont typeface="Arial" panose="020B0604020202020204" pitchFamily="34" charset="0"/>
              <a:buChar char="•"/>
              <a:defRPr/>
            </a:pPr>
            <a:r>
              <a:rPr lang="en-US" sz="2200" b="0" dirty="0"/>
              <a:t>Entities that produce federally-funded public service announcements must add closed captioning to these announcements</a:t>
            </a:r>
          </a:p>
          <a:p>
            <a:pPr>
              <a:lnSpc>
                <a:spcPct val="100000"/>
              </a:lnSpc>
              <a:spcBef>
                <a:spcPts val="0"/>
              </a:spcBef>
              <a:spcAft>
                <a:spcPts val="1200"/>
              </a:spcAft>
            </a:pPr>
            <a:r>
              <a:rPr lang="en-US" sz="2400" dirty="0"/>
              <a:t>Enforced by the </a:t>
            </a:r>
            <a:r>
              <a:rPr lang="en-US" sz="2400" i="0" dirty="0">
                <a:effectLst/>
              </a:rPr>
              <a:t>Federal Communications Commission </a:t>
            </a:r>
          </a:p>
        </p:txBody>
      </p:sp>
      <p:pic>
        <p:nvPicPr>
          <p:cNvPr id="7" name="Picture 6" descr="telephone">
            <a:extLst>
              <a:ext uri="{FF2B5EF4-FFF2-40B4-BE49-F238E27FC236}">
                <a16:creationId xmlns:a16="http://schemas.microsoft.com/office/drawing/2014/main" id="{A2865280-9E13-A6D6-A248-5D343700663B}"/>
              </a:ext>
            </a:extLst>
          </p:cNvPr>
          <p:cNvPicPr>
            <a:picLocks noChangeAspect="1"/>
          </p:cNvPicPr>
          <p:nvPr/>
        </p:nvPicPr>
        <p:blipFill>
          <a:blip r:embed="rId3"/>
          <a:stretch>
            <a:fillRect/>
          </a:stretch>
        </p:blipFill>
        <p:spPr>
          <a:xfrm>
            <a:off x="7228817" y="1571625"/>
            <a:ext cx="2383878" cy="2512241"/>
          </a:xfrm>
          <a:prstGeom prst="rect">
            <a:avLst/>
          </a:prstGeom>
        </p:spPr>
      </p:pic>
      <p:pic>
        <p:nvPicPr>
          <p:cNvPr id="5" name="Picture 8" descr="Federal Communications Commission  Logo">
            <a:extLst>
              <a:ext uri="{FF2B5EF4-FFF2-40B4-BE49-F238E27FC236}">
                <a16:creationId xmlns:a16="http://schemas.microsoft.com/office/drawing/2014/main" id="{FDEB3FBD-DC33-2C46-230D-024A58091DD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96621" y="5546266"/>
            <a:ext cx="971588" cy="81405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FCD53DC-B975-C537-6963-D8D212A0265F}"/>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CDECB1AD-AB52-6B3B-5C78-832967432B80}"/>
              </a:ext>
            </a:extLst>
          </p:cNvPr>
          <p:cNvSpPr>
            <a:spLocks noGrp="1"/>
          </p:cNvSpPr>
          <p:nvPr>
            <p:ph type="sldNum" sz="quarter" idx="12"/>
          </p:nvPr>
        </p:nvSpPr>
        <p:spPr/>
        <p:txBody>
          <a:bodyPr/>
          <a:lstStyle/>
          <a:p>
            <a:fld id="{A9D5B481-CC43-4D95-B982-500CB2D3FC20}" type="slidenum">
              <a:rPr lang="en-US" smtClean="0"/>
              <a:pPr/>
              <a:t>13</a:t>
            </a:fld>
            <a:endParaRPr lang="en-US" dirty="0"/>
          </a:p>
        </p:txBody>
      </p:sp>
    </p:spTree>
    <p:extLst>
      <p:ext uri="{BB962C8B-B14F-4D97-AF65-F5344CB8AC3E}">
        <p14:creationId xmlns:p14="http://schemas.microsoft.com/office/powerpoint/2010/main" val="2828817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76A1A-69D0-7B24-7D23-0D71A70A8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CA28E9-7D8A-3003-4D68-06C42E9285CB}"/>
              </a:ext>
            </a:extLst>
          </p:cNvPr>
          <p:cNvSpPr>
            <a:spLocks noGrp="1"/>
          </p:cNvSpPr>
          <p:nvPr>
            <p:ph type="title"/>
          </p:nvPr>
        </p:nvSpPr>
        <p:spPr>
          <a:xfrm>
            <a:off x="753293" y="737362"/>
            <a:ext cx="11345779" cy="961496"/>
          </a:xfrm>
        </p:spPr>
        <p:txBody>
          <a:bodyPr>
            <a:normAutofit/>
          </a:bodyPr>
          <a:lstStyle/>
          <a:p>
            <a:r>
              <a:rPr lang="en-US" sz="4400" dirty="0"/>
              <a:t>Title V of the ADA – Miscellaneous</a:t>
            </a:r>
          </a:p>
        </p:txBody>
      </p:sp>
      <p:sp>
        <p:nvSpPr>
          <p:cNvPr id="3" name="Content Placeholder 2">
            <a:extLst>
              <a:ext uri="{FF2B5EF4-FFF2-40B4-BE49-F238E27FC236}">
                <a16:creationId xmlns:a16="http://schemas.microsoft.com/office/drawing/2014/main" id="{8D8E3468-17ED-B323-D53C-779686A1B929}"/>
              </a:ext>
            </a:extLst>
          </p:cNvPr>
          <p:cNvSpPr>
            <a:spLocks noGrp="1"/>
          </p:cNvSpPr>
          <p:nvPr>
            <p:ph idx="1"/>
          </p:nvPr>
        </p:nvSpPr>
        <p:spPr>
          <a:xfrm>
            <a:off x="813819" y="1540359"/>
            <a:ext cx="10995103" cy="4994743"/>
          </a:xfrm>
        </p:spPr>
        <p:txBody>
          <a:bodyPr>
            <a:normAutofit fontScale="92500" lnSpcReduction="20000"/>
          </a:bodyPr>
          <a:lstStyle/>
          <a:p>
            <a:pPr algn="l">
              <a:lnSpc>
                <a:spcPct val="120000"/>
              </a:lnSpc>
              <a:spcBef>
                <a:spcPts val="0"/>
              </a:spcBef>
              <a:spcAft>
                <a:spcPts val="600"/>
              </a:spcAft>
            </a:pPr>
            <a:r>
              <a:rPr lang="en-US" sz="2600" i="0" dirty="0">
                <a:effectLst/>
              </a:rPr>
              <a:t>Applies to all covered entities of the ADA</a:t>
            </a:r>
          </a:p>
          <a:p>
            <a:pPr algn="l">
              <a:lnSpc>
                <a:spcPct val="120000"/>
              </a:lnSpc>
              <a:spcBef>
                <a:spcPts val="0"/>
              </a:spcBef>
              <a:spcAft>
                <a:spcPts val="600"/>
              </a:spcAft>
            </a:pPr>
            <a:r>
              <a:rPr lang="en-US" sz="2600" dirty="0"/>
              <a:t>Significant Provisions</a:t>
            </a:r>
            <a:r>
              <a:rPr lang="en-US" sz="2600" b="0" dirty="0"/>
              <a:t>:</a:t>
            </a:r>
            <a:endParaRPr lang="en-US" sz="2600" b="0" i="0" dirty="0">
              <a:effectLst/>
            </a:endParaRPr>
          </a:p>
          <a:p>
            <a:pPr marL="457200" indent="-457200">
              <a:lnSpc>
                <a:spcPct val="120000"/>
              </a:lnSpc>
              <a:spcBef>
                <a:spcPts val="0"/>
              </a:spcBef>
              <a:spcAft>
                <a:spcPts val="600"/>
              </a:spcAft>
              <a:buFont typeface="Arial" panose="020B0604020202020204" pitchFamily="34" charset="0"/>
              <a:buChar char="•"/>
            </a:pPr>
            <a:r>
              <a:rPr lang="en-US" sz="2400" b="0" dirty="0"/>
              <a:t>ADA doesn’t override other laws that provide equal or greater protections</a:t>
            </a:r>
            <a:endParaRPr lang="en-US" sz="2400" b="0" i="0" dirty="0">
              <a:effectLst/>
            </a:endParaRPr>
          </a:p>
          <a:p>
            <a:pPr marL="457200" indent="-457200" algn="l">
              <a:lnSpc>
                <a:spcPct val="120000"/>
              </a:lnSpc>
              <a:spcBef>
                <a:spcPts val="0"/>
              </a:spcBef>
              <a:spcAft>
                <a:spcPts val="600"/>
              </a:spcAft>
              <a:buFont typeface="Arial" panose="020B0604020202020204" pitchFamily="34" charset="0"/>
              <a:buChar char="•"/>
            </a:pPr>
            <a:r>
              <a:rPr lang="en-US" sz="2400" b="0" i="0" dirty="0">
                <a:effectLst/>
              </a:rPr>
              <a:t>Prohib</a:t>
            </a:r>
            <a:r>
              <a:rPr lang="en-US" sz="2400" b="0" dirty="0"/>
              <a:t>its</a:t>
            </a:r>
            <a:r>
              <a:rPr lang="en-US" sz="2400" b="0" i="0" dirty="0">
                <a:effectLst/>
              </a:rPr>
              <a:t> retaliation against a person who has asserted their rights under the ADA</a:t>
            </a:r>
          </a:p>
          <a:p>
            <a:pPr marL="457200" indent="-457200" algn="l">
              <a:lnSpc>
                <a:spcPct val="120000"/>
              </a:lnSpc>
              <a:spcBef>
                <a:spcPts val="0"/>
              </a:spcBef>
              <a:spcAft>
                <a:spcPts val="600"/>
              </a:spcAft>
              <a:buFont typeface="Arial" panose="020B0604020202020204" pitchFamily="34" charset="0"/>
              <a:buChar char="•"/>
            </a:pPr>
            <a:r>
              <a:rPr lang="en-US" sz="2400" b="0" i="0" dirty="0">
                <a:effectLst/>
              </a:rPr>
              <a:t>Stating that a person with a disability is not required to accept an aid or accommodation if they do not want to</a:t>
            </a:r>
          </a:p>
          <a:p>
            <a:pPr marL="457200" indent="-457200">
              <a:lnSpc>
                <a:spcPct val="120000"/>
              </a:lnSpc>
              <a:spcBef>
                <a:spcPts val="0"/>
              </a:spcBef>
              <a:spcAft>
                <a:spcPts val="600"/>
              </a:spcAft>
              <a:buFont typeface="Arial" panose="020B0604020202020204" pitchFamily="34" charset="0"/>
              <a:buChar char="•"/>
            </a:pPr>
            <a:r>
              <a:rPr lang="en-US" sz="2400" b="0" dirty="0"/>
              <a:t>Exclusion of certain conditions from the definition of disability</a:t>
            </a:r>
          </a:p>
          <a:p>
            <a:pPr marL="457200" indent="-457200">
              <a:lnSpc>
                <a:spcPct val="120000"/>
              </a:lnSpc>
              <a:spcBef>
                <a:spcPts val="0"/>
              </a:spcBef>
              <a:spcAft>
                <a:spcPts val="600"/>
              </a:spcAft>
              <a:buFont typeface="Arial" panose="020B0604020202020204" pitchFamily="34" charset="0"/>
              <a:buChar char="•"/>
            </a:pPr>
            <a:r>
              <a:rPr lang="en-US" sz="2400" b="0" dirty="0"/>
              <a:t>An individual cannot make a claim of “reverse discrimination”</a:t>
            </a:r>
            <a:endParaRPr lang="en-US" sz="2400" b="0" i="0" dirty="0">
              <a:effectLst/>
            </a:endParaRPr>
          </a:p>
          <a:p>
            <a:pPr marL="457200" indent="-457200" algn="l">
              <a:lnSpc>
                <a:spcPct val="120000"/>
              </a:lnSpc>
              <a:spcBef>
                <a:spcPts val="0"/>
              </a:spcBef>
              <a:spcAft>
                <a:spcPts val="600"/>
              </a:spcAft>
              <a:buFont typeface="Arial" panose="020B0604020202020204" pitchFamily="34" charset="0"/>
              <a:buChar char="•"/>
            </a:pPr>
            <a:r>
              <a:rPr lang="en-US" sz="2400" b="0" i="0" dirty="0">
                <a:effectLst/>
              </a:rPr>
              <a:t>Authorizing courts to award attorneys’ fees to the winning party in a lawsuit under the ADA</a:t>
            </a:r>
          </a:p>
          <a:p>
            <a:pPr marL="457200" indent="-457200" algn="l">
              <a:lnSpc>
                <a:spcPct val="120000"/>
              </a:lnSpc>
              <a:spcBef>
                <a:spcPts val="0"/>
              </a:spcBef>
              <a:spcAft>
                <a:spcPts val="600"/>
              </a:spcAft>
              <a:buFont typeface="Arial" panose="020B0604020202020204" pitchFamily="34" charset="0"/>
              <a:buChar char="•"/>
            </a:pPr>
            <a:r>
              <a:rPr lang="en-US" sz="2400" b="0" i="0" dirty="0">
                <a:effectLst/>
              </a:rPr>
              <a:t>Directing certain federal agencies to issue guidance explaining the law</a:t>
            </a:r>
          </a:p>
          <a:p>
            <a:pPr>
              <a:lnSpc>
                <a:spcPct val="120000"/>
              </a:lnSpc>
              <a:spcBef>
                <a:spcPts val="0"/>
              </a:spcBef>
              <a:spcAft>
                <a:spcPts val="600"/>
              </a:spcAft>
            </a:pPr>
            <a:r>
              <a:rPr lang="en-US" sz="2600" dirty="0"/>
              <a:t>Enforced by the respective federal agency for the specific ADA Title</a:t>
            </a:r>
          </a:p>
        </p:txBody>
      </p:sp>
      <p:sp>
        <p:nvSpPr>
          <p:cNvPr id="4" name="Slide Number Placeholder 3">
            <a:extLst>
              <a:ext uri="{FF2B5EF4-FFF2-40B4-BE49-F238E27FC236}">
                <a16:creationId xmlns:a16="http://schemas.microsoft.com/office/drawing/2014/main" id="{7CAA51C3-986F-F778-4C8A-EDF78207FBCA}"/>
              </a:ext>
            </a:extLst>
          </p:cNvPr>
          <p:cNvSpPr>
            <a:spLocks noGrp="1"/>
          </p:cNvSpPr>
          <p:nvPr>
            <p:ph type="sldNum" sz="quarter" idx="12"/>
          </p:nvPr>
        </p:nvSpPr>
        <p:spPr/>
        <p:txBody>
          <a:bodyPr/>
          <a:lstStyle/>
          <a:p>
            <a:fld id="{A9D5B481-CC43-4D95-B982-500CB2D3FC20}" type="slidenum">
              <a:rPr lang="en-US" smtClean="0"/>
              <a:pPr/>
              <a:t>14</a:t>
            </a:fld>
            <a:endParaRPr lang="en-US" dirty="0"/>
          </a:p>
        </p:txBody>
      </p:sp>
      <p:pic>
        <p:nvPicPr>
          <p:cNvPr id="5" name="Picture 4">
            <a:extLst>
              <a:ext uri="{FF2B5EF4-FFF2-40B4-BE49-F238E27FC236}">
                <a16:creationId xmlns:a16="http://schemas.microsoft.com/office/drawing/2014/main" id="{2DACD1D5-E281-63B0-AF0A-6EF1601B5D95}"/>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4357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933C4-8E42-7EEA-C5F8-2A33D0A3ED6A}"/>
              </a:ext>
            </a:extLst>
          </p:cNvPr>
          <p:cNvSpPr>
            <a:spLocks noGrp="1"/>
          </p:cNvSpPr>
          <p:nvPr>
            <p:ph type="title"/>
          </p:nvPr>
        </p:nvSpPr>
        <p:spPr/>
        <p:txBody>
          <a:bodyPr>
            <a:normAutofit/>
          </a:bodyPr>
          <a:lstStyle/>
          <a:p>
            <a:r>
              <a:rPr lang="en-US" sz="4400" dirty="0"/>
              <a:t>Conclusion</a:t>
            </a:r>
          </a:p>
        </p:txBody>
      </p:sp>
      <p:sp>
        <p:nvSpPr>
          <p:cNvPr id="3" name="Content Placeholder 2">
            <a:extLst>
              <a:ext uri="{FF2B5EF4-FFF2-40B4-BE49-F238E27FC236}">
                <a16:creationId xmlns:a16="http://schemas.microsoft.com/office/drawing/2014/main" id="{ACDA98C0-9479-3F7A-4B3A-972EC2252CA6}"/>
              </a:ext>
            </a:extLst>
          </p:cNvPr>
          <p:cNvSpPr>
            <a:spLocks noGrp="1"/>
          </p:cNvSpPr>
          <p:nvPr>
            <p:ph idx="1"/>
          </p:nvPr>
        </p:nvSpPr>
        <p:spPr>
          <a:xfrm>
            <a:off x="813819" y="1754762"/>
            <a:ext cx="10539981" cy="4460687"/>
          </a:xfrm>
        </p:spPr>
        <p:txBody>
          <a:bodyPr>
            <a:normAutofit/>
          </a:bodyPr>
          <a:lstStyle/>
          <a:p>
            <a:pPr marL="457200" indent="-457200">
              <a:lnSpc>
                <a:spcPct val="100000"/>
              </a:lnSpc>
              <a:spcBef>
                <a:spcPts val="0"/>
              </a:spcBef>
              <a:spcAft>
                <a:spcPts val="2400"/>
              </a:spcAft>
              <a:buFont typeface="Arial" panose="020B0604020202020204" pitchFamily="34" charset="0"/>
              <a:buChar char="•"/>
            </a:pPr>
            <a:r>
              <a:rPr lang="en-US" b="0" dirty="0"/>
              <a:t>To learn more about the concepts reviewed during this training, check out the ADA resources provided within this unit</a:t>
            </a:r>
          </a:p>
          <a:p>
            <a:pPr marL="457200" indent="-457200">
              <a:lnSpc>
                <a:spcPct val="100000"/>
              </a:lnSpc>
              <a:spcBef>
                <a:spcPts val="0"/>
              </a:spcBef>
              <a:spcAft>
                <a:spcPts val="2400"/>
              </a:spcAft>
              <a:buFont typeface="Arial" panose="020B0604020202020204" pitchFamily="34" charset="0"/>
              <a:buChar char="•"/>
            </a:pPr>
            <a:r>
              <a:rPr lang="en-US" b="0" dirty="0"/>
              <a:t>If you have questions about the ADA, call your regional ADA Center at 800-949-4232</a:t>
            </a:r>
          </a:p>
          <a:p>
            <a:pPr marL="457200" indent="-457200">
              <a:lnSpc>
                <a:spcPct val="100000"/>
              </a:lnSpc>
              <a:spcBef>
                <a:spcPts val="0"/>
              </a:spcBef>
              <a:spcAft>
                <a:spcPts val="2400"/>
              </a:spcAft>
              <a:buFont typeface="Arial" panose="020B0604020202020204" pitchFamily="34" charset="0"/>
              <a:buChar char="•"/>
            </a:pPr>
            <a:r>
              <a:rPr lang="en-US" dirty="0"/>
              <a:t>The next step is to view the </a:t>
            </a:r>
            <a:r>
              <a:rPr lang="en-US" i="1" dirty="0">
                <a:solidFill>
                  <a:srgbClr val="1A2026"/>
                </a:solidFill>
              </a:rPr>
              <a:t>Americans with Disabilities Act (ADA) – </a:t>
            </a:r>
            <a:r>
              <a:rPr lang="en-US" dirty="0">
                <a:solidFill>
                  <a:srgbClr val="1A2026"/>
                </a:solidFill>
              </a:rPr>
              <a:t>ADA Requirements</a:t>
            </a:r>
          </a:p>
          <a:p>
            <a:pPr marL="457200" indent="-457200">
              <a:lnSpc>
                <a:spcPct val="100000"/>
              </a:lnSpc>
              <a:spcBef>
                <a:spcPts val="0"/>
              </a:spcBef>
              <a:spcAft>
                <a:spcPts val="2400"/>
              </a:spcAft>
              <a:buFont typeface="Arial" panose="020B0604020202020204" pitchFamily="34" charset="0"/>
              <a:buChar char="•"/>
            </a:pPr>
            <a:endParaRPr lang="en-US" dirty="0"/>
          </a:p>
        </p:txBody>
      </p:sp>
      <p:pic>
        <p:nvPicPr>
          <p:cNvPr id="6" name="Picture 5">
            <a:extLst>
              <a:ext uri="{FF2B5EF4-FFF2-40B4-BE49-F238E27FC236}">
                <a16:creationId xmlns:a16="http://schemas.microsoft.com/office/drawing/2014/main" id="{6D623585-06AF-02DE-3CC8-2A4A4F30CC4E}"/>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447868"/>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D038725D-484C-DF34-3333-08810BF274C8}"/>
              </a:ext>
            </a:extLst>
          </p:cNvPr>
          <p:cNvSpPr>
            <a:spLocks noGrp="1"/>
          </p:cNvSpPr>
          <p:nvPr>
            <p:ph type="sldNum" sz="quarter" idx="12"/>
          </p:nvPr>
        </p:nvSpPr>
        <p:spPr/>
        <p:txBody>
          <a:bodyPr/>
          <a:lstStyle/>
          <a:p>
            <a:fld id="{A9D5B481-CC43-4D95-B982-500CB2D3FC20}" type="slidenum">
              <a:rPr lang="en-US" smtClean="0"/>
              <a:pPr/>
              <a:t>15</a:t>
            </a:fld>
            <a:endParaRPr lang="en-US" dirty="0"/>
          </a:p>
        </p:txBody>
      </p:sp>
    </p:spTree>
    <p:extLst>
      <p:ext uri="{BB962C8B-B14F-4D97-AF65-F5344CB8AC3E}">
        <p14:creationId xmlns:p14="http://schemas.microsoft.com/office/powerpoint/2010/main" val="983944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Great Lakes ADA Center PPT">
      <a:dk1>
        <a:sysClr val="windowText" lastClr="000000"/>
      </a:dk1>
      <a:lt1>
        <a:sysClr val="window" lastClr="FFFFFF"/>
      </a:lt1>
      <a:dk2>
        <a:srgbClr val="242852"/>
      </a:dk2>
      <a:lt2>
        <a:srgbClr val="ACCBF9"/>
      </a:lt2>
      <a:accent1>
        <a:srgbClr val="005580"/>
      </a:accent1>
      <a:accent2>
        <a:srgbClr val="297FD5"/>
      </a:accent2>
      <a:accent3>
        <a:srgbClr val="7F8FA9"/>
      </a:accent3>
      <a:accent4>
        <a:srgbClr val="4A66AC"/>
      </a:accent4>
      <a:accent5>
        <a:srgbClr val="5AA2AE"/>
      </a:accent5>
      <a:accent6>
        <a:srgbClr val="9D90A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emplate/>
  <TotalTime>25031</TotalTime>
  <Words>4424</Words>
  <Application>Microsoft Office PowerPoint</Application>
  <PresentationFormat>Widescreen</PresentationFormat>
  <Paragraphs>357</Paragraphs>
  <Slides>15</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Aptos</vt:lpstr>
      <vt:lpstr>arial</vt:lpstr>
      <vt:lpstr>arial</vt:lpstr>
      <vt:lpstr>Calibri</vt:lpstr>
      <vt:lpstr>Courier New</vt:lpstr>
      <vt:lpstr>Public Sans Web</vt:lpstr>
      <vt:lpstr>Source Sans Pro Web</vt:lpstr>
      <vt:lpstr>Symbol</vt:lpstr>
      <vt:lpstr>Wingdings</vt:lpstr>
      <vt:lpstr>Office Theme</vt:lpstr>
      <vt:lpstr>Americans with Disabilities Act  (ADA)</vt:lpstr>
      <vt:lpstr>Title I of the ADA – Employment </vt:lpstr>
      <vt:lpstr>Reasonable Accommodation</vt:lpstr>
      <vt:lpstr>Concepts of Reasonable Accommodation</vt:lpstr>
      <vt:lpstr>Employment Question: Myth or Fact?</vt:lpstr>
      <vt:lpstr>Title II of the ADA</vt:lpstr>
      <vt:lpstr>Providing Program Access</vt:lpstr>
      <vt:lpstr>Program Access Scenario</vt:lpstr>
      <vt:lpstr>Title II Admin Requirements</vt:lpstr>
      <vt:lpstr>Title III of the ADA – Businesses</vt:lpstr>
      <vt:lpstr>Remove Architectural Barriers</vt:lpstr>
      <vt:lpstr>What the ADA Does NOT Cover</vt:lpstr>
      <vt:lpstr>Title IV of the ADA – Telecommunications</vt:lpstr>
      <vt:lpstr>Title V of the ADA – Miscellaneous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208</cp:revision>
  <dcterms:created xsi:type="dcterms:W3CDTF">2023-05-18T20:19:20Z</dcterms:created>
  <dcterms:modified xsi:type="dcterms:W3CDTF">2025-03-12T20:59:10Z</dcterms:modified>
</cp:coreProperties>
</file>