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888" r:id="rId2"/>
    <p:sldId id="597" r:id="rId3"/>
    <p:sldId id="743" r:id="rId4"/>
    <p:sldId id="885" r:id="rId5"/>
    <p:sldId id="859" r:id="rId6"/>
    <p:sldId id="864" r:id="rId7"/>
    <p:sldId id="887" r:id="rId8"/>
    <p:sldId id="731" r:id="rId9"/>
    <p:sldId id="88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580"/>
    <a:srgbClr val="0E58C4"/>
    <a:srgbClr val="FFFFFF"/>
    <a:srgbClr val="404040"/>
    <a:srgbClr val="FEFFDE"/>
    <a:srgbClr val="1F5FA0"/>
    <a:srgbClr val="00BF62"/>
    <a:srgbClr val="0563C1"/>
    <a:srgbClr val="366F92"/>
    <a:srgbClr val="DBE7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B83830-709C-4741-858D-CC583F352429}" v="116" dt="2025-03-17T13:03:21.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3" autoAdjust="0"/>
    <p:restoredTop sz="43645" autoAdjust="0"/>
  </p:normalViewPr>
  <p:slideViewPr>
    <p:cSldViewPr snapToGrid="0">
      <p:cViewPr varScale="1">
        <p:scale>
          <a:sx n="48" d="100"/>
          <a:sy n="48" d="100"/>
        </p:scale>
        <p:origin x="2196" y="60"/>
      </p:cViewPr>
      <p:guideLst/>
    </p:cSldViewPr>
  </p:slideViewPr>
  <p:outlineViewPr>
    <p:cViewPr>
      <p:scale>
        <a:sx n="33" d="100"/>
        <a:sy n="33" d="100"/>
      </p:scale>
      <p:origin x="0" y="-29868"/>
    </p:cViewPr>
  </p:outlineViewPr>
  <p:notesTextViewPr>
    <p:cViewPr>
      <p:scale>
        <a:sx n="3" d="2"/>
        <a:sy n="3" d="2"/>
      </p:scale>
      <p:origin x="0" y="-3210"/>
    </p:cViewPr>
  </p:notesTextViewPr>
  <p:sorterViewPr>
    <p:cViewPr>
      <p:scale>
        <a:sx n="100" d="100"/>
        <a:sy n="100" d="100"/>
      </p:scale>
      <p:origin x="0" y="-3402"/>
    </p:cViewPr>
  </p:sorterViewPr>
  <p:notesViewPr>
    <p:cSldViewPr snapToGrid="0">
      <p:cViewPr varScale="1">
        <p:scale>
          <a:sx n="85" d="100"/>
          <a:sy n="85" d="100"/>
        </p:scale>
        <p:origin x="301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277B8A-44BD-4F08-BEBA-9E3C00B47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42F70E0-F9B6-4B0A-B20F-DB31E7AE8E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dirty="0"/>
          </a:p>
        </p:txBody>
      </p:sp>
      <p:sp>
        <p:nvSpPr>
          <p:cNvPr id="4" name="Footer Placeholder 3">
            <a:extLst>
              <a:ext uri="{FF2B5EF4-FFF2-40B4-BE49-F238E27FC236}">
                <a16:creationId xmlns:a16="http://schemas.microsoft.com/office/drawing/2014/main" id="{E8289513-846D-418A-A76C-BC9CA473043A}"/>
              </a:ext>
            </a:extLst>
          </p:cNvPr>
          <p:cNvSpPr>
            <a:spLocks noGrp="1"/>
          </p:cNvSpPr>
          <p:nvPr>
            <p:ph type="ftr" sz="quarter" idx="2"/>
          </p:nvPr>
        </p:nvSpPr>
        <p:spPr>
          <a:xfrm>
            <a:off x="0" y="8505023"/>
            <a:ext cx="3429000" cy="638978"/>
          </a:xfrm>
          <a:prstGeom prst="rect">
            <a:avLst/>
          </a:prstGeom>
        </p:spPr>
        <p:txBody>
          <a:bodyPr vert="horz" lIns="91440" tIns="45720" rIns="91440" bIns="45720" rtlCol="0" anchor="b"/>
          <a:lstStyle>
            <a:lvl1pPr algn="l">
              <a:defRPr sz="1200"/>
            </a:lvl1pPr>
          </a:lstStyle>
          <a:p>
            <a:r>
              <a:rPr lang="en-US" dirty="0"/>
              <a:t>ADA Overview</a:t>
            </a:r>
          </a:p>
          <a:p>
            <a:pPr>
              <a:lnSpc>
                <a:spcPct val="100000"/>
              </a:lnSpc>
              <a:spcBef>
                <a:spcPts val="0"/>
              </a:spcBef>
            </a:pPr>
            <a:r>
              <a:rPr lang="en-US" sz="1200" dirty="0">
                <a:solidFill>
                  <a:schemeClr val="tx1">
                    <a:lumMod val="75000"/>
                    <a:lumOff val="25000"/>
                  </a:schemeClr>
                </a:solidFill>
              </a:rPr>
              <a:t>ADA Participation Action Research Consortium</a:t>
            </a:r>
          </a:p>
          <a:p>
            <a:pPr>
              <a:lnSpc>
                <a:spcPct val="100000"/>
              </a:lnSpc>
              <a:spcBef>
                <a:spcPts val="0"/>
              </a:spcBef>
            </a:pPr>
            <a:r>
              <a:rPr lang="en-US" sz="1200" dirty="0">
                <a:solidFill>
                  <a:schemeClr val="tx1">
                    <a:lumMod val="75000"/>
                    <a:lumOff val="25000"/>
                  </a:schemeClr>
                </a:solidFill>
              </a:rPr>
              <a:t>Participation Equity Navigator Training</a:t>
            </a:r>
          </a:p>
        </p:txBody>
      </p:sp>
      <p:sp>
        <p:nvSpPr>
          <p:cNvPr id="5" name="Slide Number Placeholder 4">
            <a:extLst>
              <a:ext uri="{FF2B5EF4-FFF2-40B4-BE49-F238E27FC236}">
                <a16:creationId xmlns:a16="http://schemas.microsoft.com/office/drawing/2014/main" id="{84746CD0-92B4-48E8-AAB4-2AAB470A69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560DB5-8A82-4868-827B-BFA45EE4562B}" type="slidenum">
              <a:rPr lang="en-US" smtClean="0"/>
              <a:t>‹#›</a:t>
            </a:fld>
            <a:endParaRPr lang="en-US" dirty="0"/>
          </a:p>
        </p:txBody>
      </p:sp>
    </p:spTree>
    <p:extLst>
      <p:ext uri="{BB962C8B-B14F-4D97-AF65-F5344CB8AC3E}">
        <p14:creationId xmlns:p14="http://schemas.microsoft.com/office/powerpoint/2010/main" val="344735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FD230-E997-462B-B687-9E056212BBD0}" type="datetimeFigureOut">
              <a:rPr lang="en-US" smtClean="0"/>
              <a:t>3/17/2025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60467-868E-4120-BCCD-97469C488C52}" type="slidenum">
              <a:rPr lang="en-US" smtClean="0"/>
              <a:t>‹#›</a:t>
            </a:fld>
            <a:endParaRPr lang="en-US" dirty="0"/>
          </a:p>
        </p:txBody>
      </p:sp>
    </p:spTree>
    <p:extLst>
      <p:ext uri="{BB962C8B-B14F-4D97-AF65-F5344CB8AC3E}">
        <p14:creationId xmlns:p14="http://schemas.microsoft.com/office/powerpoint/2010/main" val="717933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and welcome to the Americans with Disabilities Act –</a:t>
            </a:r>
            <a:r>
              <a:rPr lang="en-US" sz="1200" b="0" dirty="0">
                <a:solidFill>
                  <a:srgbClr val="1A2026"/>
                </a:solidFill>
              </a:rPr>
              <a:t>ADA Requirements, a</a:t>
            </a:r>
            <a:r>
              <a:rPr lang="en-US" dirty="0"/>
              <a:t> presentation within module 1-Unit 2: ADA Basics of the ADA PARC Participation Equity Navigator Training. Please note that there is an accessible PDF and Rich Text Format handout of this presentation available in Brightspace within module 1, unit 2 of this training course. </a:t>
            </a:r>
          </a:p>
          <a:p>
            <a:r>
              <a:rPr lang="en-US" dirty="0"/>
              <a:t>Moving onto slide 2</a:t>
            </a:r>
          </a:p>
        </p:txBody>
      </p:sp>
      <p:sp>
        <p:nvSpPr>
          <p:cNvPr id="4" name="Slide Number Placeholder 3"/>
          <p:cNvSpPr>
            <a:spLocks noGrp="1"/>
          </p:cNvSpPr>
          <p:nvPr>
            <p:ph type="sldNum" sz="quarter" idx="5"/>
          </p:nvPr>
        </p:nvSpPr>
        <p:spPr/>
        <p:txBody>
          <a:bodyPr/>
          <a:lstStyle/>
          <a:p>
            <a:fld id="{40E60467-868E-4120-BCCD-97469C488C52}" type="slidenum">
              <a:rPr lang="en-US" smtClean="0"/>
              <a:t>1</a:t>
            </a:fld>
            <a:endParaRPr lang="en-US" dirty="0"/>
          </a:p>
        </p:txBody>
      </p:sp>
    </p:spTree>
    <p:extLst>
      <p:ext uri="{BB962C8B-B14F-4D97-AF65-F5344CB8AC3E}">
        <p14:creationId xmlns:p14="http://schemas.microsoft.com/office/powerpoint/2010/main" val="199638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0963"/>
            <a:ext cx="5486400" cy="3086100"/>
          </a:xfrm>
        </p:spPr>
      </p:sp>
      <p:sp>
        <p:nvSpPr>
          <p:cNvPr id="3" name="Notes Placeholder 2"/>
          <p:cNvSpPr>
            <a:spLocks noGrp="1"/>
          </p:cNvSpPr>
          <p:nvPr>
            <p:ph type="body" idx="1"/>
          </p:nvPr>
        </p:nvSpPr>
        <p:spPr>
          <a:xfrm>
            <a:off x="135467" y="3167063"/>
            <a:ext cx="6570133" cy="5976937"/>
          </a:xfrm>
        </p:spPr>
        <p:txBody>
          <a:bodyPr/>
          <a:lstStyle/>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Entities covered under the ADA must follow the 2010 ADA Accessible Standards for physical accessibility in new construction, alterations, and additions. </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400" b="1" dirty="0">
                <a:effectLst/>
                <a:ea typeface="Calibri" panose="020F0502020204030204" pitchFamily="34" charset="0"/>
                <a:cs typeface="Times New Roman" panose="02020603050405020304" pitchFamily="18" charset="0"/>
              </a:rPr>
              <a:t>CLICK</a:t>
            </a:r>
            <a:endParaRPr lang="en-US" sz="1400" kern="100" dirty="0">
              <a:effectLst/>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800" dirty="0">
                <a:solidFill>
                  <a:srgbClr val="000000"/>
                </a:solidFill>
                <a:effectLst/>
                <a:latin typeface="Times New Roman" panose="02020603050405020304" pitchFamily="18" charset="0"/>
                <a:ea typeface="Aptos" panose="020B0004020202020204" pitchFamily="34" charset="0"/>
              </a:rPr>
              <a:t>Elements that have not been altered in existing facilities on or after March 15, 2012,and that comply with the corresponding technical and scoping specifications for those elements in the 1991 Standards are not required to be modified in order to comply with the requirements set forth in the 2010 Standards. </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800" dirty="0">
                <a:solidFill>
                  <a:srgbClr val="000000"/>
                </a:solidFill>
                <a:effectLst/>
                <a:latin typeface="Times New Roman" panose="02020603050405020304" pitchFamily="18" charset="0"/>
                <a:ea typeface="Aptos" panose="020B0004020202020204" pitchFamily="34" charset="0"/>
              </a:rPr>
              <a:t>This is called </a:t>
            </a:r>
            <a:r>
              <a:rPr lang="en-US" sz="1400" i="1" dirty="0">
                <a:solidFill>
                  <a:srgbClr val="000000"/>
                </a:solidFill>
                <a:effectLst/>
                <a:latin typeface="Times New Roman" panose="02020603050405020304" pitchFamily="18" charset="0"/>
                <a:ea typeface="Aptos" panose="020B0004020202020204" pitchFamily="34" charset="0"/>
              </a:rPr>
              <a:t>Safe harbor.</a:t>
            </a:r>
            <a:endParaRPr lang="en-US" sz="1400" kern="100" dirty="0">
              <a:effectLst/>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New technical requirements for elements that were not addressed in the 1991 Standards are not eligible for “safe harbor” such as Play areas, fishing piers, golf facilities, saunas, etc.</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“Grandfather provisions” are often found in local building codes but do not exempt businesses and state and local governments from their obligations under the ADA.</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400" b="1" dirty="0">
                <a:effectLst/>
                <a:ea typeface="Calibri" panose="020F0502020204030204" pitchFamily="34" charset="0"/>
                <a:cs typeface="Times New Roman" panose="02020603050405020304" pitchFamily="18" charset="0"/>
              </a:rPr>
              <a:t>CLICK</a:t>
            </a:r>
            <a:endParaRPr lang="en-US" sz="1400" kern="100" dirty="0">
              <a:effectLst/>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Covered entities must maintain in working order equipment and features of facilities that are required to provide ready access to individuals with disabilities. </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Required accessible routes must remain accessible and not blocked by obstacles such as furniture, filing cabinets, or potted plants. </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For example: Using an accessible route for storage of supplies would also be a violation if it made the route inaccessible.</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An isolated instance of placement of an object on an accessible route, however, would not be a violation, if the object is promptly removed. </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Similarly, accessible doors must be unlocked when the public entity is open for business.</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Mechanical failures in equipment, such as elevators or automatic doors, will occur from time to time. </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400" kern="100" dirty="0">
                <a:effectLst/>
                <a:ea typeface="Calibri" panose="020F0502020204030204" pitchFamily="34" charset="0"/>
                <a:cs typeface="Times New Roman" panose="02020603050405020304" pitchFamily="18" charset="0"/>
              </a:rPr>
              <a:t>The obligation to ensure that facilities are readily accessible to and usable by individuals with disabilities would be violated, if repairs are not made promptly or if improper or inadequate maintenance causes repeated and persistent failures.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400" kern="100" dirty="0">
                <a:effectLst/>
                <a:ea typeface="Calibri" panose="020F0502020204030204" pitchFamily="34" charset="0"/>
                <a:cs typeface="Times New Roman" panose="02020603050405020304" pitchFamily="18" charset="0"/>
              </a:rPr>
              <a:t>Moving onto slide 3</a:t>
            </a:r>
          </a:p>
        </p:txBody>
      </p:sp>
      <p:sp>
        <p:nvSpPr>
          <p:cNvPr id="4" name="Slide Number Placeholder 3"/>
          <p:cNvSpPr>
            <a:spLocks noGrp="1"/>
          </p:cNvSpPr>
          <p:nvPr>
            <p:ph type="sldNum" sz="quarter" idx="5"/>
          </p:nvPr>
        </p:nvSpPr>
        <p:spPr/>
        <p:txBody>
          <a:bodyPr/>
          <a:lstStyle/>
          <a:p>
            <a:fld id="{40E60467-868E-4120-BCCD-97469C488C52}" type="slidenum">
              <a:rPr lang="en-US" smtClean="0"/>
              <a:t>2</a:t>
            </a:fld>
            <a:endParaRPr lang="en-US" dirty="0"/>
          </a:p>
        </p:txBody>
      </p:sp>
    </p:spTree>
    <p:extLst>
      <p:ext uri="{BB962C8B-B14F-4D97-AF65-F5344CB8AC3E}">
        <p14:creationId xmlns:p14="http://schemas.microsoft.com/office/powerpoint/2010/main" val="585157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5175" y="160338"/>
            <a:ext cx="5486400" cy="3086100"/>
          </a:xfrm>
        </p:spPr>
      </p:sp>
      <p:sp>
        <p:nvSpPr>
          <p:cNvPr id="3" name="Notes Placeholder 2"/>
          <p:cNvSpPr>
            <a:spLocks noGrp="1"/>
          </p:cNvSpPr>
          <p:nvPr>
            <p:ph type="body" idx="1"/>
          </p:nvPr>
        </p:nvSpPr>
        <p:spPr>
          <a:xfrm>
            <a:off x="135467" y="3375378"/>
            <a:ext cx="6547555" cy="5608284"/>
          </a:xfrm>
        </p:spPr>
        <p:txBody>
          <a:bodyPr/>
          <a:lstStyle/>
          <a:p>
            <a:pPr marL="182880" lvl="0" indent="-182880">
              <a:spcBef>
                <a:spcPts val="0"/>
              </a:spcBef>
              <a:spcAft>
                <a:spcPts val="1800"/>
              </a:spcAft>
              <a:buFont typeface="Arial" panose="020B0604020202020204" pitchFamily="34" charset="0"/>
              <a:buChar char="•"/>
              <a:defRPr/>
            </a:pPr>
            <a:r>
              <a:rPr lang="en-US" sz="4400" b="0" dirty="0"/>
              <a:t>The ADA also applies to digital spaces such as websites and online services that state &amp; local governments and businesses offer to the public</a:t>
            </a:r>
          </a:p>
          <a:p>
            <a:pPr marL="0" marR="0" lvl="0" indent="0" algn="l" defTabSz="914400" rtl="0" eaLnBrk="1" fontAlgn="auto" latinLnBrk="0" hangingPunct="1">
              <a:lnSpc>
                <a:spcPct val="100000"/>
              </a:lnSpc>
              <a:spcBef>
                <a:spcPts val="0"/>
              </a:spcBef>
              <a:spcAft>
                <a:spcPts val="1800"/>
              </a:spcAft>
              <a:buClrTx/>
              <a:buSzTx/>
              <a:buFont typeface="Arial" panose="020B0604020202020204" pitchFamily="34" charset="0"/>
              <a:buNone/>
              <a:tabLst/>
              <a:defRPr/>
            </a:pPr>
            <a:r>
              <a:rPr lang="en-US" sz="4400" b="1" dirty="0">
                <a:effectLst/>
                <a:ea typeface="Calibri" panose="020F0502020204030204" pitchFamily="34" charset="0"/>
                <a:cs typeface="Times New Roman" panose="02020603050405020304" pitchFamily="18" charset="0"/>
              </a:rPr>
              <a:t>CLICK</a:t>
            </a:r>
            <a:endParaRPr lang="en-US" sz="4400" b="0" dirty="0"/>
          </a:p>
          <a:p>
            <a:pPr marL="182880" lvl="0" indent="-182880">
              <a:spcBef>
                <a:spcPts val="0"/>
              </a:spcBef>
              <a:spcAft>
                <a:spcPts val="1800"/>
              </a:spcAft>
              <a:buFont typeface="Arial" panose="020B0604020202020204" pitchFamily="34" charset="0"/>
              <a:buChar char="•"/>
              <a:defRPr/>
            </a:pPr>
            <a:r>
              <a:rPr lang="en-US" sz="4400" b="0" dirty="0"/>
              <a:t>State &amp; Local Governments must follow new Web and Mobile App Accessibility Requirements to ensure digital platforms are accessible. Some businesses choose to follow these new requirements to ensure their websites and online services are accessible but are not obligated to do so. </a:t>
            </a:r>
          </a:p>
          <a:p>
            <a:pPr marL="0" marR="0" lvl="0" indent="0" algn="l" defTabSz="914400" rtl="0" eaLnBrk="1" fontAlgn="auto" latinLnBrk="0" hangingPunct="1">
              <a:lnSpc>
                <a:spcPct val="100000"/>
              </a:lnSpc>
              <a:spcBef>
                <a:spcPts val="0"/>
              </a:spcBef>
              <a:spcAft>
                <a:spcPts val="1800"/>
              </a:spcAft>
              <a:buClrTx/>
              <a:buSzTx/>
              <a:buFont typeface="Arial" panose="020B0604020202020204" pitchFamily="34" charset="0"/>
              <a:buNone/>
              <a:tabLst/>
              <a:defRPr/>
            </a:pPr>
            <a:r>
              <a:rPr lang="en-US" sz="4400" b="1" dirty="0">
                <a:effectLst/>
                <a:ea typeface="Calibri" panose="020F0502020204030204" pitchFamily="34" charset="0"/>
                <a:cs typeface="Times New Roman" panose="02020603050405020304" pitchFamily="18" charset="0"/>
              </a:rPr>
              <a:t>CLICK</a:t>
            </a:r>
            <a:endParaRPr lang="en-US" sz="4400" b="0" dirty="0"/>
          </a:p>
          <a:p>
            <a:pPr marL="182880" lvl="0" indent="-182880">
              <a:spcBef>
                <a:spcPts val="0"/>
              </a:spcBef>
              <a:spcAft>
                <a:spcPts val="1800"/>
              </a:spcAft>
              <a:buFont typeface="Arial" panose="020B0604020202020204" pitchFamily="34" charset="0"/>
              <a:buChar char="•"/>
              <a:defRPr/>
            </a:pPr>
            <a:r>
              <a:rPr lang="en-US" sz="4400" b="0" dirty="0"/>
              <a:t>In a 1996 letter from the Department of Justice in response to Senator Tom Harkin question about the accessibility of web pages on the internet, said covered entities under the ADA are required to provide effective communication, regardless of whether they generally communicate through print media, audio media, or computerized media such as the internet. </a:t>
            </a:r>
          </a:p>
          <a:p>
            <a:pPr marL="86868" lvl="0" indent="-342900">
              <a:spcBef>
                <a:spcPts val="0"/>
              </a:spcBef>
              <a:spcAft>
                <a:spcPts val="1800"/>
              </a:spcAft>
              <a:defRPr/>
            </a:pPr>
            <a:r>
              <a:rPr lang="en-US" sz="4400" b="0" dirty="0"/>
              <a:t>Moving onto slide 4</a:t>
            </a:r>
          </a:p>
        </p:txBody>
      </p:sp>
      <p:sp>
        <p:nvSpPr>
          <p:cNvPr id="4" name="Slide Number Placeholder 3"/>
          <p:cNvSpPr>
            <a:spLocks noGrp="1"/>
          </p:cNvSpPr>
          <p:nvPr>
            <p:ph type="sldNum" sz="quarter" idx="5"/>
          </p:nvPr>
        </p:nvSpPr>
        <p:spPr/>
        <p:txBody>
          <a:bodyPr/>
          <a:lstStyle/>
          <a:p>
            <a:fld id="{40E60467-868E-4120-BCCD-97469C488C52}" type="slidenum">
              <a:rPr lang="en-US" smtClean="0"/>
              <a:t>3</a:t>
            </a:fld>
            <a:endParaRPr lang="en-US" dirty="0"/>
          </a:p>
        </p:txBody>
      </p:sp>
    </p:spTree>
    <p:extLst>
      <p:ext uri="{BB962C8B-B14F-4D97-AF65-F5344CB8AC3E}">
        <p14:creationId xmlns:p14="http://schemas.microsoft.com/office/powerpoint/2010/main" val="2186237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89F88-C7D6-650F-D813-A9AA8479A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B2AFD-8A79-E7C0-DE3A-BA4E44965C65}"/>
              </a:ext>
            </a:extLst>
          </p:cNvPr>
          <p:cNvSpPr>
            <a:spLocks noGrp="1" noRot="1" noChangeAspect="1"/>
          </p:cNvSpPr>
          <p:nvPr>
            <p:ph type="sldImg"/>
          </p:nvPr>
        </p:nvSpPr>
        <p:spPr>
          <a:xfrm>
            <a:off x="685800" y="307975"/>
            <a:ext cx="5486400" cy="3086100"/>
          </a:xfrm>
        </p:spPr>
      </p:sp>
      <p:sp>
        <p:nvSpPr>
          <p:cNvPr id="3" name="Notes Placeholder 2">
            <a:extLst>
              <a:ext uri="{FF2B5EF4-FFF2-40B4-BE49-F238E27FC236}">
                <a16:creationId xmlns:a16="http://schemas.microsoft.com/office/drawing/2014/main" id="{87F71617-291B-E147-80C0-25E6F829F5D9}"/>
              </a:ext>
            </a:extLst>
          </p:cNvPr>
          <p:cNvSpPr>
            <a:spLocks noGrp="1"/>
          </p:cNvSpPr>
          <p:nvPr>
            <p:ph type="body" idx="1"/>
          </p:nvPr>
        </p:nvSpPr>
        <p:spPr>
          <a:xfrm>
            <a:off x="282221" y="3510844"/>
            <a:ext cx="6333067" cy="5452534"/>
          </a:xfrm>
        </p:spPr>
        <p:txBody>
          <a:bodyPr/>
          <a:lstStyle/>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Covered entities must provide auxiliary aids and services when needed to communicate effectively with people who have communication disabilities at no extra cost.</a:t>
            </a:r>
          </a:p>
          <a:p>
            <a:pPr marL="0" marR="0" lvl="0" indent="0" algn="l" defTabSz="914400" rtl="0" eaLnBrk="1" fontAlgn="auto" latinLnBrk="0" hangingPunct="1">
              <a:lnSpc>
                <a:spcPct val="115000"/>
              </a:lnSpc>
              <a:spcBef>
                <a:spcPct val="0"/>
              </a:spcBef>
              <a:spcAft>
                <a:spcPts val="981"/>
              </a:spcAft>
              <a:buClrTx/>
              <a:buSzTx/>
              <a:buFont typeface="Arial" panose="020B0604020202020204" pitchFamily="34" charset="0"/>
              <a:buNone/>
              <a:tabLst/>
              <a:defRPr/>
            </a:pPr>
            <a:r>
              <a:rPr lang="en-US" sz="2000" b="1" i="0" dirty="0">
                <a:solidFill>
                  <a:srgbClr val="000000"/>
                </a:solidFill>
                <a:effectLst/>
              </a:rPr>
              <a:t>CLICK</a:t>
            </a:r>
            <a:endParaRPr lang="en-US" sz="2000" b="0" i="0" dirty="0">
              <a:solidFill>
                <a:srgbClr val="000000"/>
              </a:solidFill>
              <a:effectLst/>
            </a:endParaRP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Effective communication is when a person with a vision, hearing, or speech disability can communicate with, receive information from, and convey information to the covered entity</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For example, providing a sign language interpreter or real-time captioning for individuals who are deaf or have hearing loss.  Or providing a large print or accessible electronic copy of a document for individuals with low vision or blindness.</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Displayed on this slide are photos of tactile signing, two people signing, and a person using a communication pad.</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The communication must be provided in a manner that enables people with disabilities to participate in or benefit from the service or program on an equal basis with others, unless to do so would result in a fundamental alteration to the program or in undue financial or administrative burden </a:t>
            </a:r>
          </a:p>
          <a:p>
            <a:pPr marL="0" indent="0">
              <a:lnSpc>
                <a:spcPct val="115000"/>
              </a:lnSpc>
              <a:spcBef>
                <a:spcPct val="0"/>
              </a:spcBef>
              <a:spcAft>
                <a:spcPts val="981"/>
              </a:spcAft>
              <a:buFont typeface="Arial" panose="020B0604020202020204" pitchFamily="34" charset="0"/>
              <a:buNone/>
            </a:pPr>
            <a:r>
              <a:rPr lang="en-US" sz="2000" b="1" i="0" dirty="0">
                <a:solidFill>
                  <a:srgbClr val="000000"/>
                </a:solidFill>
                <a:effectLst/>
              </a:rPr>
              <a:t>CLICK</a:t>
            </a:r>
            <a:endParaRPr lang="en-US" sz="2000" b="0" i="0" dirty="0">
              <a:solidFill>
                <a:srgbClr val="000000"/>
              </a:solidFill>
              <a:effectLst/>
            </a:endParaRPr>
          </a:p>
          <a:p>
            <a:pPr marL="171450" marR="0" lvl="0" indent="-171450" algn="l" defTabSz="914400" rtl="0" eaLnBrk="1" fontAlgn="auto" latinLnBrk="0" hangingPunct="1">
              <a:lnSpc>
                <a:spcPct val="115000"/>
              </a:lnSpc>
              <a:spcBef>
                <a:spcPct val="0"/>
              </a:spcBef>
              <a:spcAft>
                <a:spcPts val="981"/>
              </a:spcAft>
              <a:buClrTx/>
              <a:buSzTx/>
              <a:buFont typeface="Arial" panose="020B0604020202020204" pitchFamily="34" charset="0"/>
              <a:buChar char="•"/>
              <a:tabLst/>
              <a:defRPr/>
            </a:pPr>
            <a:r>
              <a:rPr lang="en-US" sz="2000" b="0" i="0" dirty="0">
                <a:solidFill>
                  <a:srgbClr val="000000"/>
                </a:solidFill>
                <a:effectLst/>
              </a:rPr>
              <a:t>This requirement also applies to communicating with not only the person who is receiving the covered entity’s goods or services but as well as with that person’s parent, spouse, or companion in appropriate circumstances.</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People with disabilities need to be given the opportunity to request the auxiliary aid or service of their choice. </a:t>
            </a:r>
          </a:p>
          <a:p>
            <a:pPr marL="0" indent="0">
              <a:lnSpc>
                <a:spcPct val="115000"/>
              </a:lnSpc>
              <a:spcBef>
                <a:spcPct val="0"/>
              </a:spcBef>
              <a:spcAft>
                <a:spcPts val="981"/>
              </a:spcAft>
              <a:buFont typeface="Arial" panose="020B0604020202020204" pitchFamily="34" charset="0"/>
              <a:buNone/>
            </a:pPr>
            <a:r>
              <a:rPr lang="en-US" sz="2000" b="1" i="0" dirty="0">
                <a:solidFill>
                  <a:srgbClr val="000000"/>
                </a:solidFill>
                <a:effectLst/>
              </a:rPr>
              <a:t>CLICK</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State and Local Governments must honor that choice unless it can demonstrate that another equally effective means of communication is available or that the aid requested would result in a fundamental alteration or an undue. </a:t>
            </a:r>
          </a:p>
          <a:p>
            <a:pPr marL="0" indent="0">
              <a:lnSpc>
                <a:spcPct val="115000"/>
              </a:lnSpc>
              <a:spcBef>
                <a:spcPct val="0"/>
              </a:spcBef>
              <a:spcAft>
                <a:spcPts val="981"/>
              </a:spcAft>
              <a:buFont typeface="Arial" panose="020B0604020202020204" pitchFamily="34" charset="0"/>
              <a:buNone/>
            </a:pPr>
            <a:r>
              <a:rPr lang="en-US" sz="2000" b="1" i="0" dirty="0">
                <a:solidFill>
                  <a:srgbClr val="000000"/>
                </a:solidFill>
                <a:effectLst/>
              </a:rPr>
              <a:t>CLICK</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Businesses are encouraged to honor the individual with disability’s choice, but effective communication must be the end result.</a:t>
            </a:r>
          </a:p>
          <a:p>
            <a:pPr marL="171450" indent="-171450">
              <a:lnSpc>
                <a:spcPct val="115000"/>
              </a:lnSpc>
              <a:spcBef>
                <a:spcPct val="0"/>
              </a:spcBef>
              <a:spcAft>
                <a:spcPts val="981"/>
              </a:spcAft>
              <a:buFont typeface="Arial" panose="020B0604020202020204" pitchFamily="34" charset="0"/>
              <a:buChar char="•"/>
            </a:pPr>
            <a:r>
              <a:rPr lang="en-US" sz="2000" b="0" i="0" dirty="0">
                <a:solidFill>
                  <a:srgbClr val="000000"/>
                </a:solidFill>
                <a:effectLst/>
              </a:rPr>
              <a:t>Keep in mind the individual with a disability is in the best position to determine what type of aid or service will be effective.</a:t>
            </a:r>
          </a:p>
          <a:p>
            <a:pPr marL="0" indent="0">
              <a:lnSpc>
                <a:spcPct val="115000"/>
              </a:lnSpc>
              <a:spcBef>
                <a:spcPct val="0"/>
              </a:spcBef>
              <a:spcAft>
                <a:spcPts val="981"/>
              </a:spcAft>
              <a:buFont typeface="Arial" panose="020B0604020202020204" pitchFamily="34" charset="0"/>
              <a:buNone/>
            </a:pPr>
            <a:r>
              <a:rPr lang="en-US" sz="2000" b="0" i="0" dirty="0">
                <a:solidFill>
                  <a:srgbClr val="000000"/>
                </a:solidFill>
                <a:effectLst/>
              </a:rPr>
              <a:t>Moving onto slide 5</a:t>
            </a:r>
          </a:p>
        </p:txBody>
      </p:sp>
      <p:sp>
        <p:nvSpPr>
          <p:cNvPr id="4" name="Slide Number Placeholder 3">
            <a:extLst>
              <a:ext uri="{FF2B5EF4-FFF2-40B4-BE49-F238E27FC236}">
                <a16:creationId xmlns:a16="http://schemas.microsoft.com/office/drawing/2014/main" id="{3E1C3937-A0F3-AB77-FFB9-0AA9F3EF45DC}"/>
              </a:ext>
            </a:extLst>
          </p:cNvPr>
          <p:cNvSpPr>
            <a:spLocks noGrp="1"/>
          </p:cNvSpPr>
          <p:nvPr>
            <p:ph type="sldNum" sz="quarter" idx="5"/>
          </p:nvPr>
        </p:nvSpPr>
        <p:spPr/>
        <p:txBody>
          <a:bodyPr/>
          <a:lstStyle/>
          <a:p>
            <a:fld id="{40E60467-868E-4120-BCCD-97469C488C52}" type="slidenum">
              <a:rPr lang="en-US" smtClean="0"/>
              <a:t>4</a:t>
            </a:fld>
            <a:endParaRPr lang="en-US" dirty="0"/>
          </a:p>
        </p:txBody>
      </p:sp>
    </p:spTree>
    <p:extLst>
      <p:ext uri="{BB962C8B-B14F-4D97-AF65-F5344CB8AC3E}">
        <p14:creationId xmlns:p14="http://schemas.microsoft.com/office/powerpoint/2010/main" val="3720152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96838"/>
            <a:ext cx="5575300" cy="3135312"/>
          </a:xfrm>
        </p:spPr>
      </p:sp>
      <p:sp>
        <p:nvSpPr>
          <p:cNvPr id="3" name="Notes Placeholder 2"/>
          <p:cNvSpPr>
            <a:spLocks noGrp="1"/>
          </p:cNvSpPr>
          <p:nvPr>
            <p:ph type="body" idx="1"/>
          </p:nvPr>
        </p:nvSpPr>
        <p:spPr>
          <a:xfrm>
            <a:off x="116734" y="3232150"/>
            <a:ext cx="6611444" cy="5748338"/>
          </a:xfrm>
        </p:spPr>
        <p:txBody>
          <a:bodyPr/>
          <a:lstStyle/>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State and local governments and businesses have formal and informal policies, practices, and procedures that keep them running smoothly.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However, sometimes, these policies or procedures can inadvertently make it difficult or impossible for a customer with a disability to access goods and services.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That is why the ADA requires covered entities to make “reasonable modifications” to their usual ways of doing things when serving people with disabilities. </a:t>
            </a:r>
          </a:p>
          <a:p>
            <a:pPr marL="0" marR="0" lvl="0" indent="0">
              <a:spcBef>
                <a:spcPts val="0"/>
              </a:spcBef>
              <a:spcAft>
                <a:spcPts val="0"/>
              </a:spcAft>
              <a:buFont typeface="Symbol" panose="05050102010706020507" pitchFamily="18" charset="2"/>
              <a:buNone/>
            </a:pPr>
            <a:r>
              <a:rPr lang="en-US" sz="1400" b="1" kern="100" dirty="0">
                <a:effectLst/>
                <a:ea typeface="Calibri" panose="020F0502020204030204" pitchFamily="34" charset="0"/>
                <a:cs typeface="Times New Roman" panose="02020603050405020304" pitchFamily="18" charset="0"/>
              </a:rPr>
              <a:t>CLICK</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The purpose is not to provide an advantage but to make a person with a disability’s opportunity and access to the activities, programs, goods, and services equal to someone without a disability. </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en-US" sz="1400" b="1" kern="100" dirty="0">
                <a:effectLst/>
                <a:ea typeface="Calibri" panose="020F0502020204030204" pitchFamily="34" charset="0"/>
                <a:cs typeface="Times New Roman" panose="02020603050405020304" pitchFamily="18" charset="0"/>
              </a:rPr>
              <a:t>CLICK</a:t>
            </a:r>
            <a:endParaRPr lang="en-US" sz="1400" kern="100" dirty="0">
              <a:effectLst/>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This is also demonstrated by the equality vs. equity image described in the 5 titles of the ADA presentation when we discussed employment accommodations.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There are no “cookie cutter” approaches, and most modifications involve only minor adjustments in policies or practices.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For example, a daycare center that has two scheduled snack times must modify this policy to allow a child with diabetes to bring food for an extra snack if necessary.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A clothing store must modify a policy of permitting only one person at a time in a dressing room for a person with a disability who is shopping with a companion and needs the companion’s assistance to try on clothes.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Other examples of Reasonable Modifications include:</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Permitting a service animal in a place where animals are typically not allowed, such as a cafeteria or a courtroom.</a:t>
            </a:r>
          </a:p>
          <a:p>
            <a:pPr marL="342900" marR="0" lvl="0" indent="-342900">
              <a:spcBef>
                <a:spcPts val="0"/>
              </a:spcBef>
              <a:spcAft>
                <a:spcPts val="0"/>
              </a:spcAft>
              <a:buFont typeface="Symbol" panose="05050102010706020507" pitchFamily="18" charset="2"/>
              <a:buChar char=""/>
            </a:pPr>
            <a:r>
              <a:rPr lang="en-US" sz="1400" kern="100">
                <a:effectLst/>
                <a:ea typeface="Calibri" panose="020F0502020204030204" pitchFamily="34" charset="0"/>
                <a:cs typeface="Times New Roman" panose="02020603050405020304" pitchFamily="18" charset="0"/>
              </a:rPr>
              <a:t>Or granting </a:t>
            </a:r>
            <a:r>
              <a:rPr lang="en-US" sz="1400" kern="100" dirty="0">
                <a:effectLst/>
                <a:ea typeface="Calibri" panose="020F0502020204030204" pitchFamily="34" charset="0"/>
                <a:cs typeface="Times New Roman" panose="02020603050405020304" pitchFamily="18" charset="0"/>
              </a:rPr>
              <a:t>a zoning variance to allow a ramp to be built inside a setback.</a:t>
            </a:r>
          </a:p>
          <a:p>
            <a:pPr marL="0" marR="0" lvl="0" indent="0">
              <a:spcBef>
                <a:spcPts val="0"/>
              </a:spcBef>
              <a:spcAft>
                <a:spcPts val="0"/>
              </a:spcAft>
              <a:buFont typeface="Symbol" panose="05050102010706020507" pitchFamily="18" charset="2"/>
              <a:buNone/>
            </a:pPr>
            <a:r>
              <a:rPr lang="en-US" sz="1400" b="1" kern="100" dirty="0">
                <a:effectLst/>
                <a:ea typeface="Calibri" panose="020F0502020204030204" pitchFamily="34" charset="0"/>
                <a:cs typeface="Times New Roman" panose="02020603050405020304" pitchFamily="18" charset="0"/>
              </a:rPr>
              <a:t>CLICK</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Covered entities are not required to provide the requested or “preferred” modification if they can provide an alternative that would be reasonable and effective.</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A modification may be appropriate under some circumstances but not others.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For example, a transcription service for a student with hearing loss may be appropriate in a lecture where the communication is generally one-sided. If a student needs to participate in class discussions, a </a:t>
            </a:r>
            <a:r>
              <a:rPr lang="en-US" sz="1400" b="0" i="0" dirty="0">
                <a:solidFill>
                  <a:srgbClr val="000000"/>
                </a:solidFill>
                <a:effectLst/>
              </a:rPr>
              <a:t>sign language interpreter </a:t>
            </a:r>
            <a:r>
              <a:rPr lang="en-US" sz="1400" kern="100" dirty="0">
                <a:effectLst/>
                <a:ea typeface="Calibri" panose="020F0502020204030204" pitchFamily="34" charset="0"/>
                <a:cs typeface="Times New Roman" panose="02020603050405020304" pitchFamily="18" charset="0"/>
              </a:rPr>
              <a:t>may be more appropriate.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Not all modifications will be the same for the same limitation/disability</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Disability manifests itself differently in different people, and individuals have their own coping mechanisms and responses to the limitations that they may experience</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Some conditions can be episodic in nature and require different responses at different times</a:t>
            </a:r>
          </a:p>
          <a:p>
            <a:pPr marL="0" marR="0" lvl="0" indent="0">
              <a:spcBef>
                <a:spcPts val="0"/>
              </a:spcBef>
              <a:spcAft>
                <a:spcPts val="0"/>
              </a:spcAft>
              <a:buFont typeface="Symbol" panose="05050102010706020507" pitchFamily="18" charset="2"/>
              <a:buNone/>
            </a:pPr>
            <a:r>
              <a:rPr lang="en-US" sz="1400" b="1" kern="100" dirty="0">
                <a:effectLst/>
                <a:ea typeface="Calibri" panose="020F0502020204030204" pitchFamily="34" charset="0"/>
                <a:cs typeface="Times New Roman" panose="02020603050405020304" pitchFamily="18" charset="0"/>
              </a:rPr>
              <a:t>CLICK</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Reasonable modification does NOT include: </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Tolerating or excusing violent or abusive behaviors or providing personal services such as toileting, feeding, clothing and medication management, etc.</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“Personal services” do not include minor assistance provided to individuals with disabilities such as retrieving items from shelves, providing curb service or home delivery, removing the cover from a customer's straw, a cook in a restaurant cutting up food into smaller pieces, or a bank teller filling out a deposit slip</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If a public accommodation, such as a hospital or nursing home, customarily provides its clients with what might otherwise be considered services of a personal nature, it must provide the same services for individuals with disabilities.</a:t>
            </a:r>
          </a:p>
          <a:p>
            <a:pPr marL="342900" marR="0" lvl="0" indent="-342900">
              <a:spcBef>
                <a:spcPts val="0"/>
              </a:spcBef>
              <a:spcAft>
                <a:spcPts val="0"/>
              </a:spcAft>
              <a:buFont typeface="Symbol" panose="05050102010706020507" pitchFamily="18" charset="2"/>
              <a:buChar char=""/>
            </a:pPr>
            <a:r>
              <a:rPr lang="en-US" sz="1400" kern="100" dirty="0">
                <a:effectLst/>
                <a:ea typeface="Calibri" panose="020F0502020204030204" pitchFamily="34" charset="0"/>
                <a:cs typeface="Times New Roman" panose="02020603050405020304" pitchFamily="18" charset="0"/>
              </a:rPr>
              <a:t>Moving onto slide 6</a:t>
            </a:r>
          </a:p>
        </p:txBody>
      </p:sp>
      <p:sp>
        <p:nvSpPr>
          <p:cNvPr id="4" name="Slide Number Placeholder 3"/>
          <p:cNvSpPr>
            <a:spLocks noGrp="1"/>
          </p:cNvSpPr>
          <p:nvPr>
            <p:ph type="sldNum" sz="quarter" idx="5"/>
          </p:nvPr>
        </p:nvSpPr>
        <p:spPr/>
        <p:txBody>
          <a:bodyPr/>
          <a:lstStyle/>
          <a:p>
            <a:fld id="{CC8490EB-BBD6-44CF-B6C3-E25565D38F0B}" type="slidenum">
              <a:rPr lang="en-US" smtClean="0"/>
              <a:t>5</a:t>
            </a:fld>
            <a:endParaRPr lang="en-US" dirty="0"/>
          </a:p>
        </p:txBody>
      </p:sp>
    </p:spTree>
    <p:extLst>
      <p:ext uri="{BB962C8B-B14F-4D97-AF65-F5344CB8AC3E}">
        <p14:creationId xmlns:p14="http://schemas.microsoft.com/office/powerpoint/2010/main" val="2148196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50825"/>
            <a:ext cx="5486400" cy="3086100"/>
          </a:xfrm>
        </p:spPr>
      </p:sp>
      <p:sp>
        <p:nvSpPr>
          <p:cNvPr id="3" name="Notes Placeholder 2"/>
          <p:cNvSpPr>
            <a:spLocks noGrp="1"/>
          </p:cNvSpPr>
          <p:nvPr>
            <p:ph type="body" idx="1"/>
          </p:nvPr>
        </p:nvSpPr>
        <p:spPr>
          <a:xfrm>
            <a:off x="316089" y="3486149"/>
            <a:ext cx="6276622" cy="5407025"/>
          </a:xfrm>
        </p:spPr>
        <p:txBody>
          <a:bodyPr/>
          <a:lstStyle/>
          <a:p>
            <a:pPr marL="342900" indent="-342900">
              <a:lnSpc>
                <a:spcPct val="100000"/>
              </a:lnSpc>
              <a:spcBef>
                <a:spcPts val="0"/>
              </a:spcBef>
              <a:spcAft>
                <a:spcPts val="1800"/>
              </a:spcAft>
              <a:buFont typeface="Arial" panose="020B0604020202020204" pitchFamily="34" charset="0"/>
              <a:buChar char="•"/>
            </a:pPr>
            <a:r>
              <a:rPr lang="en-US" sz="2400" dirty="0">
                <a:solidFill>
                  <a:prstClr val="black"/>
                </a:solidFill>
              </a:rPr>
              <a:t>Let’s take a look at a modification scenario</a:t>
            </a:r>
          </a:p>
          <a:p>
            <a:pPr marL="342900" indent="-342900">
              <a:lnSpc>
                <a:spcPct val="100000"/>
              </a:lnSpc>
              <a:spcBef>
                <a:spcPts val="0"/>
              </a:spcBef>
              <a:spcAft>
                <a:spcPts val="1800"/>
              </a:spcAft>
              <a:buFont typeface="Arial" panose="020B0604020202020204" pitchFamily="34" charset="0"/>
              <a:buChar char="•"/>
            </a:pPr>
            <a:r>
              <a:rPr lang="en-US" sz="2300" dirty="0">
                <a:solidFill>
                  <a:prstClr val="black"/>
                </a:solidFill>
              </a:rPr>
              <a:t>A city ordinance states homeowners must remove snow from their sidewalks within 48 hours. A resident with a disability that inhibits their ability to shovel snow requests the city provide snow removal service as a reasonable modification. </a:t>
            </a:r>
          </a:p>
          <a:p>
            <a:pPr marL="342900" indent="-342900">
              <a:lnSpc>
                <a:spcPct val="100000"/>
              </a:lnSpc>
              <a:spcBef>
                <a:spcPts val="0"/>
              </a:spcBef>
              <a:spcAft>
                <a:spcPts val="1800"/>
              </a:spcAft>
              <a:buFont typeface="Arial" panose="020B0604020202020204" pitchFamily="34" charset="0"/>
              <a:buChar char="•"/>
            </a:pPr>
            <a:r>
              <a:rPr lang="en-US" sz="2300" dirty="0">
                <a:solidFill>
                  <a:prstClr val="black"/>
                </a:solidFill>
              </a:rPr>
              <a:t>Is the city obligated to provide this? </a:t>
            </a:r>
          </a:p>
          <a:p>
            <a:pPr>
              <a:lnSpc>
                <a:spcPct val="100000"/>
              </a:lnSpc>
              <a:spcBef>
                <a:spcPts val="0"/>
              </a:spcBef>
              <a:spcAft>
                <a:spcPts val="1800"/>
              </a:spcAft>
            </a:pPr>
            <a:r>
              <a:rPr lang="en-US" sz="2300" b="1" dirty="0">
                <a:solidFill>
                  <a:prstClr val="black"/>
                </a:solidFill>
              </a:rPr>
              <a:t>CLICK</a:t>
            </a:r>
          </a:p>
          <a:p>
            <a:pPr marL="342900" indent="-342900">
              <a:lnSpc>
                <a:spcPct val="100000"/>
              </a:lnSpc>
              <a:spcBef>
                <a:spcPts val="0"/>
              </a:spcBef>
              <a:spcAft>
                <a:spcPts val="1800"/>
              </a:spcAft>
              <a:buFont typeface="Arial" panose="020B0604020202020204" pitchFamily="34" charset="0"/>
              <a:buChar char="•"/>
            </a:pPr>
            <a:r>
              <a:rPr lang="en-US" sz="2300" b="0" dirty="0">
                <a:effectLst/>
                <a:ea typeface="Calibri" panose="020F0502020204030204" pitchFamily="34" charset="0"/>
              </a:rPr>
              <a:t>NO. </a:t>
            </a:r>
            <a:r>
              <a:rPr lang="en-US" sz="2300" dirty="0">
                <a:effectLst/>
                <a:ea typeface="Calibri" panose="020F0502020204030204" pitchFamily="34" charset="0"/>
              </a:rPr>
              <a:t>The ADA does not require a city government to provide snow removal service for the private driveways of residents with disabilities if the city does not provide such service for residents without disabilities.</a:t>
            </a:r>
          </a:p>
          <a:p>
            <a:pPr marL="0" indent="0">
              <a:lnSpc>
                <a:spcPct val="100000"/>
              </a:lnSpc>
              <a:spcBef>
                <a:spcPts val="0"/>
              </a:spcBef>
              <a:spcAft>
                <a:spcPts val="1800"/>
              </a:spcAft>
              <a:buFontTx/>
              <a:buNone/>
            </a:pPr>
            <a:r>
              <a:rPr lang="en-US" sz="2300" dirty="0">
                <a:solidFill>
                  <a:prstClr val="black"/>
                </a:solidFill>
                <a:effectLst/>
              </a:rPr>
              <a:t>Moving on to slide 7</a:t>
            </a:r>
            <a:endParaRPr lang="en-US" sz="2300" dirty="0">
              <a:solidFill>
                <a:prstClr val="black"/>
              </a:solidFill>
            </a:endParaRP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6</a:t>
            </a:fld>
            <a:endParaRPr lang="en-US" dirty="0"/>
          </a:p>
        </p:txBody>
      </p:sp>
    </p:spTree>
    <p:extLst>
      <p:ext uri="{BB962C8B-B14F-4D97-AF65-F5344CB8AC3E}">
        <p14:creationId xmlns:p14="http://schemas.microsoft.com/office/powerpoint/2010/main" val="957980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AEBD-9027-5A4C-5D8F-137205348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6E199-AC73-2336-147C-4367F335861B}"/>
              </a:ext>
            </a:extLst>
          </p:cNvPr>
          <p:cNvSpPr>
            <a:spLocks noGrp="1" noRot="1" noChangeAspect="1"/>
          </p:cNvSpPr>
          <p:nvPr>
            <p:ph type="sldImg"/>
          </p:nvPr>
        </p:nvSpPr>
        <p:spPr>
          <a:xfrm>
            <a:off x="685800" y="60325"/>
            <a:ext cx="5486400" cy="3086100"/>
          </a:xfrm>
        </p:spPr>
      </p:sp>
      <p:sp>
        <p:nvSpPr>
          <p:cNvPr id="3" name="Notes Placeholder 2">
            <a:extLst>
              <a:ext uri="{FF2B5EF4-FFF2-40B4-BE49-F238E27FC236}">
                <a16:creationId xmlns:a16="http://schemas.microsoft.com/office/drawing/2014/main" id="{23F6F117-3E0F-A04A-2649-F155D7DDF3E6}"/>
              </a:ext>
            </a:extLst>
          </p:cNvPr>
          <p:cNvSpPr>
            <a:spLocks noGrp="1"/>
          </p:cNvSpPr>
          <p:nvPr>
            <p:ph type="body" idx="1"/>
          </p:nvPr>
        </p:nvSpPr>
        <p:spPr>
          <a:xfrm>
            <a:off x="169333" y="3146425"/>
            <a:ext cx="6513689" cy="5828242"/>
          </a:xfrm>
        </p:spPr>
        <p:txBody>
          <a:bodyPr/>
          <a:lstStyle/>
          <a:p>
            <a:pPr marL="171450" marR="0" lvl="0" indent="-171450" algn="l" defTabSz="914400" rtl="0" eaLnBrk="1" fontAlgn="auto" latinLnBrk="0" hangingPunct="1">
              <a:buClrTx/>
              <a:buSzTx/>
              <a:buFont typeface="Arial" panose="020B0604020202020204" pitchFamily="34" charset="0"/>
              <a:buChar char="•"/>
              <a:tabLst/>
              <a:defRPr/>
            </a:pPr>
            <a:r>
              <a:rPr lang="en-US" altLang="en-US" dirty="0"/>
              <a:t>Covered entities must allow service animals to go to most places where the public can go.</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A service animal is defined as a dog of any breed or size that has been individually trained to do work or perform tasks for an individual with a disability.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Displayed on this slide is a photo of a service dog alerting a person of their blood sugar levels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dirty="0"/>
              <a:t>The ADA doesn’t require service animals to be professionally trained. People with disabilities have the right to train a dog themselves and are not required to use a professional service dog training program.</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Covered entities must also modify policies to permit miniature horses as a service animal where reasonable.</a:t>
            </a:r>
          </a:p>
          <a:p>
            <a:pPr marL="0" marR="0" lvl="0" indent="0" algn="l" defTabSz="914400" rtl="0" eaLnBrk="1" fontAlgn="auto" latinLnBrk="0" hangingPunct="1">
              <a:buClrTx/>
              <a:buSzTx/>
              <a:buFont typeface="Arial" panose="020B0604020202020204" pitchFamily="34" charset="0"/>
              <a:buNone/>
              <a:tabLst/>
              <a:defRPr/>
            </a:pPr>
            <a:r>
              <a:rPr lang="en-US" altLang="en-US" b="1" dirty="0"/>
              <a:t>CLICK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dirty="0"/>
              <a:t>The ADA requires that service animals be under the control of the handler at all times.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In most instances, the handler will be the individual with a disability or a third party who accompanies the individual with a disability.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In primary school and in similar settings, the school or similar entity may need to provide some assistance to enable a particular student to handle their service animal.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The service animal must be harnessed, leashed, or tethered while in public places unless these devices interfere with the service animal’s work or the person’s disability prevents the use of these devices.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In that case, the person must use voice, signal, or other effective means to maintain control of the animal.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For example, a person who uses a wheelchair may use a long, retractable leash to allow their service animal to pick up or retrieve items. The person may not allow the dog to wander away from them and must maintain control of the dog, even if it is retrieving an item at a distance from them. </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Or, a returning veteran who has Post Traumatic Stress Disorder and has great difficulty entering unfamiliar spaces may have a dog that is trained to enter a space, check to see that no threats are there, and come back and signal that it is safe to enter. </a:t>
            </a:r>
          </a:p>
          <a:p>
            <a:pPr marL="0" marR="0" lvl="0" indent="0" algn="l" defTabSz="914400" rtl="0" eaLnBrk="1" fontAlgn="auto" latinLnBrk="0" hangingPunct="1">
              <a:buClrTx/>
              <a:buSzTx/>
              <a:buFont typeface="Arial" panose="020B0604020202020204" pitchFamily="34" charset="0"/>
              <a:buNone/>
              <a:tabLst/>
              <a:defRPr/>
            </a:pPr>
            <a:r>
              <a:rPr lang="en-US" altLang="en-US" b="1" dirty="0"/>
              <a:t>TRIPLE CLICK</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Covered entities can ask someone to remove their service animal if:</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The dog is out of control, and the person cannot get the dog under control.</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Or the dog is not housebroken.</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The entity must still allow the person with a disability to participate in the goods and services without the excluded service animal and may need to provide reasonable modifications in the absence of the person’s service animal</a:t>
            </a:r>
          </a:p>
          <a:p>
            <a:pPr marL="171450" marR="0" lvl="0" indent="-171450" algn="l" defTabSz="914400" rtl="0" eaLnBrk="1" fontAlgn="auto" latinLnBrk="0" hangingPunct="1">
              <a:buClrTx/>
              <a:buSzTx/>
              <a:buFont typeface="Arial" panose="020B0604020202020204" pitchFamily="34" charset="0"/>
              <a:buChar char="•"/>
              <a:tabLst/>
              <a:defRPr/>
            </a:pPr>
            <a:r>
              <a:rPr lang="en-US" altLang="en-US" dirty="0"/>
              <a:t>Moving onto slide 8</a:t>
            </a:r>
          </a:p>
        </p:txBody>
      </p:sp>
      <p:sp>
        <p:nvSpPr>
          <p:cNvPr id="4" name="Slide Number Placeholder 3">
            <a:extLst>
              <a:ext uri="{FF2B5EF4-FFF2-40B4-BE49-F238E27FC236}">
                <a16:creationId xmlns:a16="http://schemas.microsoft.com/office/drawing/2014/main" id="{106E05E9-FA74-790F-0A63-E3CCAEF5C647}"/>
              </a:ext>
            </a:extLst>
          </p:cNvPr>
          <p:cNvSpPr>
            <a:spLocks noGrp="1"/>
          </p:cNvSpPr>
          <p:nvPr>
            <p:ph type="sldNum" sz="quarter" idx="5"/>
          </p:nvPr>
        </p:nvSpPr>
        <p:spPr/>
        <p:txBody>
          <a:bodyPr/>
          <a:lstStyle/>
          <a:p>
            <a:fld id="{40E60467-868E-4120-BCCD-97469C488C52}" type="slidenum">
              <a:rPr lang="en-US" smtClean="0"/>
              <a:t>7</a:t>
            </a:fld>
            <a:endParaRPr lang="en-US" dirty="0"/>
          </a:p>
        </p:txBody>
      </p:sp>
    </p:spTree>
    <p:extLst>
      <p:ext uri="{BB962C8B-B14F-4D97-AF65-F5344CB8AC3E}">
        <p14:creationId xmlns:p14="http://schemas.microsoft.com/office/powerpoint/2010/main" val="1452886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9288" y="127000"/>
            <a:ext cx="5486400" cy="3086100"/>
          </a:xfrm>
        </p:spPr>
      </p:sp>
      <p:sp>
        <p:nvSpPr>
          <p:cNvPr id="3" name="Notes Placeholder 2"/>
          <p:cNvSpPr>
            <a:spLocks noGrp="1"/>
          </p:cNvSpPr>
          <p:nvPr>
            <p:ph type="body" idx="1"/>
          </p:nvPr>
        </p:nvSpPr>
        <p:spPr>
          <a:xfrm>
            <a:off x="146755" y="3296356"/>
            <a:ext cx="6570133" cy="5720644"/>
          </a:xfrm>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In situations where it is </a:t>
            </a:r>
            <a:r>
              <a:rPr lang="en-US" altLang="en-US" sz="1800" b="0" dirty="0">
                <a:solidFill>
                  <a:schemeClr val="tx1"/>
                </a:solidFill>
              </a:rPr>
              <a:t>not obvious </a:t>
            </a:r>
            <a:r>
              <a:rPr lang="en-US" altLang="en-US" sz="1800" dirty="0">
                <a:solidFill>
                  <a:schemeClr val="tx1"/>
                </a:solidFill>
              </a:rPr>
              <a:t>that the dog is a service animal-covered entity staff may ask only two specific questions: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800" b="1" dirty="0">
                <a:solidFill>
                  <a:schemeClr val="tx1"/>
                </a:solidFill>
              </a:rPr>
              <a:t>CLICK</a:t>
            </a:r>
            <a:endParaRPr lang="en-US" altLang="en-US" sz="18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Is the dog a service animal required because of a disability?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This is a yes or no response.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800" dirty="0">
                <a:solidFill>
                  <a:schemeClr val="tx1"/>
                </a:solidFill>
              </a:rPr>
              <a:t>If a person says yes to this first question, then a covered entity can follow up by asking: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800" b="1" dirty="0">
                <a:solidFill>
                  <a:schemeClr val="tx1"/>
                </a:solidFill>
              </a:rPr>
              <a:t>CLICK</a:t>
            </a:r>
            <a:endParaRPr lang="en-US" altLang="en-US" sz="18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What work or task has the dog been trained to perform?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For example, my service animal alerts me to oncoming attacks so that I may take precautionary measures to manage the attack</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800" b="1" dirty="0">
                <a:solidFill>
                  <a:schemeClr val="tx1"/>
                </a:solidFill>
              </a:rPr>
              <a:t>CLICK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dirty="0"/>
              <a:t>Entities </a:t>
            </a:r>
            <a:r>
              <a:rPr lang="en-US" sz="1800" u="sng" dirty="0"/>
              <a:t>cannot</a:t>
            </a:r>
            <a:r>
              <a:rPr lang="en-US" sz="1800" b="0" dirty="0"/>
              <a:t> ask these questions if the disability and trained work or task are obvious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800" b="1" dirty="0">
                <a:solidFill>
                  <a:schemeClr val="tx1"/>
                </a:solidFill>
              </a:rPr>
              <a:t>CLICK</a:t>
            </a:r>
            <a:endParaRPr lang="en-US" altLang="en-US" sz="18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Staff are not allowed to request any documentation for the </a:t>
            </a:r>
            <a:r>
              <a:rPr lang="en-US" altLang="en-US" sz="1800" dirty="0"/>
              <a:t>service animal</a:t>
            </a:r>
            <a:r>
              <a:rPr lang="en-US" altLang="en-US" sz="1800" dirty="0">
                <a:solidFill>
                  <a:schemeClr val="tx1"/>
                </a:solidFill>
              </a:rPr>
              <a:t>, require that the </a:t>
            </a:r>
            <a:r>
              <a:rPr lang="en-US" altLang="en-US" sz="1800" dirty="0"/>
              <a:t>service animal</a:t>
            </a:r>
            <a:r>
              <a:rPr lang="en-US" altLang="en-US" sz="1800" dirty="0">
                <a:solidFill>
                  <a:schemeClr val="tx1"/>
                </a:solidFill>
              </a:rPr>
              <a:t> demonstrate its task, or inquire about the nature of the person's disability.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Service animals are not required to be certified or go through a professional training program, wear a vest or other ID that indicates they’re a service dog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800" dirty="0">
                <a:solidFill>
                  <a:schemeClr val="tx1"/>
                </a:solidFill>
              </a:rPr>
              <a:t>People with disabilities are not required to register their trained service animals, provide training documentation, carry a special ID card or certificate, disclose their disability, or provide medical documentation of their disability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800" dirty="0">
                <a:solidFill>
                  <a:schemeClr val="tx1"/>
                </a:solidFill>
              </a:rPr>
              <a:t>Moving onto to the final slide, slide 9</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8</a:t>
            </a:fld>
            <a:endParaRPr lang="en-US" dirty="0"/>
          </a:p>
        </p:txBody>
      </p:sp>
    </p:spTree>
    <p:extLst>
      <p:ext uri="{BB962C8B-B14F-4D97-AF65-F5344CB8AC3E}">
        <p14:creationId xmlns:p14="http://schemas.microsoft.com/office/powerpoint/2010/main" val="3787945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To learn more about the concepts reviewed during this training, check out the ADA resources provided in this unit within Brightspace.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If you have questions about the ADA, call your regional ADA Center at 800-949-4232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concludes the </a:t>
            </a:r>
            <a:r>
              <a:rPr lang="en-US" i="1" dirty="0">
                <a:solidFill>
                  <a:srgbClr val="1A2026"/>
                </a:solidFill>
              </a:rPr>
              <a:t>Americans with Disabilities Act</a:t>
            </a:r>
            <a:r>
              <a:rPr lang="en-US" dirty="0"/>
              <a:t> - </a:t>
            </a:r>
            <a:r>
              <a:rPr lang="en-US" sz="1200" b="0" dirty="0">
                <a:solidFill>
                  <a:srgbClr val="1A2026"/>
                </a:solidFill>
              </a:rPr>
              <a:t>ADA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 complete Module 1 - Unit 2: ADA Basics, please complete the ADA Titles Quiz</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 </a:t>
            </a:r>
          </a:p>
        </p:txBody>
      </p:sp>
      <p:sp>
        <p:nvSpPr>
          <p:cNvPr id="4" name="Slide Number Placeholder 3"/>
          <p:cNvSpPr>
            <a:spLocks noGrp="1"/>
          </p:cNvSpPr>
          <p:nvPr>
            <p:ph type="sldNum" sz="quarter" idx="5"/>
          </p:nvPr>
        </p:nvSpPr>
        <p:spPr/>
        <p:txBody>
          <a:bodyPr/>
          <a:lstStyle/>
          <a:p>
            <a:fld id="{40E60467-868E-4120-BCCD-97469C488C52}" type="slidenum">
              <a:rPr lang="en-US" smtClean="0"/>
              <a:t>9</a:t>
            </a:fld>
            <a:endParaRPr lang="en-US" dirty="0"/>
          </a:p>
        </p:txBody>
      </p:sp>
    </p:spTree>
    <p:extLst>
      <p:ext uri="{BB962C8B-B14F-4D97-AF65-F5344CB8AC3E}">
        <p14:creationId xmlns:p14="http://schemas.microsoft.com/office/powerpoint/2010/main" val="3957616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6B697-AADF-4B5B-BDFA-7C5EEA36DACB}"/>
              </a:ext>
            </a:extLst>
          </p:cNvPr>
          <p:cNvSpPr>
            <a:spLocks noGrp="1"/>
          </p:cNvSpPr>
          <p:nvPr>
            <p:ph type="ctrTitle"/>
          </p:nvPr>
        </p:nvSpPr>
        <p:spPr>
          <a:xfrm>
            <a:off x="0" y="2503487"/>
            <a:ext cx="12192000" cy="1006475"/>
          </a:xfrm>
          <a:prstGeom prst="rect">
            <a:avLst/>
          </a:prstGeom>
        </p:spPr>
        <p:txBody>
          <a:bodyPr anchor="b">
            <a:normAutofit/>
          </a:bodyPr>
          <a:lstStyle>
            <a:lvl1pPr algn="ct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DF369B17-3B56-4E4B-8C66-CB4E097840CA}"/>
              </a:ext>
            </a:extLst>
          </p:cNvPr>
          <p:cNvSpPr>
            <a:spLocks noGrp="1"/>
          </p:cNvSpPr>
          <p:nvPr>
            <p:ph type="subTitle" idx="1"/>
          </p:nvPr>
        </p:nvSpPr>
        <p:spPr>
          <a:xfrm>
            <a:off x="1524000" y="3686012"/>
            <a:ext cx="9144000" cy="445987"/>
          </a:xfrm>
          <a:prstGeom prst="rect">
            <a:avLst/>
          </a:prstGeom>
        </p:spPr>
        <p:txBody>
          <a:bodyPr>
            <a:noAutofit/>
          </a:bodyPr>
          <a:lstStyle>
            <a:lvl1pPr marL="0" indent="0" algn="ctr">
              <a:buNone/>
              <a:defRPr sz="26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8AE8C83D-9332-4AA3-A687-19395E8264DF}"/>
              </a:ext>
            </a:extLst>
          </p:cNvPr>
          <p:cNvSpPr>
            <a:spLocks noGrp="1"/>
          </p:cNvSpPr>
          <p:nvPr>
            <p:ph type="sldNum" sz="quarter" idx="12"/>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7" name="Rectangle 6">
            <a:extLst>
              <a:ext uri="{FF2B5EF4-FFF2-40B4-BE49-F238E27FC236}">
                <a16:creationId xmlns:a16="http://schemas.microsoft.com/office/drawing/2014/main" id="{9E3E90D3-3A88-4C42-9FC7-3F8911146C6E}"/>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0" name="Picture 9" descr="Great Lakes ADA Center Logo">
            <a:extLst>
              <a:ext uri="{FF2B5EF4-FFF2-40B4-BE49-F238E27FC236}">
                <a16:creationId xmlns:a16="http://schemas.microsoft.com/office/drawing/2014/main" id="{063C4914-6CDC-4E2A-8601-8D963CA7C5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1" name="TextBox 10">
            <a:extLst>
              <a:ext uri="{FF2B5EF4-FFF2-40B4-BE49-F238E27FC236}">
                <a16:creationId xmlns:a16="http://schemas.microsoft.com/office/drawing/2014/main" id="{7A4361BA-743B-4239-B1F2-F6EBEDCC2EC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Tree>
    <p:extLst>
      <p:ext uri="{BB962C8B-B14F-4D97-AF65-F5344CB8AC3E}">
        <p14:creationId xmlns:p14="http://schemas.microsoft.com/office/powerpoint/2010/main" val="419267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45C6-2D39-4CAA-AAB8-1B99E4A13C9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438BC5F2-7BED-4188-839B-AB7B42659ED6}"/>
              </a:ext>
            </a:extLst>
          </p:cNvPr>
          <p:cNvSpPr>
            <a:spLocks noGrp="1"/>
          </p:cNvSpPr>
          <p:nvPr>
            <p:ph idx="1"/>
          </p:nvPr>
        </p:nvSpPr>
        <p:spPr>
          <a:xfrm>
            <a:off x="838200" y="1823283"/>
            <a:ext cx="10515600" cy="435368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baseline="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0C30E95-B5EC-4389-84F8-9D8ACD4E178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7380DD-8276-4811-83A9-3D963CE4FD7A}"/>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3805A767-A071-4356-B862-8141438BE659}"/>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F7512FE2-31F3-45F6-AB6E-262603B756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10A531D-88C5-4E50-B1B1-77921D291A6D}"/>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5E718D1A-8C96-4B6D-AE6F-5F520AEB52BD}"/>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2" name="Picture 11" descr="A blue and black logo&#10;&#10;Description automatically generated with medium confidence">
            <a:extLst>
              <a:ext uri="{FF2B5EF4-FFF2-40B4-BE49-F238E27FC236}">
                <a16:creationId xmlns:a16="http://schemas.microsoft.com/office/drawing/2014/main" id="{9316E9A4-964C-46CE-873A-2C0820133B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Tree>
    <p:extLst>
      <p:ext uri="{BB962C8B-B14F-4D97-AF65-F5344CB8AC3E}">
        <p14:creationId xmlns:p14="http://schemas.microsoft.com/office/powerpoint/2010/main" val="1726645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C3E6-4F14-4493-A95F-5AE51C3867FA}"/>
              </a:ext>
            </a:extLst>
          </p:cNvPr>
          <p:cNvSpPr>
            <a:spLocks noGrp="1"/>
          </p:cNvSpPr>
          <p:nvPr>
            <p:ph type="title"/>
          </p:nvPr>
        </p:nvSpPr>
        <p:spPr>
          <a:xfrm>
            <a:off x="831850" y="1709738"/>
            <a:ext cx="10515600" cy="2852737"/>
          </a:xfrm>
          <a:prstGeom prst="rect">
            <a:avLst/>
          </a:prstGeom>
        </p:spPr>
        <p:txBody>
          <a:bodyPr anchor="b">
            <a:normAutofit/>
          </a:bodyPr>
          <a:lstStyle>
            <a:lvl1pP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B30AC31A-C92F-4518-ABEE-8CD6CA202F4A}"/>
              </a:ext>
            </a:extLst>
          </p:cNvPr>
          <p:cNvSpPr>
            <a:spLocks noGrp="1"/>
          </p:cNvSpPr>
          <p:nvPr>
            <p:ph type="body" idx="1"/>
          </p:nvPr>
        </p:nvSpPr>
        <p:spPr>
          <a:xfrm>
            <a:off x="831850" y="4589463"/>
            <a:ext cx="10515600" cy="1500187"/>
          </a:xfrm>
          <a:prstGeom prst="rect">
            <a:avLst/>
          </a:prstGeom>
        </p:spPr>
        <p:txBody>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C65140FE-8272-4BBE-AC7A-76C6704F22F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8BE251F-0289-47CA-A1F7-AA5CE80E9FAF}"/>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B4AF4C47-64C5-420C-A05B-CC30B5FCE271}"/>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61A85098-592F-4DC9-8019-4353E5F509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D9BE9B6-9CD1-4605-AE7B-F009A0F30DB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CA5FB1DC-BCDB-4814-B3F4-C086DC3D0551}"/>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835784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E0C3B-3AD2-40B9-B584-A8CB95D95665}"/>
              </a:ext>
            </a:extLst>
          </p:cNvPr>
          <p:cNvSpPr>
            <a:spLocks noGrp="1"/>
          </p:cNvSpPr>
          <p:nvPr>
            <p:ph sz="half" idx="1"/>
          </p:nvPr>
        </p:nvSpPr>
        <p:spPr>
          <a:xfrm>
            <a:off x="838200" y="1823283"/>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8446652-59E9-447E-8DE5-DDC23C203AD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186E85-3B71-426E-970C-250A0BF767DC}"/>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06D4CC1D-9749-47F2-9F1C-4395A5EB78DC}"/>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9B4D940D-154E-4428-8CD8-15247DAD60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CED8A158-8BB6-417C-B6BF-41D3646CAE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2" name="Slide Number Placeholder 5">
            <a:extLst>
              <a:ext uri="{FF2B5EF4-FFF2-40B4-BE49-F238E27FC236}">
                <a16:creationId xmlns:a16="http://schemas.microsoft.com/office/drawing/2014/main" id="{75BFECCB-0466-4C1B-B5D4-ED9D5EFED82E}"/>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3" name="Picture 12" descr="A blue and black logo&#10;&#10;Description automatically generated with medium confidence">
            <a:extLst>
              <a:ext uri="{FF2B5EF4-FFF2-40B4-BE49-F238E27FC236}">
                <a16:creationId xmlns:a16="http://schemas.microsoft.com/office/drawing/2014/main" id="{F3681B53-9206-4AC5-96C2-FE910C0A12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Content Placeholder 2">
            <a:extLst>
              <a:ext uri="{FF2B5EF4-FFF2-40B4-BE49-F238E27FC236}">
                <a16:creationId xmlns:a16="http://schemas.microsoft.com/office/drawing/2014/main" id="{1A1D122C-5EA1-4887-BE48-3D0CC2063A5B}"/>
              </a:ext>
            </a:extLst>
          </p:cNvPr>
          <p:cNvSpPr>
            <a:spLocks noGrp="1"/>
          </p:cNvSpPr>
          <p:nvPr>
            <p:ph sz="half" idx="13"/>
          </p:nvPr>
        </p:nvSpPr>
        <p:spPr>
          <a:xfrm>
            <a:off x="6183560" y="1823282"/>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1869BF63-28BC-4E67-80CA-4A26E9AE9EDE}"/>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60111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B89D18-FEBB-4366-AAF1-9E031C54EE16}"/>
              </a:ext>
            </a:extLst>
          </p:cNvPr>
          <p:cNvSpPr>
            <a:spLocks noGrp="1"/>
          </p:cNvSpPr>
          <p:nvPr>
            <p:ph type="body" idx="1"/>
          </p:nvPr>
        </p:nvSpPr>
        <p:spPr>
          <a:xfrm>
            <a:off x="839787" y="1823283"/>
            <a:ext cx="5311755" cy="681792"/>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0C0206A-6894-4182-86E8-7AD013C4B233}"/>
              </a:ext>
            </a:extLst>
          </p:cNvPr>
          <p:cNvSpPr>
            <a:spLocks noGrp="1"/>
          </p:cNvSpPr>
          <p:nvPr>
            <p:ph type="body" sz="quarter" idx="3"/>
          </p:nvPr>
        </p:nvSpPr>
        <p:spPr>
          <a:xfrm>
            <a:off x="6415503" y="1821446"/>
            <a:ext cx="5311755" cy="681793"/>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a:extLst>
              <a:ext uri="{FF2B5EF4-FFF2-40B4-BE49-F238E27FC236}">
                <a16:creationId xmlns:a16="http://schemas.microsoft.com/office/drawing/2014/main" id="{98CD63A9-E7CA-49AC-ACBE-FA8D1F9AA59E}"/>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6F221F0F-BE4E-4A93-B2EB-02933E330628}"/>
              </a:ext>
            </a:extLst>
          </p:cNvPr>
          <p:cNvSpPr>
            <a:spLocks noGrp="1"/>
          </p:cNvSpPr>
          <p:nvPr>
            <p:ph type="ftr" sz="quarter" idx="11"/>
          </p:nvPr>
        </p:nvSpPr>
        <p:spPr/>
        <p:txBody>
          <a:bodyPr/>
          <a:lstStyle/>
          <a:p>
            <a:endParaRPr lang="en-US" dirty="0"/>
          </a:p>
        </p:txBody>
      </p:sp>
      <p:sp>
        <p:nvSpPr>
          <p:cNvPr id="10" name="Rectangle 9">
            <a:extLst>
              <a:ext uri="{FF2B5EF4-FFF2-40B4-BE49-F238E27FC236}">
                <a16:creationId xmlns:a16="http://schemas.microsoft.com/office/drawing/2014/main" id="{1F777C50-0445-4424-9486-6AE6027BD038}"/>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FBFBEB4D-1F79-48A5-83E1-5B296A7352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888978D7-9BD4-45C1-B334-30DF7DEC778C}"/>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4" name="Slide Number Placeholder 5">
            <a:extLst>
              <a:ext uri="{FF2B5EF4-FFF2-40B4-BE49-F238E27FC236}">
                <a16:creationId xmlns:a16="http://schemas.microsoft.com/office/drawing/2014/main" id="{D54A9D79-D4FF-46CC-85A3-841236EF8DCF}"/>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7" name="Content Placeholder 2">
            <a:extLst>
              <a:ext uri="{FF2B5EF4-FFF2-40B4-BE49-F238E27FC236}">
                <a16:creationId xmlns:a16="http://schemas.microsoft.com/office/drawing/2014/main" id="{144E307B-A373-41F5-A858-679BB34EDFAC}"/>
              </a:ext>
            </a:extLst>
          </p:cNvPr>
          <p:cNvSpPr>
            <a:spLocks noGrp="1"/>
          </p:cNvSpPr>
          <p:nvPr>
            <p:ph sz="half" idx="13"/>
          </p:nvPr>
        </p:nvSpPr>
        <p:spPr>
          <a:xfrm>
            <a:off x="838200" y="2573595"/>
            <a:ext cx="5334000" cy="3472727"/>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3A6B19AB-6343-4688-8712-9DB1D0FEB8C2}"/>
              </a:ext>
            </a:extLst>
          </p:cNvPr>
          <p:cNvSpPr>
            <a:spLocks noGrp="1"/>
          </p:cNvSpPr>
          <p:nvPr>
            <p:ph sz="half" idx="14"/>
          </p:nvPr>
        </p:nvSpPr>
        <p:spPr>
          <a:xfrm>
            <a:off x="6404380" y="2569922"/>
            <a:ext cx="5334000" cy="3476400"/>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9" name="Picture 18" descr="A blue and black logo&#10;&#10;Description automatically generated with medium confidence">
            <a:extLst>
              <a:ext uri="{FF2B5EF4-FFF2-40B4-BE49-F238E27FC236}">
                <a16:creationId xmlns:a16="http://schemas.microsoft.com/office/drawing/2014/main" id="{4E81C796-9A75-4B52-9431-4799EB1F40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20" name="Title 1">
            <a:extLst>
              <a:ext uri="{FF2B5EF4-FFF2-40B4-BE49-F238E27FC236}">
                <a16:creationId xmlns:a16="http://schemas.microsoft.com/office/drawing/2014/main" id="{6B6993ED-B142-4D9C-B3D8-D9AC6A174CF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26966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102C23-2683-4B4B-AA23-37E6B1F8AB6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E9F4F8C-3111-44C7-8636-B529776FF520}"/>
              </a:ext>
            </a:extLst>
          </p:cNvPr>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8D7CB051-7C34-43BC-B62E-A2AC7EA49B45}"/>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7" name="Picture 6" descr="Great Lakes ADA Center Logo">
            <a:extLst>
              <a:ext uri="{FF2B5EF4-FFF2-40B4-BE49-F238E27FC236}">
                <a16:creationId xmlns:a16="http://schemas.microsoft.com/office/drawing/2014/main" id="{CB9B59AE-C96C-4C0B-A851-FBFC90FAED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8" name="TextBox 7">
            <a:extLst>
              <a:ext uri="{FF2B5EF4-FFF2-40B4-BE49-F238E27FC236}">
                <a16:creationId xmlns:a16="http://schemas.microsoft.com/office/drawing/2014/main" id="{1F1CD3B2-8302-42DA-B1F4-99AA733CF3D4}"/>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9" name="Slide Number Placeholder 5">
            <a:extLst>
              <a:ext uri="{FF2B5EF4-FFF2-40B4-BE49-F238E27FC236}">
                <a16:creationId xmlns:a16="http://schemas.microsoft.com/office/drawing/2014/main" id="{5DCCD664-C7F3-466C-9D7C-35A5A085B877}"/>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0" name="Picture 9" descr="A blue and black logo&#10;&#10;Description automatically generated with medium confidence">
            <a:extLst>
              <a:ext uri="{FF2B5EF4-FFF2-40B4-BE49-F238E27FC236}">
                <a16:creationId xmlns:a16="http://schemas.microsoft.com/office/drawing/2014/main" id="{1BC79AB4-4F85-4403-BE09-084B431A7C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Title 1">
            <a:extLst>
              <a:ext uri="{FF2B5EF4-FFF2-40B4-BE49-F238E27FC236}">
                <a16:creationId xmlns:a16="http://schemas.microsoft.com/office/drawing/2014/main" id="{C050C4CD-01E7-48D5-8ECC-647274FC5CA6}"/>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88909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33D2-6A5C-48E9-A65B-5BEA71498A52}"/>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7C5036BB-774C-4A49-A56A-24783B628134}"/>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65706DE4-249F-4186-B59D-508D75FF3D3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35D79A-C33C-4C23-AA78-D88A74F47B99}"/>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E3C3B159-F006-45E8-8757-6D1448F98D90}"/>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AE0E6BC4-7CEC-42F2-A969-97780A91F8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E16CA744-EAA5-458D-93EE-F90E3D21A132}"/>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1" name="Picture 10" descr="A blue and black logo&#10;&#10;Description automatically generated with medium confidence">
            <a:extLst>
              <a:ext uri="{FF2B5EF4-FFF2-40B4-BE49-F238E27FC236}">
                <a16:creationId xmlns:a16="http://schemas.microsoft.com/office/drawing/2014/main" id="{A0787189-DCFC-4BC5-87CE-87692C7DE4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Slide Number Placeholder 5">
            <a:extLst>
              <a:ext uri="{FF2B5EF4-FFF2-40B4-BE49-F238E27FC236}">
                <a16:creationId xmlns:a16="http://schemas.microsoft.com/office/drawing/2014/main" id="{E7FE86DB-6C5F-43CB-B956-F77EF27C67C9}"/>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3" name="Content Placeholder 2">
            <a:extLst>
              <a:ext uri="{FF2B5EF4-FFF2-40B4-BE49-F238E27FC236}">
                <a16:creationId xmlns:a16="http://schemas.microsoft.com/office/drawing/2014/main" id="{49A905B8-E38D-4A42-B81E-9D9A6851F187}"/>
              </a:ext>
            </a:extLst>
          </p:cNvPr>
          <p:cNvSpPr>
            <a:spLocks noGrp="1"/>
          </p:cNvSpPr>
          <p:nvPr>
            <p:ph idx="1"/>
          </p:nvPr>
        </p:nvSpPr>
        <p:spPr>
          <a:xfrm>
            <a:off x="5020682" y="987426"/>
            <a:ext cx="6922398" cy="4881562"/>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0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1464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A2F218-E0CC-46F0-B4DF-A1B7B469D00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D29F0338-5875-43F6-A614-1A5E719EFCB6}"/>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305C358-FDE1-46D8-AD25-6107FC3C5418}"/>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CA917260-5A80-4B47-A62F-E589239945BB}"/>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9" name="Text Placeholder 3">
            <a:extLst>
              <a:ext uri="{FF2B5EF4-FFF2-40B4-BE49-F238E27FC236}">
                <a16:creationId xmlns:a16="http://schemas.microsoft.com/office/drawing/2014/main" id="{66BD97FD-52D7-4D27-BC2D-E0503BA4E5B2}"/>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Rectangle 9">
            <a:extLst>
              <a:ext uri="{FF2B5EF4-FFF2-40B4-BE49-F238E27FC236}">
                <a16:creationId xmlns:a16="http://schemas.microsoft.com/office/drawing/2014/main" id="{5EFACB75-0E86-421C-8F2B-8906B61C1F67}"/>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8A64F6AE-200D-4215-85C3-5C2B397376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2CCC1008-3C55-4388-89C7-50AC30F7B0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3" name="Picture 12" descr="A blue and black logo&#10;&#10;Description automatically generated with medium confidence">
            <a:extLst>
              <a:ext uri="{FF2B5EF4-FFF2-40B4-BE49-F238E27FC236}">
                <a16:creationId xmlns:a16="http://schemas.microsoft.com/office/drawing/2014/main" id="{96E22B44-F99A-4DC3-87BD-D3753A20D5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Slide Number Placeholder 5">
            <a:extLst>
              <a:ext uri="{FF2B5EF4-FFF2-40B4-BE49-F238E27FC236}">
                <a16:creationId xmlns:a16="http://schemas.microsoft.com/office/drawing/2014/main" id="{DA57BB0F-8EB9-47CD-A02F-5B60C3372853}"/>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654909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AE80B-33E5-4BD5-B721-BAFC6CC43B66}"/>
              </a:ext>
            </a:extLst>
          </p:cNvPr>
          <p:cNvSpPr>
            <a:spLocks noGrp="1"/>
          </p:cNvSpPr>
          <p:nvPr>
            <p:ph type="title"/>
          </p:nvPr>
        </p:nvSpPr>
        <p:spPr>
          <a:xfrm>
            <a:off x="838200" y="410368"/>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0754B02-1727-4D4B-87CD-9B6C5CB15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A174867-AAC3-4132-A790-7D6AD7A77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72D7818-CE99-42D2-B43D-D2417FBC2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7" name="Slide Number Placeholder 5">
            <a:extLst>
              <a:ext uri="{FF2B5EF4-FFF2-40B4-BE49-F238E27FC236}">
                <a16:creationId xmlns:a16="http://schemas.microsoft.com/office/drawing/2014/main" id="{DB0EA154-45F9-4B33-A4D6-E616F925CDB5}"/>
              </a:ext>
            </a:extLst>
          </p:cNvPr>
          <p:cNvSpPr>
            <a:spLocks noGrp="1"/>
          </p:cNvSpPr>
          <p:nvPr>
            <p:ph type="sldNum" sz="quarter" idx="4"/>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728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5000" b="1" kern="1200">
          <a:solidFill>
            <a:srgbClr val="00558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325F-F7C4-47F9-AB0D-F4E85898A0A3}"/>
              </a:ext>
            </a:extLst>
          </p:cNvPr>
          <p:cNvSpPr>
            <a:spLocks noGrp="1"/>
          </p:cNvSpPr>
          <p:nvPr>
            <p:ph type="ctrTitle"/>
          </p:nvPr>
        </p:nvSpPr>
        <p:spPr>
          <a:xfrm>
            <a:off x="0" y="1111539"/>
            <a:ext cx="12192000" cy="2101510"/>
          </a:xfrm>
        </p:spPr>
        <p:txBody>
          <a:bodyPr>
            <a:noAutofit/>
          </a:bodyPr>
          <a:lstStyle/>
          <a:p>
            <a:pPr>
              <a:lnSpc>
                <a:spcPct val="100000"/>
              </a:lnSpc>
              <a:spcBef>
                <a:spcPts val="600"/>
              </a:spcBef>
            </a:pPr>
            <a:r>
              <a:rPr lang="en-US" sz="6000" dirty="0"/>
              <a:t>Americans with Disabilities Act  (ADA)</a:t>
            </a:r>
          </a:p>
        </p:txBody>
      </p:sp>
      <p:cxnSp>
        <p:nvCxnSpPr>
          <p:cNvPr id="7" name="Straight Connector 6">
            <a:extLst>
              <a:ext uri="{FF2B5EF4-FFF2-40B4-BE49-F238E27FC236}">
                <a16:creationId xmlns:a16="http://schemas.microsoft.com/office/drawing/2014/main" id="{FACD0B6F-466A-5600-572F-99890278C07C}"/>
              </a:ext>
              <a:ext uri="{C183D7F6-B498-43B3-948B-1728B52AA6E4}">
                <adec:decorative xmlns:adec="http://schemas.microsoft.com/office/drawing/2017/decorative" val="1"/>
              </a:ext>
            </a:extLst>
          </p:cNvPr>
          <p:cNvCxnSpPr>
            <a:cxnSpLocks/>
          </p:cNvCxnSpPr>
          <p:nvPr/>
        </p:nvCxnSpPr>
        <p:spPr>
          <a:xfrm>
            <a:off x="1123951" y="3393142"/>
            <a:ext cx="99441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D6DA53E-826D-4A69-82AC-DE11CE124D34}"/>
              </a:ext>
            </a:extLst>
          </p:cNvPr>
          <p:cNvSpPr>
            <a:spLocks noGrp="1"/>
          </p:cNvSpPr>
          <p:nvPr>
            <p:ph type="subTitle" idx="1"/>
          </p:nvPr>
        </p:nvSpPr>
        <p:spPr>
          <a:xfrm>
            <a:off x="776176" y="3455201"/>
            <a:ext cx="10908562" cy="1615212"/>
          </a:xfrm>
        </p:spPr>
        <p:txBody>
          <a:bodyPr/>
          <a:lstStyle/>
          <a:p>
            <a:pPr>
              <a:lnSpc>
                <a:spcPct val="100000"/>
              </a:lnSpc>
              <a:spcBef>
                <a:spcPts val="0"/>
              </a:spcBef>
              <a:spcAft>
                <a:spcPts val="1200"/>
              </a:spcAft>
            </a:pPr>
            <a:r>
              <a:rPr lang="en-US" sz="4000" dirty="0">
                <a:solidFill>
                  <a:srgbClr val="1A2026"/>
                </a:solidFill>
              </a:rPr>
              <a:t>ADA Requirements</a:t>
            </a:r>
            <a:endParaRPr lang="en-US" sz="4000" dirty="0">
              <a:solidFill>
                <a:schemeClr val="tx1">
                  <a:lumMod val="75000"/>
                  <a:lumOff val="25000"/>
                </a:schemeClr>
              </a:solidFill>
            </a:endParaRPr>
          </a:p>
          <a:p>
            <a:pPr>
              <a:lnSpc>
                <a:spcPct val="100000"/>
              </a:lnSpc>
              <a:spcBef>
                <a:spcPts val="0"/>
              </a:spcBef>
            </a:pPr>
            <a:r>
              <a:rPr lang="en-US" sz="2800" b="0" dirty="0">
                <a:solidFill>
                  <a:schemeClr val="tx1">
                    <a:lumMod val="75000"/>
                    <a:lumOff val="25000"/>
                  </a:schemeClr>
                </a:solidFill>
              </a:rPr>
              <a:t>ADA Participation Action Research Consortium (PARC) </a:t>
            </a:r>
          </a:p>
          <a:p>
            <a:pPr>
              <a:lnSpc>
                <a:spcPct val="100000"/>
              </a:lnSpc>
              <a:spcBef>
                <a:spcPts val="0"/>
              </a:spcBef>
            </a:pPr>
            <a:r>
              <a:rPr lang="en-US" sz="2800" b="0" dirty="0">
                <a:solidFill>
                  <a:schemeClr val="tx1">
                    <a:lumMod val="75000"/>
                    <a:lumOff val="25000"/>
                  </a:schemeClr>
                </a:solidFill>
              </a:rPr>
              <a:t>Participation Equity Navigator Training</a:t>
            </a:r>
          </a:p>
        </p:txBody>
      </p:sp>
      <p:pic>
        <p:nvPicPr>
          <p:cNvPr id="5" name="Picture 4" descr="ADA National Network logo">
            <a:extLst>
              <a:ext uri="{FF2B5EF4-FFF2-40B4-BE49-F238E27FC236}">
                <a16:creationId xmlns:a16="http://schemas.microsoft.com/office/drawing/2014/main" id="{E38DE6DF-4A58-387E-B23B-6CD5C3A63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59" y="5492660"/>
            <a:ext cx="1624410" cy="2102177"/>
          </a:xfrm>
          <a:prstGeom prst="rect">
            <a:avLst/>
          </a:prstGeom>
        </p:spPr>
      </p:pic>
      <p:pic>
        <p:nvPicPr>
          <p:cNvPr id="1026" name="Picture 5" descr="Americans with Disabilities Act Participation Action Research Consortium logo">
            <a:extLst>
              <a:ext uri="{FF2B5EF4-FFF2-40B4-BE49-F238E27FC236}">
                <a16:creationId xmlns:a16="http://schemas.microsoft.com/office/drawing/2014/main" id="{551196FB-48BD-3D49-5A86-886D55CF7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8283" y="5180162"/>
            <a:ext cx="1735433" cy="113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9">
            <a:extLst>
              <a:ext uri="{FF2B5EF4-FFF2-40B4-BE49-F238E27FC236}">
                <a16:creationId xmlns:a16="http://schemas.microsoft.com/office/drawing/2014/main" id="{C76734AB-28BF-47B3-94D6-2C2884B8B53B}"/>
              </a:ext>
            </a:extLst>
          </p:cNvPr>
          <p:cNvSpPr>
            <a:spLocks noGrp="1"/>
          </p:cNvSpPr>
          <p:nvPr>
            <p:ph type="sldNum" sz="quarter" idx="12"/>
          </p:nvPr>
        </p:nvSpPr>
        <p:spPr/>
        <p:txBody>
          <a:bodyPr/>
          <a:lstStyle/>
          <a:p>
            <a:fld id="{A9D5B481-CC43-4D95-B982-500CB2D3FC20}" type="slidenum">
              <a:rPr lang="en-US" smtClean="0"/>
              <a:pPr/>
              <a:t>1</a:t>
            </a:fld>
            <a:endParaRPr lang="en-US" dirty="0"/>
          </a:p>
        </p:txBody>
      </p:sp>
    </p:spTree>
    <p:extLst>
      <p:ext uri="{BB962C8B-B14F-4D97-AF65-F5344CB8AC3E}">
        <p14:creationId xmlns:p14="http://schemas.microsoft.com/office/powerpoint/2010/main" val="381740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1CBF-AF9C-778E-2284-9F459736C0E0}"/>
              </a:ext>
            </a:extLst>
          </p:cNvPr>
          <p:cNvSpPr>
            <a:spLocks noGrp="1"/>
          </p:cNvSpPr>
          <p:nvPr>
            <p:ph type="title"/>
          </p:nvPr>
        </p:nvSpPr>
        <p:spPr>
          <a:xfrm>
            <a:off x="916474" y="730161"/>
            <a:ext cx="11104880" cy="961496"/>
          </a:xfrm>
        </p:spPr>
        <p:txBody>
          <a:bodyPr>
            <a:normAutofit/>
          </a:bodyPr>
          <a:lstStyle/>
          <a:p>
            <a:r>
              <a:rPr lang="en-US" sz="4400" dirty="0"/>
              <a:t>2010 ADA Standards</a:t>
            </a:r>
          </a:p>
        </p:txBody>
      </p:sp>
      <p:sp>
        <p:nvSpPr>
          <p:cNvPr id="3" name="Content Placeholder 2">
            <a:extLst>
              <a:ext uri="{FF2B5EF4-FFF2-40B4-BE49-F238E27FC236}">
                <a16:creationId xmlns:a16="http://schemas.microsoft.com/office/drawing/2014/main" id="{77B70D73-2A0F-2C9A-D711-542BBD92CBC5}"/>
              </a:ext>
            </a:extLst>
          </p:cNvPr>
          <p:cNvSpPr>
            <a:spLocks noGrp="1"/>
          </p:cNvSpPr>
          <p:nvPr>
            <p:ph idx="1"/>
          </p:nvPr>
        </p:nvSpPr>
        <p:spPr>
          <a:xfrm>
            <a:off x="916474" y="1573668"/>
            <a:ext cx="10948332" cy="5145077"/>
          </a:xfrm>
        </p:spPr>
        <p:txBody>
          <a:bodyPr>
            <a:normAutofit lnSpcReduction="10000"/>
          </a:bodyPr>
          <a:lstStyle/>
          <a:p>
            <a:pPr>
              <a:lnSpc>
                <a:spcPct val="110000"/>
              </a:lnSpc>
              <a:spcBef>
                <a:spcPts val="0"/>
              </a:spcBef>
              <a:spcAft>
                <a:spcPts val="600"/>
              </a:spcAft>
            </a:pPr>
            <a:r>
              <a:rPr lang="en-US" sz="2400" dirty="0"/>
              <a:t>The original ADA Accessibility Guidelines (ADAAG) were published in 1991 and amended in 2010</a:t>
            </a:r>
          </a:p>
          <a:p>
            <a:pPr marL="1143000" lvl="1" indent="-457200">
              <a:lnSpc>
                <a:spcPct val="110000"/>
              </a:lnSpc>
              <a:spcBef>
                <a:spcPts val="0"/>
              </a:spcBef>
              <a:spcAft>
                <a:spcPts val="600"/>
              </a:spcAft>
            </a:pPr>
            <a:r>
              <a:rPr lang="en-US" sz="2200" dirty="0"/>
              <a:t>The </a:t>
            </a:r>
            <a:r>
              <a:rPr lang="en-US" sz="2200" b="1" i="1" dirty="0">
                <a:solidFill>
                  <a:srgbClr val="005580"/>
                </a:solidFill>
              </a:rPr>
              <a:t>2010 ADA Accessible Standards </a:t>
            </a:r>
            <a:r>
              <a:rPr lang="en-US" sz="2200" dirty="0"/>
              <a:t>are the current version and went into effect on March 15, 2012</a:t>
            </a:r>
          </a:p>
          <a:p>
            <a:pPr lvl="3">
              <a:lnSpc>
                <a:spcPct val="110000"/>
              </a:lnSpc>
              <a:spcBef>
                <a:spcPts val="0"/>
              </a:spcBef>
              <a:spcAft>
                <a:spcPts val="600"/>
              </a:spcAft>
              <a:buClr>
                <a:schemeClr val="tx1"/>
              </a:buClr>
              <a:buFont typeface="Arial" panose="020B0604020202020204" pitchFamily="34" charset="0"/>
              <a:buChar char="–"/>
            </a:pPr>
            <a:r>
              <a:rPr lang="en-US" dirty="0"/>
              <a:t>Applies to new construction, alterations and additions (built environment)</a:t>
            </a:r>
          </a:p>
          <a:p>
            <a:pPr indent="-182880">
              <a:lnSpc>
                <a:spcPct val="110000"/>
              </a:lnSpc>
              <a:spcBef>
                <a:spcPts val="0"/>
              </a:spcBef>
              <a:spcAft>
                <a:spcPts val="600"/>
              </a:spcAft>
              <a:buClr>
                <a:schemeClr val="tx1"/>
              </a:buClr>
            </a:pPr>
            <a:r>
              <a:rPr lang="en-US" sz="2400" dirty="0"/>
              <a:t>“Safe Harbor” </a:t>
            </a:r>
            <a:r>
              <a:rPr lang="en-US" sz="2400" u="sng" dirty="0"/>
              <a:t>not</a:t>
            </a:r>
            <a:r>
              <a:rPr lang="en-US" sz="2400" dirty="0"/>
              <a:t> “Grandfathered”</a:t>
            </a:r>
          </a:p>
          <a:p>
            <a:pPr marL="1143000" lvl="1" indent="-457200">
              <a:lnSpc>
                <a:spcPct val="110000"/>
              </a:lnSpc>
              <a:spcBef>
                <a:spcPts val="0"/>
              </a:spcBef>
              <a:spcAft>
                <a:spcPts val="600"/>
              </a:spcAft>
              <a:buClr>
                <a:schemeClr val="tx1"/>
              </a:buClr>
            </a:pPr>
            <a:r>
              <a:rPr lang="en-US" sz="2200" dirty="0"/>
              <a:t>New technical requirements for elements that were not addressed in the 1991 Standards are not eligible for “safe harbor”</a:t>
            </a:r>
          </a:p>
          <a:p>
            <a:pPr lvl="3">
              <a:lnSpc>
                <a:spcPct val="110000"/>
              </a:lnSpc>
              <a:spcBef>
                <a:spcPts val="0"/>
              </a:spcBef>
              <a:spcAft>
                <a:spcPts val="600"/>
              </a:spcAft>
              <a:buClr>
                <a:schemeClr val="tx1"/>
              </a:buClr>
              <a:buFont typeface="Arial" panose="020B0604020202020204" pitchFamily="34" charset="0"/>
              <a:buChar char="–"/>
            </a:pPr>
            <a:r>
              <a:rPr lang="en-US" dirty="0"/>
              <a:t>Examples: Play areas, fishing piers, golf facilities, saunas, etc.</a:t>
            </a:r>
          </a:p>
          <a:p>
            <a:pPr>
              <a:lnSpc>
                <a:spcPct val="110000"/>
              </a:lnSpc>
              <a:spcBef>
                <a:spcPts val="0"/>
              </a:spcBef>
              <a:spcAft>
                <a:spcPts val="600"/>
              </a:spcAft>
            </a:pPr>
            <a:r>
              <a:rPr lang="en-US" sz="2400" dirty="0">
                <a:solidFill>
                  <a:srgbClr val="005580"/>
                </a:solidFill>
              </a:rPr>
              <a:t>Maintenance of accessible features </a:t>
            </a:r>
            <a:r>
              <a:rPr lang="en-US" sz="2400" b="0" dirty="0"/>
              <a:t>(operable working condition)</a:t>
            </a:r>
          </a:p>
          <a:p>
            <a:pPr marL="1143000" lvl="1" indent="-457200">
              <a:lnSpc>
                <a:spcPct val="110000"/>
              </a:lnSpc>
              <a:spcBef>
                <a:spcPts val="0"/>
              </a:spcBef>
              <a:spcAft>
                <a:spcPts val="600"/>
              </a:spcAft>
            </a:pPr>
            <a:r>
              <a:rPr lang="en-US" sz="2200" dirty="0"/>
              <a:t>Examples: platform lifts unlocked, a route remains accessible and not blocked by obstacles such as furniture, etc.</a:t>
            </a:r>
          </a:p>
        </p:txBody>
      </p:sp>
      <p:sp>
        <p:nvSpPr>
          <p:cNvPr id="4" name="Slide Number Placeholder 3">
            <a:extLst>
              <a:ext uri="{FF2B5EF4-FFF2-40B4-BE49-F238E27FC236}">
                <a16:creationId xmlns:a16="http://schemas.microsoft.com/office/drawing/2014/main" id="{2830288A-39A0-D8A3-81BE-8824CAC94C06}"/>
              </a:ext>
            </a:extLst>
          </p:cNvPr>
          <p:cNvSpPr>
            <a:spLocks noGrp="1"/>
          </p:cNvSpPr>
          <p:nvPr>
            <p:ph type="sldNum" sz="quarter" idx="12"/>
          </p:nvPr>
        </p:nvSpPr>
        <p:spPr/>
        <p:txBody>
          <a:bodyPr/>
          <a:lstStyle/>
          <a:p>
            <a:fld id="{A9D5B481-CC43-4D95-B982-500CB2D3FC20}" type="slidenum">
              <a:rPr lang="en-US" smtClean="0"/>
              <a:pPr/>
              <a:t>2</a:t>
            </a:fld>
            <a:endParaRPr lang="en-US" dirty="0"/>
          </a:p>
        </p:txBody>
      </p:sp>
      <p:pic>
        <p:nvPicPr>
          <p:cNvPr id="5" name="Picture 4">
            <a:extLst>
              <a:ext uri="{FF2B5EF4-FFF2-40B4-BE49-F238E27FC236}">
                <a16:creationId xmlns:a16="http://schemas.microsoft.com/office/drawing/2014/main" id="{967C45E0-ECD6-4CC7-3CAE-F9AE48C46A4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768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D4E1-59A5-C8B1-9B71-1F1D2E577DA5}"/>
              </a:ext>
            </a:extLst>
          </p:cNvPr>
          <p:cNvSpPr>
            <a:spLocks noGrp="1"/>
          </p:cNvSpPr>
          <p:nvPr>
            <p:ph type="title"/>
          </p:nvPr>
        </p:nvSpPr>
        <p:spPr>
          <a:xfrm>
            <a:off x="589280" y="873076"/>
            <a:ext cx="11353800" cy="961496"/>
          </a:xfrm>
        </p:spPr>
        <p:txBody>
          <a:bodyPr>
            <a:normAutofit/>
          </a:bodyPr>
          <a:lstStyle/>
          <a:p>
            <a:r>
              <a:rPr lang="en-US" sz="4400" dirty="0"/>
              <a:t>Digital Accessibility Legal Framework </a:t>
            </a:r>
          </a:p>
        </p:txBody>
      </p:sp>
      <p:pic>
        <p:nvPicPr>
          <p:cNvPr id="6" name="Picture 5" descr="symbol for web accessibility">
            <a:extLst>
              <a:ext uri="{FF2B5EF4-FFF2-40B4-BE49-F238E27FC236}">
                <a16:creationId xmlns:a16="http://schemas.microsoft.com/office/drawing/2014/main" id="{0A9EB00D-71D5-E604-6917-A23014BE7485}"/>
              </a:ext>
            </a:extLst>
          </p:cNvPr>
          <p:cNvPicPr>
            <a:picLocks noChangeAspect="1"/>
          </p:cNvPicPr>
          <p:nvPr/>
        </p:nvPicPr>
        <p:blipFill>
          <a:blip r:embed="rId3"/>
          <a:stretch>
            <a:fillRect/>
          </a:stretch>
        </p:blipFill>
        <p:spPr>
          <a:xfrm>
            <a:off x="406909" y="2203737"/>
            <a:ext cx="3115741" cy="2821803"/>
          </a:xfrm>
          <a:prstGeom prst="rect">
            <a:avLst/>
          </a:prstGeom>
        </p:spPr>
      </p:pic>
      <p:sp>
        <p:nvSpPr>
          <p:cNvPr id="3" name="Content Placeholder 2">
            <a:extLst>
              <a:ext uri="{FF2B5EF4-FFF2-40B4-BE49-F238E27FC236}">
                <a16:creationId xmlns:a16="http://schemas.microsoft.com/office/drawing/2014/main" id="{D15E6744-78A8-81DF-A142-D926EAB4D29F}"/>
              </a:ext>
            </a:extLst>
          </p:cNvPr>
          <p:cNvSpPr>
            <a:spLocks noGrp="1"/>
          </p:cNvSpPr>
          <p:nvPr>
            <p:ph idx="1"/>
          </p:nvPr>
        </p:nvSpPr>
        <p:spPr>
          <a:xfrm>
            <a:off x="3522650" y="1932061"/>
            <a:ext cx="8295990" cy="4420479"/>
          </a:xfrm>
        </p:spPr>
        <p:txBody>
          <a:bodyPr>
            <a:normAutofit fontScale="85000" lnSpcReduction="10000"/>
          </a:bodyPr>
          <a:lstStyle/>
          <a:p>
            <a:pPr marL="544068" lvl="1" indent="-342900">
              <a:spcBef>
                <a:spcPts val="0"/>
              </a:spcBef>
              <a:spcAft>
                <a:spcPts val="1800"/>
              </a:spcAft>
              <a:defRPr/>
            </a:pPr>
            <a:r>
              <a:rPr lang="en-US" sz="3000" b="1" dirty="0"/>
              <a:t>ADA </a:t>
            </a:r>
            <a:r>
              <a:rPr lang="en-US" sz="3000" dirty="0"/>
              <a:t>applies to </a:t>
            </a:r>
            <a:r>
              <a:rPr lang="en-US" sz="3000" dirty="0">
                <a:highlight>
                  <a:srgbClr val="FFFFFF"/>
                </a:highlight>
              </a:rPr>
              <a:t>digital spaces (websites and online services) </a:t>
            </a:r>
            <a:r>
              <a:rPr lang="en-US" sz="3000" dirty="0"/>
              <a:t>that covered entities (state &amp; local governments and businesses) offer to </a:t>
            </a:r>
            <a:r>
              <a:rPr lang="en-US" sz="3000" b="1" u="sng" dirty="0"/>
              <a:t>the public</a:t>
            </a:r>
          </a:p>
          <a:p>
            <a:pPr marL="544068" lvl="1" indent="-342900">
              <a:spcBef>
                <a:spcPts val="0"/>
              </a:spcBef>
              <a:spcAft>
                <a:spcPts val="1800"/>
              </a:spcAft>
              <a:defRPr/>
            </a:pPr>
            <a:r>
              <a:rPr lang="en-US" sz="3000" dirty="0"/>
              <a:t>State &amp; Local Governments must follow </a:t>
            </a:r>
            <a:r>
              <a:rPr lang="en-US" sz="3000" b="1" dirty="0">
                <a:solidFill>
                  <a:srgbClr val="005580"/>
                </a:solidFill>
              </a:rPr>
              <a:t>Web and Mobile App Accessibility Requirements</a:t>
            </a:r>
          </a:p>
          <a:p>
            <a:pPr marL="544068" lvl="1" indent="-342900">
              <a:spcBef>
                <a:spcPts val="0"/>
              </a:spcBef>
              <a:spcAft>
                <a:spcPts val="1800"/>
              </a:spcAft>
              <a:defRPr/>
            </a:pPr>
            <a:r>
              <a:rPr lang="en-US" sz="3000" dirty="0"/>
              <a:t>In 1996, the DOJ said covered entities under the ADA are required to provide effective communication, regardless of whether they generally communicate through print media, audio media, or computerized media such as the internet</a:t>
            </a:r>
          </a:p>
          <a:p>
            <a:pPr marL="372618" lvl="1" indent="-171450">
              <a:spcBef>
                <a:spcPts val="0"/>
              </a:spcBef>
              <a:spcAft>
                <a:spcPts val="1800"/>
              </a:spcAft>
              <a:defRPr/>
            </a:pPr>
            <a:endParaRPr lang="en-US" dirty="0"/>
          </a:p>
        </p:txBody>
      </p:sp>
      <p:pic>
        <p:nvPicPr>
          <p:cNvPr id="5" name="Picture 4">
            <a:extLst>
              <a:ext uri="{FF2B5EF4-FFF2-40B4-BE49-F238E27FC236}">
                <a16:creationId xmlns:a16="http://schemas.microsoft.com/office/drawing/2014/main" id="{034FC546-D49D-73DD-0331-10C3F2CA7F54}"/>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665B58B2-4B76-3F1E-8238-32F492D046C0}"/>
              </a:ext>
            </a:extLst>
          </p:cNvPr>
          <p:cNvSpPr>
            <a:spLocks noGrp="1"/>
          </p:cNvSpPr>
          <p:nvPr>
            <p:ph type="sldNum" sz="quarter" idx="12"/>
          </p:nvPr>
        </p:nvSpPr>
        <p:spPr/>
        <p:txBody>
          <a:bodyPr/>
          <a:lstStyle/>
          <a:p>
            <a:fld id="{A9D5B481-CC43-4D95-B982-500CB2D3FC20}" type="slidenum">
              <a:rPr lang="en-US" smtClean="0"/>
              <a:pPr/>
              <a:t>3</a:t>
            </a:fld>
            <a:endParaRPr lang="en-US" dirty="0"/>
          </a:p>
        </p:txBody>
      </p:sp>
    </p:spTree>
    <p:extLst>
      <p:ext uri="{BB962C8B-B14F-4D97-AF65-F5344CB8AC3E}">
        <p14:creationId xmlns:p14="http://schemas.microsoft.com/office/powerpoint/2010/main" val="80064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B82D8-4977-6A55-172C-703D54839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31C6B-EDE6-9576-D76E-70AD876E0FF6}"/>
              </a:ext>
            </a:extLst>
          </p:cNvPr>
          <p:cNvSpPr>
            <a:spLocks noGrp="1"/>
          </p:cNvSpPr>
          <p:nvPr>
            <p:ph type="title"/>
          </p:nvPr>
        </p:nvSpPr>
        <p:spPr>
          <a:xfrm>
            <a:off x="462455" y="712133"/>
            <a:ext cx="11571890" cy="961496"/>
          </a:xfrm>
        </p:spPr>
        <p:txBody>
          <a:bodyPr>
            <a:normAutofit/>
          </a:bodyPr>
          <a:lstStyle/>
          <a:p>
            <a:r>
              <a:rPr lang="en-US" sz="4400" dirty="0"/>
              <a:t>Effective Communication Requirements</a:t>
            </a:r>
          </a:p>
        </p:txBody>
      </p:sp>
      <p:sp>
        <p:nvSpPr>
          <p:cNvPr id="3" name="Content Placeholder 2">
            <a:extLst>
              <a:ext uri="{FF2B5EF4-FFF2-40B4-BE49-F238E27FC236}">
                <a16:creationId xmlns:a16="http://schemas.microsoft.com/office/drawing/2014/main" id="{C5AE95B9-34F6-5446-A20A-E79074BF4186}"/>
              </a:ext>
            </a:extLst>
          </p:cNvPr>
          <p:cNvSpPr>
            <a:spLocks noGrp="1"/>
          </p:cNvSpPr>
          <p:nvPr>
            <p:ph idx="1"/>
          </p:nvPr>
        </p:nvSpPr>
        <p:spPr>
          <a:xfrm>
            <a:off x="669807" y="1480910"/>
            <a:ext cx="9007366" cy="5236755"/>
          </a:xfrm>
        </p:spPr>
        <p:txBody>
          <a:bodyPr>
            <a:normAutofit fontScale="77500" lnSpcReduction="20000"/>
          </a:bodyPr>
          <a:lstStyle/>
          <a:p>
            <a:pPr marL="457200" indent="-457200">
              <a:lnSpc>
                <a:spcPct val="120000"/>
              </a:lnSpc>
              <a:spcBef>
                <a:spcPts val="0"/>
              </a:spcBef>
              <a:spcAft>
                <a:spcPts val="600"/>
              </a:spcAft>
              <a:buFont typeface="Arial" panose="020B0604020202020204" pitchFamily="34" charset="0"/>
              <a:buChar char="•"/>
            </a:pPr>
            <a:r>
              <a:rPr lang="en-US" sz="3000" b="0" dirty="0">
                <a:solidFill>
                  <a:srgbClr val="000000"/>
                </a:solidFill>
              </a:rPr>
              <a:t>Covered entities </a:t>
            </a:r>
            <a:r>
              <a:rPr lang="en-US" sz="3000" b="0" i="0" dirty="0">
                <a:solidFill>
                  <a:srgbClr val="000000"/>
                </a:solidFill>
                <a:effectLst/>
              </a:rPr>
              <a:t>must</a:t>
            </a:r>
            <a:r>
              <a:rPr lang="en-US" sz="3000" b="0" dirty="0"/>
              <a:t> provide auxiliary aids and services when needed to communicate effectively with people who have communication disabilities </a:t>
            </a:r>
            <a:r>
              <a:rPr lang="en-US" sz="3000" b="0" dirty="0">
                <a:ea typeface="Calibri" panose="020F0502020204030204" pitchFamily="34" charset="0"/>
                <a:cs typeface="Times New Roman" panose="02020603050405020304" pitchFamily="18" charset="0"/>
              </a:rPr>
              <a:t>at no extra cost</a:t>
            </a:r>
          </a:p>
          <a:p>
            <a:pPr marL="1143000" lvl="1" indent="-457200">
              <a:lnSpc>
                <a:spcPct val="120000"/>
              </a:lnSpc>
              <a:spcBef>
                <a:spcPts val="0"/>
              </a:spcBef>
              <a:spcAft>
                <a:spcPts val="600"/>
              </a:spcAft>
              <a:buClr>
                <a:schemeClr val="accent1">
                  <a:lumMod val="75000"/>
                </a:schemeClr>
              </a:buClr>
              <a:buFont typeface="Arial" panose="020B0604020202020204" pitchFamily="34" charset="0"/>
              <a:buChar char="­"/>
            </a:pPr>
            <a:r>
              <a:rPr lang="en-US" sz="2900" dirty="0">
                <a:ea typeface="Arial"/>
                <a:sym typeface="Arial"/>
              </a:rPr>
              <a:t>State and local governments</a:t>
            </a:r>
            <a:r>
              <a:rPr lang="en-US" sz="2900" b="0" dirty="0">
                <a:ea typeface="Arial"/>
                <a:sym typeface="Arial"/>
              </a:rPr>
              <a:t> required to give </a:t>
            </a:r>
            <a:r>
              <a:rPr lang="en-US" sz="2900" dirty="0">
                <a:ea typeface="Arial"/>
                <a:sym typeface="Arial"/>
              </a:rPr>
              <a:t>primary consideration</a:t>
            </a:r>
            <a:endParaRPr lang="en-US" sz="2900" b="0" dirty="0">
              <a:ea typeface="Arial"/>
              <a:sym typeface="Arial"/>
            </a:endParaRPr>
          </a:p>
          <a:p>
            <a:pPr marL="1143000" lvl="1" indent="-457200">
              <a:lnSpc>
                <a:spcPct val="120000"/>
              </a:lnSpc>
              <a:spcBef>
                <a:spcPts val="0"/>
              </a:spcBef>
              <a:spcAft>
                <a:spcPts val="600"/>
              </a:spcAft>
              <a:buClr>
                <a:schemeClr val="accent1">
                  <a:lumMod val="75000"/>
                </a:schemeClr>
              </a:buClr>
              <a:buFont typeface="Arial" panose="020B0604020202020204" pitchFamily="34" charset="0"/>
              <a:buChar char="­"/>
            </a:pPr>
            <a:r>
              <a:rPr lang="en-US" sz="2900" dirty="0">
                <a:ea typeface="Arial"/>
                <a:sym typeface="Arial"/>
              </a:rPr>
              <a:t>Businesses</a:t>
            </a:r>
            <a:r>
              <a:rPr lang="en-US" sz="2900" b="0" dirty="0">
                <a:ea typeface="Arial"/>
                <a:sym typeface="Arial"/>
              </a:rPr>
              <a:t> </a:t>
            </a:r>
            <a:r>
              <a:rPr lang="en-US" sz="2900" dirty="0">
                <a:ea typeface="Arial"/>
                <a:sym typeface="Arial"/>
              </a:rPr>
              <a:t>encouraged to consult </a:t>
            </a:r>
            <a:r>
              <a:rPr lang="en-US" sz="2900" b="0" dirty="0">
                <a:ea typeface="Arial"/>
                <a:sym typeface="Arial"/>
              </a:rPr>
              <a:t>with</a:t>
            </a:r>
            <a:r>
              <a:rPr lang="en-US" sz="2900" dirty="0">
                <a:ea typeface="Arial"/>
                <a:sym typeface="Arial"/>
              </a:rPr>
              <a:t> </a:t>
            </a:r>
            <a:r>
              <a:rPr lang="en-US" sz="2900" b="0" dirty="0">
                <a:ea typeface="Arial"/>
                <a:sym typeface="Arial"/>
              </a:rPr>
              <a:t>the individual </a:t>
            </a:r>
          </a:p>
          <a:p>
            <a:pPr marL="457200" indent="-457200">
              <a:lnSpc>
                <a:spcPct val="120000"/>
              </a:lnSpc>
              <a:spcBef>
                <a:spcPts val="0"/>
              </a:spcBef>
              <a:spcAft>
                <a:spcPts val="600"/>
              </a:spcAft>
              <a:buClr>
                <a:schemeClr val="accent1">
                  <a:lumMod val="75000"/>
                </a:schemeClr>
              </a:buClr>
              <a:buFont typeface="Arial" panose="020B0604020202020204" pitchFamily="34" charset="0"/>
              <a:buChar char="•"/>
            </a:pPr>
            <a:r>
              <a:rPr lang="en-US" sz="3000" b="0" dirty="0">
                <a:solidFill>
                  <a:srgbClr val="000000"/>
                </a:solidFill>
              </a:rPr>
              <a:t>Effective communication is when </a:t>
            </a:r>
            <a:r>
              <a:rPr lang="en-US" sz="3000" b="0" i="0" dirty="0">
                <a:solidFill>
                  <a:srgbClr val="000000"/>
                </a:solidFill>
                <a:effectLst/>
              </a:rPr>
              <a:t>a person with a </a:t>
            </a:r>
            <a:r>
              <a:rPr lang="en-US" sz="3000" b="1" i="0" dirty="0">
                <a:solidFill>
                  <a:srgbClr val="000000"/>
                </a:solidFill>
                <a:effectLst/>
              </a:rPr>
              <a:t>vision, hearing, or speech disability </a:t>
            </a:r>
            <a:r>
              <a:rPr lang="en-US" sz="3000" b="0" i="0" dirty="0">
                <a:solidFill>
                  <a:srgbClr val="000000"/>
                </a:solidFill>
                <a:effectLst/>
              </a:rPr>
              <a:t>can communicate with, receive information from, and convey information to the covered entity</a:t>
            </a:r>
          </a:p>
          <a:p>
            <a:pPr marL="457200" indent="-457200">
              <a:lnSpc>
                <a:spcPct val="120000"/>
              </a:lnSpc>
              <a:spcBef>
                <a:spcPts val="0"/>
              </a:spcBef>
              <a:spcAft>
                <a:spcPts val="600"/>
              </a:spcAft>
              <a:buFont typeface="Arial" panose="020B0604020202020204" pitchFamily="34" charset="0"/>
              <a:buChar char="•"/>
            </a:pPr>
            <a:r>
              <a:rPr lang="en-US" sz="3000" b="0" dirty="0">
                <a:solidFill>
                  <a:srgbClr val="000000"/>
                </a:solidFill>
              </a:rPr>
              <a:t>A</a:t>
            </a:r>
            <a:r>
              <a:rPr lang="en-US" sz="3000" b="0" i="0" dirty="0">
                <a:solidFill>
                  <a:srgbClr val="000000"/>
                </a:solidFill>
                <a:effectLst/>
              </a:rPr>
              <a:t>pplies to communicating with not only the person who is receiving the covered entity’s goods or services but also with that </a:t>
            </a:r>
            <a:r>
              <a:rPr lang="en-US" sz="3000" b="1" i="0" dirty="0">
                <a:solidFill>
                  <a:srgbClr val="000000"/>
                </a:solidFill>
                <a:effectLst/>
              </a:rPr>
              <a:t>person’s parent, spouse, or companion </a:t>
            </a:r>
            <a:r>
              <a:rPr lang="en-US" sz="3000" b="0" i="0" dirty="0">
                <a:solidFill>
                  <a:srgbClr val="000000"/>
                </a:solidFill>
                <a:effectLst/>
              </a:rPr>
              <a:t>in appropriate circumstances</a:t>
            </a:r>
          </a:p>
          <a:p>
            <a:endParaRPr lang="en-US" dirty="0"/>
          </a:p>
        </p:txBody>
      </p:sp>
      <p:pic>
        <p:nvPicPr>
          <p:cNvPr id="5" name="Picture 4" descr="tactile signing">
            <a:extLst>
              <a:ext uri="{FF2B5EF4-FFF2-40B4-BE49-F238E27FC236}">
                <a16:creationId xmlns:a16="http://schemas.microsoft.com/office/drawing/2014/main" id="{B8FF7737-7F02-1C93-6544-0779D289600B}"/>
              </a:ext>
            </a:extLst>
          </p:cNvPr>
          <p:cNvPicPr>
            <a:picLocks noChangeAspect="1"/>
          </p:cNvPicPr>
          <p:nvPr/>
        </p:nvPicPr>
        <p:blipFill>
          <a:blip r:embed="rId3"/>
          <a:stretch>
            <a:fillRect/>
          </a:stretch>
        </p:blipFill>
        <p:spPr>
          <a:xfrm>
            <a:off x="9677173" y="1673629"/>
            <a:ext cx="2265907" cy="1280730"/>
          </a:xfrm>
          <a:prstGeom prst="rect">
            <a:avLst/>
          </a:prstGeom>
        </p:spPr>
      </p:pic>
      <p:pic>
        <p:nvPicPr>
          <p:cNvPr id="6" name="Picture 5" descr="Two people signing">
            <a:extLst>
              <a:ext uri="{FF2B5EF4-FFF2-40B4-BE49-F238E27FC236}">
                <a16:creationId xmlns:a16="http://schemas.microsoft.com/office/drawing/2014/main" id="{3E048F0C-666A-F15D-2BA4-62CAB6F4E0AC}"/>
              </a:ext>
            </a:extLst>
          </p:cNvPr>
          <p:cNvPicPr>
            <a:picLocks noChangeAspect="1"/>
          </p:cNvPicPr>
          <p:nvPr/>
        </p:nvPicPr>
        <p:blipFill>
          <a:blip r:embed="rId4"/>
          <a:stretch>
            <a:fillRect/>
          </a:stretch>
        </p:blipFill>
        <p:spPr>
          <a:xfrm>
            <a:off x="9699942" y="3379154"/>
            <a:ext cx="2243138" cy="1267861"/>
          </a:xfrm>
          <a:prstGeom prst="rect">
            <a:avLst/>
          </a:prstGeom>
        </p:spPr>
      </p:pic>
      <p:pic>
        <p:nvPicPr>
          <p:cNvPr id="7" name="Picture 6" descr="Person using a communication board">
            <a:extLst>
              <a:ext uri="{FF2B5EF4-FFF2-40B4-BE49-F238E27FC236}">
                <a16:creationId xmlns:a16="http://schemas.microsoft.com/office/drawing/2014/main" id="{5E800EB4-13EA-E9AC-7650-91683503C89E}"/>
              </a:ext>
            </a:extLst>
          </p:cNvPr>
          <p:cNvPicPr>
            <a:picLocks noChangeAspect="1"/>
          </p:cNvPicPr>
          <p:nvPr/>
        </p:nvPicPr>
        <p:blipFill>
          <a:blip r:embed="rId5"/>
          <a:stretch>
            <a:fillRect/>
          </a:stretch>
        </p:blipFill>
        <p:spPr>
          <a:xfrm>
            <a:off x="9699942" y="5071810"/>
            <a:ext cx="2196118" cy="1267862"/>
          </a:xfrm>
          <a:prstGeom prst="rect">
            <a:avLst/>
          </a:prstGeom>
        </p:spPr>
      </p:pic>
      <p:pic>
        <p:nvPicPr>
          <p:cNvPr id="8" name="Picture 7">
            <a:extLst>
              <a:ext uri="{FF2B5EF4-FFF2-40B4-BE49-F238E27FC236}">
                <a16:creationId xmlns:a16="http://schemas.microsoft.com/office/drawing/2014/main" id="{BE475E28-1F23-07CA-1AD7-A22A40ED63B6}"/>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6C27431D-A66F-4C33-FECF-BBB5F48ED2C2}"/>
              </a:ext>
            </a:extLst>
          </p:cNvPr>
          <p:cNvSpPr>
            <a:spLocks noGrp="1"/>
          </p:cNvSpPr>
          <p:nvPr>
            <p:ph type="sldNum" sz="quarter" idx="12"/>
          </p:nvPr>
        </p:nvSpPr>
        <p:spPr/>
        <p:txBody>
          <a:bodyPr/>
          <a:lstStyle/>
          <a:p>
            <a:fld id="{A9D5B481-CC43-4D95-B982-500CB2D3FC20}" type="slidenum">
              <a:rPr lang="en-US" smtClean="0"/>
              <a:pPr/>
              <a:t>4</a:t>
            </a:fld>
            <a:endParaRPr lang="en-US" dirty="0"/>
          </a:p>
        </p:txBody>
      </p:sp>
    </p:spTree>
    <p:extLst>
      <p:ext uri="{BB962C8B-B14F-4D97-AF65-F5344CB8AC3E}">
        <p14:creationId xmlns:p14="http://schemas.microsoft.com/office/powerpoint/2010/main" val="152636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B0A04A-7D05-B4D8-E876-EC81C93731F0}"/>
              </a:ext>
            </a:extLst>
          </p:cNvPr>
          <p:cNvSpPr>
            <a:spLocks noGrp="1"/>
          </p:cNvSpPr>
          <p:nvPr>
            <p:ph type="title"/>
          </p:nvPr>
        </p:nvSpPr>
        <p:spPr>
          <a:xfrm>
            <a:off x="826868" y="742002"/>
            <a:ext cx="11441881" cy="961496"/>
          </a:xfrm>
        </p:spPr>
        <p:txBody>
          <a:bodyPr>
            <a:normAutofit/>
          </a:bodyPr>
          <a:lstStyle/>
          <a:p>
            <a:r>
              <a:rPr lang="en-US" sz="4400" dirty="0"/>
              <a:t>Reasonable Modification</a:t>
            </a:r>
          </a:p>
        </p:txBody>
      </p:sp>
      <p:sp>
        <p:nvSpPr>
          <p:cNvPr id="2" name="Content Placeholder 1"/>
          <p:cNvSpPr>
            <a:spLocks noGrp="1"/>
          </p:cNvSpPr>
          <p:nvPr>
            <p:ph idx="1"/>
          </p:nvPr>
        </p:nvSpPr>
        <p:spPr>
          <a:xfrm>
            <a:off x="826868" y="1496497"/>
            <a:ext cx="11187439" cy="5063044"/>
          </a:xfrm>
        </p:spPr>
        <p:txBody>
          <a:bodyPr>
            <a:noAutofit/>
          </a:bodyPr>
          <a:lstStyle/>
          <a:p>
            <a:pPr marL="0" indent="0">
              <a:lnSpc>
                <a:spcPct val="100000"/>
              </a:lnSpc>
              <a:spcBef>
                <a:spcPts val="0"/>
              </a:spcBef>
              <a:spcAft>
                <a:spcPts val="600"/>
              </a:spcAft>
              <a:buNone/>
            </a:pPr>
            <a:r>
              <a:rPr lang="en-US" sz="2500" dirty="0"/>
              <a:t>Modification or adjustment to the environment or the way things are usually done (policy, practice, or procedure)</a:t>
            </a:r>
          </a:p>
          <a:p>
            <a:pPr marL="347472" indent="-347472">
              <a:lnSpc>
                <a:spcPct val="100000"/>
              </a:lnSpc>
              <a:spcBef>
                <a:spcPts val="0"/>
              </a:spcBef>
              <a:spcAft>
                <a:spcPts val="600"/>
              </a:spcAft>
              <a:buFont typeface="Arial" panose="020B0604020202020204" pitchFamily="34" charset="0"/>
              <a:buChar char="•"/>
            </a:pPr>
            <a:r>
              <a:rPr lang="en-US" sz="2300" b="0" dirty="0"/>
              <a:t>Purpose is not to provide an advantage but to make a person with a disability opportunity </a:t>
            </a:r>
            <a:r>
              <a:rPr lang="en-US" sz="2300" b="0" dirty="0">
                <a:latin typeface="Arial" panose="020B0604020202020204" pitchFamily="34" charset="0"/>
                <a:cs typeface="Arial" panose="020B0604020202020204" pitchFamily="34" charset="0"/>
              </a:rPr>
              <a:t>and access to the activities, programs, goods, and services </a:t>
            </a:r>
            <a:r>
              <a:rPr lang="en-US" sz="2300" b="0" dirty="0"/>
              <a:t>equal to someone without a disability</a:t>
            </a:r>
          </a:p>
          <a:p>
            <a:pPr marL="457200" indent="-457200">
              <a:lnSpc>
                <a:spcPct val="100000"/>
              </a:lnSpc>
              <a:spcBef>
                <a:spcPts val="0"/>
              </a:spcBef>
              <a:spcAft>
                <a:spcPts val="600"/>
              </a:spcAft>
              <a:buFont typeface="Arial" panose="020B0604020202020204" pitchFamily="34" charset="0"/>
              <a:buChar char="•"/>
            </a:pPr>
            <a:endParaRPr lang="en-US" sz="2400" b="0" dirty="0">
              <a:latin typeface="Arial" panose="020B0604020202020204" pitchFamily="34" charset="0"/>
              <a:cs typeface="Arial" panose="020B0604020202020204" pitchFamily="34" charset="0"/>
            </a:endParaRPr>
          </a:p>
          <a:p>
            <a:pPr marL="0" indent="0" algn="ctr">
              <a:spcBef>
                <a:spcPts val="0"/>
              </a:spcBef>
              <a:spcAft>
                <a:spcPts val="600"/>
              </a:spcAft>
              <a:buNone/>
            </a:pPr>
            <a:endParaRPr lang="en-US" dirty="0"/>
          </a:p>
        </p:txBody>
      </p:sp>
      <p:sp>
        <p:nvSpPr>
          <p:cNvPr id="9" name="Slide Number Placeholder 8">
            <a:extLst>
              <a:ext uri="{FF2B5EF4-FFF2-40B4-BE49-F238E27FC236}">
                <a16:creationId xmlns:a16="http://schemas.microsoft.com/office/drawing/2014/main" id="{B346501F-455B-862D-068F-92B5D2E656A2}"/>
              </a:ext>
            </a:extLst>
          </p:cNvPr>
          <p:cNvSpPr>
            <a:spLocks noGrp="1"/>
          </p:cNvSpPr>
          <p:nvPr>
            <p:ph type="sldNum" sz="quarter" idx="12"/>
          </p:nvPr>
        </p:nvSpPr>
        <p:spPr/>
        <p:txBody>
          <a:bodyPr/>
          <a:lstStyle/>
          <a:p>
            <a:fld id="{A9D5B481-CC43-4D95-B982-500CB2D3FC20}" type="slidenum">
              <a:rPr lang="en-US" smtClean="0"/>
              <a:pPr/>
              <a:t>5</a:t>
            </a:fld>
            <a:endParaRPr lang="en-US" dirty="0"/>
          </a:p>
        </p:txBody>
      </p:sp>
      <p:sp>
        <p:nvSpPr>
          <p:cNvPr id="10" name="TextBox 9">
            <a:extLst>
              <a:ext uri="{FF2B5EF4-FFF2-40B4-BE49-F238E27FC236}">
                <a16:creationId xmlns:a16="http://schemas.microsoft.com/office/drawing/2014/main" id="{E98A44A5-A9F6-9FDF-458E-4592C7F14469}"/>
              </a:ext>
            </a:extLst>
          </p:cNvPr>
          <p:cNvSpPr txBox="1"/>
          <p:nvPr/>
        </p:nvSpPr>
        <p:spPr>
          <a:xfrm>
            <a:off x="826868" y="3565115"/>
            <a:ext cx="7166215" cy="1954381"/>
          </a:xfrm>
          <a:prstGeom prst="rect">
            <a:avLst/>
          </a:prstGeom>
          <a:noFill/>
        </p:spPr>
        <p:txBody>
          <a:bodyPr wrap="square">
            <a:spAutoFit/>
          </a:bodyPr>
          <a:lstStyle/>
          <a:p>
            <a:pPr marL="342900" indent="-342900" eaLnBrk="0" hangingPunct="0">
              <a:spcBef>
                <a:spcPts val="0"/>
              </a:spcBef>
              <a:spcAft>
                <a:spcPts val="600"/>
              </a:spcAft>
              <a:buFont typeface="Arial" panose="020B0604020202020204" pitchFamily="34" charset="0"/>
              <a:buChar char="•"/>
            </a:pPr>
            <a:r>
              <a:rPr lang="en-US" sz="2300" b="0" dirty="0">
                <a:solidFill>
                  <a:srgbClr val="000000"/>
                </a:solidFill>
                <a:latin typeface="Arial" panose="020B0604020202020204" pitchFamily="34" charset="0"/>
                <a:cs typeface="Arial" panose="020B0604020202020204" pitchFamily="34" charset="0"/>
              </a:rPr>
              <a:t>Covered entities are not required to provide the requested or “preferred” modification if they can provide an alternative that would be reasonable </a:t>
            </a:r>
            <a:r>
              <a:rPr lang="en-US" sz="2300" b="1" u="sng" dirty="0">
                <a:solidFill>
                  <a:srgbClr val="000000"/>
                </a:solidFill>
                <a:latin typeface="Arial" panose="020B0604020202020204" pitchFamily="34" charset="0"/>
                <a:cs typeface="Arial" panose="020B0604020202020204" pitchFamily="34" charset="0"/>
              </a:rPr>
              <a:t>and</a:t>
            </a:r>
            <a:r>
              <a:rPr lang="en-US" sz="2300" b="1" dirty="0">
                <a:solidFill>
                  <a:srgbClr val="000000"/>
                </a:solidFill>
                <a:latin typeface="Arial" panose="020B0604020202020204" pitchFamily="34" charset="0"/>
                <a:cs typeface="Arial" panose="020B0604020202020204" pitchFamily="34" charset="0"/>
              </a:rPr>
              <a:t> effective</a:t>
            </a:r>
          </a:p>
          <a:p>
            <a:pPr>
              <a:spcAft>
                <a:spcPts val="600"/>
              </a:spcAft>
            </a:pPr>
            <a:endParaRPr lang="en-US" sz="2400" b="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A65634A-70BC-8477-8141-FEFA1C5496F7}"/>
              </a:ext>
            </a:extLst>
          </p:cNvPr>
          <p:cNvSpPr txBox="1"/>
          <p:nvPr/>
        </p:nvSpPr>
        <p:spPr>
          <a:xfrm>
            <a:off x="826868" y="5112660"/>
            <a:ext cx="7459091" cy="1277273"/>
          </a:xfrm>
          <a:prstGeom prst="rect">
            <a:avLst/>
          </a:prstGeom>
          <a:noFill/>
        </p:spPr>
        <p:txBody>
          <a:bodyPr wrap="square">
            <a:spAutoFit/>
          </a:bodyPr>
          <a:lstStyle/>
          <a:p>
            <a:pPr marL="347472" indent="-347472">
              <a:spcAft>
                <a:spcPts val="600"/>
              </a:spcAft>
              <a:buFont typeface="Arial" panose="020B0604020202020204" pitchFamily="34" charset="0"/>
              <a:buChar char="•"/>
            </a:pPr>
            <a:r>
              <a:rPr lang="en-US" sz="2300" b="0" dirty="0">
                <a:latin typeface="Arial" panose="020B0604020202020204" pitchFamily="34" charset="0"/>
                <a:cs typeface="Arial" panose="020B0604020202020204" pitchFamily="34" charset="0"/>
              </a:rPr>
              <a:t>Does NOT include: </a:t>
            </a:r>
          </a:p>
          <a:p>
            <a:pPr marL="914400" lvl="1" indent="-457200">
              <a:spcAft>
                <a:spcPts val="600"/>
              </a:spcAft>
              <a:buFont typeface="Arial" panose="020B0604020202020204" pitchFamily="34" charset="0"/>
              <a:buChar char="­"/>
            </a:pPr>
            <a:r>
              <a:rPr lang="en-US" sz="2200" dirty="0">
                <a:latin typeface="Arial" panose="020B0604020202020204" pitchFamily="34" charset="0"/>
                <a:cs typeface="Arial" panose="020B0604020202020204" pitchFamily="34" charset="0"/>
              </a:rPr>
              <a:t>Providing personal services</a:t>
            </a:r>
            <a:endParaRPr lang="en-US" sz="2400" dirty="0">
              <a:latin typeface="Arial" panose="020B0604020202020204" pitchFamily="34" charset="0"/>
              <a:cs typeface="Arial" panose="020B0604020202020204" pitchFamily="34" charset="0"/>
            </a:endParaRPr>
          </a:p>
          <a:p>
            <a:pPr marL="914400" lvl="1" indent="-457200">
              <a:spcAft>
                <a:spcPts val="600"/>
              </a:spcAft>
              <a:buFont typeface="Arial" panose="020B0604020202020204" pitchFamily="34" charset="0"/>
              <a:buChar char="­"/>
            </a:pPr>
            <a:r>
              <a:rPr lang="en-US" altLang="en-US" sz="2200" dirty="0">
                <a:latin typeface="Arial" panose="020B0604020202020204" pitchFamily="34" charset="0"/>
                <a:ea typeface="ＭＳ Ｐゴシック" pitchFamily="34" charset="-128"/>
                <a:cs typeface="Arial" panose="020B0604020202020204" pitchFamily="34" charset="0"/>
              </a:rPr>
              <a:t>Tolerating or excusing violent or abusive behaviors</a:t>
            </a:r>
          </a:p>
        </p:txBody>
      </p:sp>
      <p:pic>
        <p:nvPicPr>
          <p:cNvPr id="3" name="Picture 4" descr="Equality does not mean equity.  On the left side of the image (equality) shows three people of different heights reaching for an apple from a tree on the same height box, and only one person can reach the apple.  On the right side of the image (equity), the same three people are on different height boxes, allowing them each to reach the apples.">
            <a:extLst>
              <a:ext uri="{FF2B5EF4-FFF2-40B4-BE49-F238E27FC236}">
                <a16:creationId xmlns:a16="http://schemas.microsoft.com/office/drawing/2014/main" id="{A8268266-2A5D-38E8-CADF-6CF99F642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6049" y="3275513"/>
            <a:ext cx="4108288" cy="27448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BF5E24F-8767-341F-A962-AC914968FCC0}"/>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85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098B-3C31-FCBE-AFFC-954946F66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245F8-BC09-363D-CC86-C95155B8CE51}"/>
              </a:ext>
            </a:extLst>
          </p:cNvPr>
          <p:cNvSpPr>
            <a:spLocks noGrp="1"/>
          </p:cNvSpPr>
          <p:nvPr>
            <p:ph type="title"/>
          </p:nvPr>
        </p:nvSpPr>
        <p:spPr/>
        <p:txBody>
          <a:bodyPr>
            <a:normAutofit/>
          </a:bodyPr>
          <a:lstStyle/>
          <a:p>
            <a:r>
              <a:rPr lang="en-US" sz="4400" dirty="0"/>
              <a:t>Modification Scenario</a:t>
            </a:r>
          </a:p>
        </p:txBody>
      </p:sp>
      <p:sp>
        <p:nvSpPr>
          <p:cNvPr id="3" name="Content Placeholder 2">
            <a:extLst>
              <a:ext uri="{FF2B5EF4-FFF2-40B4-BE49-F238E27FC236}">
                <a16:creationId xmlns:a16="http://schemas.microsoft.com/office/drawing/2014/main" id="{4CC56AA7-4783-07C4-E794-5D7E175348C7}"/>
              </a:ext>
            </a:extLst>
          </p:cNvPr>
          <p:cNvSpPr>
            <a:spLocks noGrp="1"/>
          </p:cNvSpPr>
          <p:nvPr>
            <p:ph idx="1"/>
          </p:nvPr>
        </p:nvSpPr>
        <p:spPr>
          <a:xfrm>
            <a:off x="838200" y="1823283"/>
            <a:ext cx="8890591" cy="4353680"/>
          </a:xfrm>
        </p:spPr>
        <p:txBody>
          <a:bodyPr/>
          <a:lstStyle/>
          <a:p>
            <a:pPr>
              <a:lnSpc>
                <a:spcPct val="100000"/>
              </a:lnSpc>
              <a:spcBef>
                <a:spcPts val="0"/>
              </a:spcBef>
              <a:spcAft>
                <a:spcPts val="1800"/>
              </a:spcAft>
            </a:pPr>
            <a:r>
              <a:rPr lang="en-US" sz="2300" dirty="0">
                <a:solidFill>
                  <a:prstClr val="black"/>
                </a:solidFill>
              </a:rPr>
              <a:t>A city ordinance states homeowners must remove snow from their sidewalks within 48 hours. A resident with a disability that inhibits their ability to shovel snow requests the city provide snow removal service as a reasonable modification. </a:t>
            </a:r>
          </a:p>
          <a:p>
            <a:pPr marL="857250" lvl="1" indent="-457200">
              <a:spcBef>
                <a:spcPts val="0"/>
              </a:spcBef>
              <a:spcAft>
                <a:spcPts val="1800"/>
              </a:spcAft>
            </a:pPr>
            <a:r>
              <a:rPr lang="en-US" sz="2300" dirty="0">
                <a:solidFill>
                  <a:prstClr val="black"/>
                </a:solidFill>
              </a:rPr>
              <a:t>Is the city obligated to provide this? </a:t>
            </a:r>
          </a:p>
          <a:p>
            <a:pPr marL="1314450" lvl="2" indent="-457200">
              <a:spcBef>
                <a:spcPts val="0"/>
              </a:spcBef>
              <a:spcAft>
                <a:spcPts val="1800"/>
              </a:spcAft>
              <a:buFont typeface="Wingdings" panose="05000000000000000000" pitchFamily="2" charset="2"/>
              <a:buChar char="Ø"/>
            </a:pPr>
            <a:r>
              <a:rPr lang="en-US" sz="2300" b="1" dirty="0">
                <a:solidFill>
                  <a:srgbClr val="005580"/>
                </a:solidFill>
                <a:effectLst/>
                <a:ea typeface="Calibri" panose="020F0502020204030204" pitchFamily="34" charset="0"/>
              </a:rPr>
              <a:t>NO</a:t>
            </a:r>
            <a:r>
              <a:rPr lang="en-US" sz="2300" b="1" dirty="0">
                <a:effectLst/>
                <a:ea typeface="Calibri" panose="020F0502020204030204" pitchFamily="34" charset="0"/>
              </a:rPr>
              <a:t>.</a:t>
            </a:r>
            <a:r>
              <a:rPr lang="en-US" sz="2300" dirty="0">
                <a:effectLst/>
                <a:ea typeface="Calibri" panose="020F0502020204030204" pitchFamily="34" charset="0"/>
              </a:rPr>
              <a:t> The ADA does not require a city government to provide snow removal service for the private driveways of residents with disabilities if the city does not provide such service for residents without disabilities.</a:t>
            </a:r>
            <a:endParaRPr lang="en-US" sz="2300" dirty="0">
              <a:solidFill>
                <a:prstClr val="black"/>
              </a:solidFill>
            </a:endParaRPr>
          </a:p>
          <a:p>
            <a:endParaRPr lang="en-US" dirty="0"/>
          </a:p>
        </p:txBody>
      </p:sp>
      <p:sp>
        <p:nvSpPr>
          <p:cNvPr id="4" name="Slide Number Placeholder 3">
            <a:extLst>
              <a:ext uri="{FF2B5EF4-FFF2-40B4-BE49-F238E27FC236}">
                <a16:creationId xmlns:a16="http://schemas.microsoft.com/office/drawing/2014/main" id="{8AB2E901-7BE4-1DC0-771F-DE01E5BFA9AB}"/>
              </a:ext>
            </a:extLst>
          </p:cNvPr>
          <p:cNvSpPr>
            <a:spLocks noGrp="1"/>
          </p:cNvSpPr>
          <p:nvPr>
            <p:ph type="sldNum" sz="quarter" idx="12"/>
          </p:nvPr>
        </p:nvSpPr>
        <p:spPr/>
        <p:txBody>
          <a:bodyPr/>
          <a:lstStyle/>
          <a:p>
            <a:fld id="{A9D5B481-CC43-4D95-B982-500CB2D3FC20}" type="slidenum">
              <a:rPr lang="en-US" smtClean="0"/>
              <a:pPr/>
              <a:t>6</a:t>
            </a:fld>
            <a:endParaRPr lang="en-US" dirty="0"/>
          </a:p>
        </p:txBody>
      </p:sp>
      <p:pic>
        <p:nvPicPr>
          <p:cNvPr id="5" name="Picture 4" descr="shoveling snow">
            <a:extLst>
              <a:ext uri="{FF2B5EF4-FFF2-40B4-BE49-F238E27FC236}">
                <a16:creationId xmlns:a16="http://schemas.microsoft.com/office/drawing/2014/main" id="{323E6138-852F-CB9A-EF80-288A1B137638}"/>
              </a:ext>
            </a:extLst>
          </p:cNvPr>
          <p:cNvPicPr>
            <a:picLocks noChangeAspect="1"/>
          </p:cNvPicPr>
          <p:nvPr/>
        </p:nvPicPr>
        <p:blipFill>
          <a:blip r:embed="rId3"/>
          <a:stretch>
            <a:fillRect/>
          </a:stretch>
        </p:blipFill>
        <p:spPr>
          <a:xfrm>
            <a:off x="9696001" y="2217929"/>
            <a:ext cx="2247079" cy="2753463"/>
          </a:xfrm>
          <a:prstGeom prst="rect">
            <a:avLst/>
          </a:prstGeom>
        </p:spPr>
      </p:pic>
      <p:pic>
        <p:nvPicPr>
          <p:cNvPr id="6" name="Picture 5">
            <a:extLst>
              <a:ext uri="{FF2B5EF4-FFF2-40B4-BE49-F238E27FC236}">
                <a16:creationId xmlns:a16="http://schemas.microsoft.com/office/drawing/2014/main" id="{D71F2F35-1273-27FB-F879-C2E1551B7561}"/>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529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ACF9-BA22-9528-9FDD-C8FEACB697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1DAB3E-8EC8-7D0C-D428-00A8DFF0750E}"/>
              </a:ext>
            </a:extLst>
          </p:cNvPr>
          <p:cNvSpPr>
            <a:spLocks noGrp="1"/>
          </p:cNvSpPr>
          <p:nvPr>
            <p:ph sz="half" idx="1"/>
          </p:nvPr>
        </p:nvSpPr>
        <p:spPr>
          <a:xfrm>
            <a:off x="576002" y="1601158"/>
            <a:ext cx="9769001" cy="4955759"/>
          </a:xfrm>
        </p:spPr>
        <p:txBody>
          <a:bodyPr>
            <a:normAutofit fontScale="92500"/>
          </a:bodyPr>
          <a:lstStyle/>
          <a:p>
            <a:pPr marL="457200" indent="-457200">
              <a:lnSpc>
                <a:spcPct val="120000"/>
              </a:lnSpc>
              <a:spcBef>
                <a:spcPts val="0"/>
              </a:spcBef>
              <a:spcAft>
                <a:spcPts val="600"/>
              </a:spcAft>
              <a:buFont typeface="Arial" panose="020B0604020202020204" pitchFamily="34" charset="0"/>
              <a:buChar char="•"/>
            </a:pPr>
            <a:r>
              <a:rPr lang="en-US" altLang="en-US" sz="2600" b="0" dirty="0"/>
              <a:t>A service animal is defined as a dog that has been individually trained to do work or perform tasks for an individual with a disability </a:t>
            </a:r>
          </a:p>
          <a:p>
            <a:pPr marL="1143000" lvl="1" indent="-457200">
              <a:lnSpc>
                <a:spcPct val="120000"/>
              </a:lnSpc>
              <a:spcBef>
                <a:spcPts val="0"/>
              </a:spcBef>
              <a:spcAft>
                <a:spcPts val="600"/>
              </a:spcAft>
              <a:buFont typeface="Arial" panose="020B0604020202020204" pitchFamily="34" charset="0"/>
              <a:buChar char="­"/>
            </a:pPr>
            <a:r>
              <a:rPr lang="en-US" sz="2400" b="0" dirty="0"/>
              <a:t>Must modify policies to permit miniature horses where reasonable</a:t>
            </a:r>
          </a:p>
          <a:p>
            <a:pPr marL="342900" indent="-342900">
              <a:lnSpc>
                <a:spcPct val="120000"/>
              </a:lnSpc>
              <a:spcBef>
                <a:spcPts val="0"/>
              </a:spcBef>
              <a:spcAft>
                <a:spcPts val="600"/>
              </a:spcAft>
              <a:buFont typeface="Arial" panose="020B0604020202020204" pitchFamily="34" charset="0"/>
              <a:buChar char="•"/>
            </a:pPr>
            <a:r>
              <a:rPr lang="en-US" sz="2600" b="0" dirty="0"/>
              <a:t>Service animals must have a harness, leash, or other tether </a:t>
            </a:r>
            <a:r>
              <a:rPr lang="en-US" sz="2600" b="0" kern="100" dirty="0">
                <a:effectLst/>
                <a:ea typeface="Calibri" panose="020F0502020204030204" pitchFamily="34" charset="0"/>
              </a:rPr>
              <a:t>unless these devices interfere with the service animal’s work or the person’s disability prevents use of these devices</a:t>
            </a:r>
          </a:p>
          <a:p>
            <a:pPr marL="342900" indent="-342900">
              <a:lnSpc>
                <a:spcPct val="120000"/>
              </a:lnSpc>
              <a:spcBef>
                <a:spcPts val="0"/>
              </a:spcBef>
              <a:spcAft>
                <a:spcPts val="600"/>
              </a:spcAft>
              <a:buFont typeface="Arial" panose="020B0604020202020204" pitchFamily="34" charset="0"/>
              <a:buChar char="•"/>
            </a:pPr>
            <a:r>
              <a:rPr lang="en-US" sz="2500" b="0" dirty="0">
                <a:cs typeface="Arial" charset="0"/>
              </a:rPr>
              <a:t>Two specific exceptions for when service animals can be excluded:</a:t>
            </a:r>
          </a:p>
          <a:p>
            <a:pPr marL="868680" lvl="2" indent="-457200">
              <a:lnSpc>
                <a:spcPct val="120000"/>
              </a:lnSpc>
              <a:spcBef>
                <a:spcPts val="0"/>
              </a:spcBef>
              <a:spcAft>
                <a:spcPts val="600"/>
              </a:spcAft>
              <a:buFont typeface="+mj-lt"/>
              <a:buAutoNum type="arabicPeriod"/>
            </a:pPr>
            <a:r>
              <a:rPr lang="en-US" sz="2500" dirty="0">
                <a:cs typeface="Arial" charset="0"/>
              </a:rPr>
              <a:t>The animal is out of control and the individual does not take effective action to control it; </a:t>
            </a:r>
            <a:r>
              <a:rPr lang="en-US" sz="2500" b="1" dirty="0">
                <a:cs typeface="Arial" charset="0"/>
              </a:rPr>
              <a:t>or</a:t>
            </a:r>
          </a:p>
          <a:p>
            <a:pPr marL="868680" lvl="2" indent="-457200">
              <a:lnSpc>
                <a:spcPct val="120000"/>
              </a:lnSpc>
              <a:spcBef>
                <a:spcPts val="0"/>
              </a:spcBef>
              <a:spcAft>
                <a:spcPts val="600"/>
              </a:spcAft>
              <a:buFont typeface="+mj-lt"/>
              <a:buAutoNum type="arabicPeriod"/>
            </a:pPr>
            <a:r>
              <a:rPr lang="en-US" sz="2500" dirty="0">
                <a:cs typeface="Arial" charset="0"/>
              </a:rPr>
              <a:t>The animal is not housebroken </a:t>
            </a:r>
          </a:p>
          <a:p>
            <a:pPr marL="342900" indent="-342900">
              <a:lnSpc>
                <a:spcPct val="100000"/>
              </a:lnSpc>
              <a:spcBef>
                <a:spcPts val="0"/>
              </a:spcBef>
              <a:spcAft>
                <a:spcPts val="1200"/>
              </a:spcAft>
              <a:buFont typeface="Arial" panose="020B0604020202020204" pitchFamily="34" charset="0"/>
              <a:buChar char="•"/>
            </a:pPr>
            <a:endParaRPr lang="en-US" altLang="en-US" sz="2400" b="0" dirty="0"/>
          </a:p>
          <a:p>
            <a:endParaRPr lang="en-US" dirty="0"/>
          </a:p>
        </p:txBody>
      </p:sp>
      <p:sp>
        <p:nvSpPr>
          <p:cNvPr id="5" name="Title 4">
            <a:extLst>
              <a:ext uri="{FF2B5EF4-FFF2-40B4-BE49-F238E27FC236}">
                <a16:creationId xmlns:a16="http://schemas.microsoft.com/office/drawing/2014/main" id="{EA0C8271-8824-3EBE-005B-02EDEDE57853}"/>
              </a:ext>
            </a:extLst>
          </p:cNvPr>
          <p:cNvSpPr>
            <a:spLocks noGrp="1"/>
          </p:cNvSpPr>
          <p:nvPr>
            <p:ph type="title"/>
          </p:nvPr>
        </p:nvSpPr>
        <p:spPr>
          <a:xfrm>
            <a:off x="576002" y="737337"/>
            <a:ext cx="10515600" cy="961496"/>
          </a:xfrm>
        </p:spPr>
        <p:txBody>
          <a:bodyPr>
            <a:normAutofit/>
          </a:bodyPr>
          <a:lstStyle/>
          <a:p>
            <a:r>
              <a:rPr lang="en-US" sz="4400" dirty="0"/>
              <a:t>Service Animal Under the ADA</a:t>
            </a:r>
          </a:p>
        </p:txBody>
      </p:sp>
      <p:pic>
        <p:nvPicPr>
          <p:cNvPr id="4" name="Picture 3">
            <a:extLst>
              <a:ext uri="{FF2B5EF4-FFF2-40B4-BE49-F238E27FC236}">
                <a16:creationId xmlns:a16="http://schemas.microsoft.com/office/drawing/2014/main" id="{A6658193-47D5-CFF1-F46D-6A816C21E39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7DE380C3-8601-4295-AC4F-3746078D764E}"/>
              </a:ext>
            </a:extLst>
          </p:cNvPr>
          <p:cNvSpPr>
            <a:spLocks noGrp="1"/>
          </p:cNvSpPr>
          <p:nvPr>
            <p:ph type="sldNum" sz="quarter" idx="12"/>
          </p:nvPr>
        </p:nvSpPr>
        <p:spPr/>
        <p:txBody>
          <a:bodyPr/>
          <a:lstStyle/>
          <a:p>
            <a:fld id="{A9D5B481-CC43-4D95-B982-500CB2D3FC20}" type="slidenum">
              <a:rPr lang="en-US" smtClean="0"/>
              <a:pPr/>
              <a:t>7</a:t>
            </a:fld>
            <a:endParaRPr lang="en-US" dirty="0"/>
          </a:p>
        </p:txBody>
      </p:sp>
      <p:pic>
        <p:nvPicPr>
          <p:cNvPr id="6" name="Picture 5" descr="Service dog altering person's blood sugar levels">
            <a:extLst>
              <a:ext uri="{FF2B5EF4-FFF2-40B4-BE49-F238E27FC236}">
                <a16:creationId xmlns:a16="http://schemas.microsoft.com/office/drawing/2014/main" id="{02F8AAEB-0317-CCE2-1E9D-D0456D71FF73}"/>
              </a:ext>
            </a:extLst>
          </p:cNvPr>
          <p:cNvPicPr>
            <a:picLocks noChangeAspect="1"/>
          </p:cNvPicPr>
          <p:nvPr/>
        </p:nvPicPr>
        <p:blipFill>
          <a:blip r:embed="rId4"/>
          <a:stretch>
            <a:fillRect/>
          </a:stretch>
        </p:blipFill>
        <p:spPr>
          <a:xfrm>
            <a:off x="10394630" y="2125926"/>
            <a:ext cx="1548450" cy="2290539"/>
          </a:xfrm>
          <a:prstGeom prst="rect">
            <a:avLst/>
          </a:prstGeom>
        </p:spPr>
      </p:pic>
      <p:pic>
        <p:nvPicPr>
          <p:cNvPr id="8" name="Picture 7" descr="dog on leash lunging and barking">
            <a:extLst>
              <a:ext uri="{FF2B5EF4-FFF2-40B4-BE49-F238E27FC236}">
                <a16:creationId xmlns:a16="http://schemas.microsoft.com/office/drawing/2014/main" id="{CE9FACDD-86B4-DA40-8A7D-3C62D9E068D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96000" y="5433448"/>
            <a:ext cx="2010770" cy="9847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Dog lying next to puddle of pee and person's hand pointing at dog">
            <a:extLst>
              <a:ext uri="{FF2B5EF4-FFF2-40B4-BE49-F238E27FC236}">
                <a16:creationId xmlns:a16="http://schemas.microsoft.com/office/drawing/2014/main" id="{CBB10358-AE62-EF7F-FE08-59503C6204C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25433" y="5424034"/>
            <a:ext cx="1624527" cy="994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02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CAB962-BFF8-8B62-5A19-E8A685B09F24}"/>
              </a:ext>
            </a:extLst>
          </p:cNvPr>
          <p:cNvSpPr>
            <a:spLocks noGrp="1"/>
          </p:cNvSpPr>
          <p:nvPr>
            <p:ph type="title"/>
          </p:nvPr>
        </p:nvSpPr>
        <p:spPr>
          <a:xfrm>
            <a:off x="450023" y="744225"/>
            <a:ext cx="11659301" cy="961496"/>
          </a:xfrm>
        </p:spPr>
        <p:txBody>
          <a:bodyPr>
            <a:normAutofit/>
          </a:bodyPr>
          <a:lstStyle/>
          <a:p>
            <a:r>
              <a:rPr lang="en-US" sz="4400" dirty="0"/>
              <a:t>Service Animals: What Can Be Asked?</a:t>
            </a:r>
          </a:p>
        </p:txBody>
      </p:sp>
      <p:sp>
        <p:nvSpPr>
          <p:cNvPr id="2" name="Content Placeholder 1">
            <a:extLst>
              <a:ext uri="{FF2B5EF4-FFF2-40B4-BE49-F238E27FC236}">
                <a16:creationId xmlns:a16="http://schemas.microsoft.com/office/drawing/2014/main" id="{B2508E40-8D6B-FC28-C8E9-CD6CCE9F4992}"/>
              </a:ext>
            </a:extLst>
          </p:cNvPr>
          <p:cNvSpPr>
            <a:spLocks noGrp="1"/>
          </p:cNvSpPr>
          <p:nvPr>
            <p:ph sz="half" idx="1"/>
          </p:nvPr>
        </p:nvSpPr>
        <p:spPr>
          <a:xfrm>
            <a:off x="944360" y="1607332"/>
            <a:ext cx="10933924" cy="961496"/>
          </a:xfrm>
        </p:spPr>
        <p:txBody>
          <a:bodyPr/>
          <a:lstStyle/>
          <a:p>
            <a:pPr marL="457200" indent="-457200">
              <a:lnSpc>
                <a:spcPct val="100000"/>
              </a:lnSpc>
              <a:spcBef>
                <a:spcPts val="0"/>
              </a:spcBef>
              <a:buFont typeface="Arial" panose="020B0604020202020204" pitchFamily="34" charset="0"/>
              <a:buChar char="•"/>
            </a:pPr>
            <a:r>
              <a:rPr lang="en-US" altLang="en-US" sz="2400" b="0" dirty="0">
                <a:solidFill>
                  <a:schemeClr val="tx1"/>
                </a:solidFill>
              </a:rPr>
              <a:t>In situations where it is not obvious that the dog is a service animal, covered</a:t>
            </a:r>
            <a:r>
              <a:rPr lang="en-US" altLang="en-US" sz="2400" b="0" dirty="0"/>
              <a:t> entity </a:t>
            </a:r>
            <a:r>
              <a:rPr lang="en-US" altLang="en-US" sz="2400" b="0" dirty="0">
                <a:solidFill>
                  <a:schemeClr val="tx1"/>
                </a:solidFill>
              </a:rPr>
              <a:t>staff may ask only two specific questions: </a:t>
            </a:r>
          </a:p>
          <a:p>
            <a:endParaRPr lang="en-US" dirty="0"/>
          </a:p>
        </p:txBody>
      </p:sp>
      <p:sp>
        <p:nvSpPr>
          <p:cNvPr id="4" name="Content Placeholder 3">
            <a:extLst>
              <a:ext uri="{FF2B5EF4-FFF2-40B4-BE49-F238E27FC236}">
                <a16:creationId xmlns:a16="http://schemas.microsoft.com/office/drawing/2014/main" id="{79AD0B6F-30F1-5455-D41F-45505152D6C6}"/>
              </a:ext>
            </a:extLst>
          </p:cNvPr>
          <p:cNvSpPr>
            <a:spLocks noGrp="1"/>
          </p:cNvSpPr>
          <p:nvPr>
            <p:ph sz="half" idx="13"/>
          </p:nvPr>
        </p:nvSpPr>
        <p:spPr>
          <a:xfrm>
            <a:off x="1615868" y="2549208"/>
            <a:ext cx="6087567" cy="1884472"/>
          </a:xfrm>
        </p:spPr>
        <p:txBody>
          <a:bodyPr/>
          <a:lstStyle/>
          <a:p>
            <a:pPr marL="514350" indent="-514350">
              <a:lnSpc>
                <a:spcPct val="100000"/>
              </a:lnSpc>
              <a:spcBef>
                <a:spcPts val="0"/>
              </a:spcBef>
              <a:spcAft>
                <a:spcPts val="1200"/>
              </a:spcAft>
              <a:buFont typeface="+mj-lt"/>
              <a:buAutoNum type="arabicPeriod"/>
            </a:pPr>
            <a:r>
              <a:rPr lang="en-US" altLang="en-US" sz="2400" b="0" dirty="0"/>
              <a:t>I</a:t>
            </a:r>
            <a:r>
              <a:rPr lang="en-US" altLang="en-US" sz="2400" b="0" dirty="0">
                <a:solidFill>
                  <a:schemeClr val="tx1"/>
                </a:solidFill>
              </a:rPr>
              <a:t>s the dog a service animal required because of a disability? </a:t>
            </a:r>
          </a:p>
          <a:p>
            <a:pPr marL="514350" indent="-514350">
              <a:lnSpc>
                <a:spcPct val="100000"/>
              </a:lnSpc>
              <a:spcBef>
                <a:spcPts val="0"/>
              </a:spcBef>
              <a:spcAft>
                <a:spcPts val="1200"/>
              </a:spcAft>
              <a:buFont typeface="+mj-lt"/>
              <a:buAutoNum type="arabicPeriod"/>
            </a:pPr>
            <a:r>
              <a:rPr lang="en-US" altLang="en-US" sz="2400" b="0" dirty="0"/>
              <a:t>W</a:t>
            </a:r>
            <a:r>
              <a:rPr lang="en-US" altLang="en-US" sz="2400" b="0" dirty="0">
                <a:solidFill>
                  <a:schemeClr val="tx1"/>
                </a:solidFill>
              </a:rPr>
              <a:t>hat work or task has the dog been trained to perform?</a:t>
            </a:r>
          </a:p>
          <a:p>
            <a:endParaRPr lang="en-US" dirty="0"/>
          </a:p>
        </p:txBody>
      </p:sp>
      <p:pic>
        <p:nvPicPr>
          <p:cNvPr id="7" name="Picture 2" descr="word bubble with the word 'Question?' in the middle">
            <a:extLst>
              <a:ext uri="{FF2B5EF4-FFF2-40B4-BE49-F238E27FC236}">
                <a16:creationId xmlns:a16="http://schemas.microsoft.com/office/drawing/2014/main" id="{5793F708-4493-F8DF-8615-413226FFB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7772" y="2449468"/>
            <a:ext cx="1840634" cy="1914259"/>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C56F3183-FFB4-8F00-6865-9EFCD5EAD288}"/>
              </a:ext>
            </a:extLst>
          </p:cNvPr>
          <p:cNvSpPr txBox="1">
            <a:spLocks/>
          </p:cNvSpPr>
          <p:nvPr/>
        </p:nvSpPr>
        <p:spPr>
          <a:xfrm>
            <a:off x="944359" y="4289173"/>
            <a:ext cx="10751771" cy="2119231"/>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spcAft>
                <a:spcPts val="600"/>
              </a:spcAft>
              <a:buFont typeface="Arial" panose="020B0604020202020204" pitchFamily="34" charset="0"/>
              <a:buChar char="•"/>
            </a:pPr>
            <a:r>
              <a:rPr lang="en-US" sz="3400" b="0" dirty="0"/>
              <a:t>Entities </a:t>
            </a:r>
            <a:r>
              <a:rPr lang="en-US" sz="3400" u="sng" dirty="0"/>
              <a:t>cannot</a:t>
            </a:r>
            <a:r>
              <a:rPr lang="en-US" sz="3400" b="0" dirty="0"/>
              <a:t> ask these questions if the disability and trained work or task are obvious</a:t>
            </a:r>
            <a:endParaRPr lang="en-US" altLang="en-US" sz="3400" b="0" dirty="0"/>
          </a:p>
          <a:p>
            <a:pPr marL="457200" indent="-457200">
              <a:lnSpc>
                <a:spcPct val="120000"/>
              </a:lnSpc>
              <a:spcBef>
                <a:spcPts val="0"/>
              </a:spcBef>
              <a:spcAft>
                <a:spcPts val="600"/>
              </a:spcAft>
              <a:buFont typeface="Arial" panose="020B0604020202020204" pitchFamily="34" charset="0"/>
              <a:buChar char="•"/>
            </a:pPr>
            <a:r>
              <a:rPr lang="en-US" altLang="en-US" sz="3400" b="0" dirty="0"/>
              <a:t>Staff are </a:t>
            </a:r>
            <a:r>
              <a:rPr lang="en-US" altLang="en-US" sz="3400" dirty="0"/>
              <a:t>NOT</a:t>
            </a:r>
            <a:r>
              <a:rPr lang="en-US" altLang="en-US" sz="3400" b="0" dirty="0"/>
              <a:t> allowed to request any documentation for the dog, require that the dog demonstrate its task, or inquire about the nature of the person's disability</a:t>
            </a:r>
          </a:p>
          <a:p>
            <a:endParaRPr lang="en-US" dirty="0"/>
          </a:p>
        </p:txBody>
      </p:sp>
      <p:pic>
        <p:nvPicPr>
          <p:cNvPr id="8" name="Picture 7">
            <a:extLst>
              <a:ext uri="{FF2B5EF4-FFF2-40B4-BE49-F238E27FC236}">
                <a16:creationId xmlns:a16="http://schemas.microsoft.com/office/drawing/2014/main" id="{C6182CBA-9FBA-1EE2-2283-15DFD1BF405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5B59586E-22F8-3E7F-C291-0C3935396FF3}"/>
              </a:ext>
            </a:extLst>
          </p:cNvPr>
          <p:cNvSpPr>
            <a:spLocks noGrp="1"/>
          </p:cNvSpPr>
          <p:nvPr>
            <p:ph type="sldNum" sz="quarter" idx="12"/>
          </p:nvPr>
        </p:nvSpPr>
        <p:spPr/>
        <p:txBody>
          <a:bodyPr/>
          <a:lstStyle/>
          <a:p>
            <a:fld id="{A9D5B481-CC43-4D95-B982-500CB2D3FC20}" type="slidenum">
              <a:rPr lang="en-US" smtClean="0"/>
              <a:pPr/>
              <a:t>8</a:t>
            </a:fld>
            <a:endParaRPr lang="en-US" dirty="0"/>
          </a:p>
        </p:txBody>
      </p:sp>
    </p:spTree>
    <p:extLst>
      <p:ext uri="{BB962C8B-B14F-4D97-AF65-F5344CB8AC3E}">
        <p14:creationId xmlns:p14="http://schemas.microsoft.com/office/powerpoint/2010/main" val="339373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33C4-8E42-7EEA-C5F8-2A33D0A3ED6A}"/>
              </a:ext>
            </a:extLst>
          </p:cNvPr>
          <p:cNvSpPr>
            <a:spLocks noGrp="1"/>
          </p:cNvSpPr>
          <p:nvPr>
            <p:ph type="title"/>
          </p:nvPr>
        </p:nvSpPr>
        <p:spPr/>
        <p:txBody>
          <a:bodyPr>
            <a:normAutofit/>
          </a:bodyPr>
          <a:lstStyle/>
          <a:p>
            <a:r>
              <a:rPr lang="en-US" sz="4400" dirty="0"/>
              <a:t>Conclusion</a:t>
            </a:r>
          </a:p>
        </p:txBody>
      </p:sp>
      <p:sp>
        <p:nvSpPr>
          <p:cNvPr id="3" name="Content Placeholder 2">
            <a:extLst>
              <a:ext uri="{FF2B5EF4-FFF2-40B4-BE49-F238E27FC236}">
                <a16:creationId xmlns:a16="http://schemas.microsoft.com/office/drawing/2014/main" id="{ACDA98C0-9479-3F7A-4B3A-972EC2252CA6}"/>
              </a:ext>
            </a:extLst>
          </p:cNvPr>
          <p:cNvSpPr>
            <a:spLocks noGrp="1"/>
          </p:cNvSpPr>
          <p:nvPr>
            <p:ph idx="1"/>
          </p:nvPr>
        </p:nvSpPr>
        <p:spPr>
          <a:xfrm>
            <a:off x="813819" y="1754763"/>
            <a:ext cx="10539981" cy="2205854"/>
          </a:xfrm>
        </p:spPr>
        <p:txBody>
          <a:bodyPr>
            <a:normAutofit/>
          </a:bodyPr>
          <a:lstStyle/>
          <a:p>
            <a:pPr marL="457200" indent="-457200">
              <a:lnSpc>
                <a:spcPct val="100000"/>
              </a:lnSpc>
              <a:spcBef>
                <a:spcPts val="0"/>
              </a:spcBef>
              <a:spcAft>
                <a:spcPts val="2400"/>
              </a:spcAft>
              <a:buFont typeface="Arial" panose="020B0604020202020204" pitchFamily="34" charset="0"/>
              <a:buChar char="•"/>
            </a:pPr>
            <a:r>
              <a:rPr lang="en-US" b="0" dirty="0"/>
              <a:t>To learn more about the concepts reviewed during this training, check out the ADA resources provided within this unit</a:t>
            </a:r>
          </a:p>
          <a:p>
            <a:pPr marL="457200" indent="-457200">
              <a:lnSpc>
                <a:spcPct val="100000"/>
              </a:lnSpc>
              <a:spcBef>
                <a:spcPts val="0"/>
              </a:spcBef>
              <a:spcAft>
                <a:spcPts val="2400"/>
              </a:spcAft>
              <a:buFont typeface="Arial" panose="020B0604020202020204" pitchFamily="34" charset="0"/>
              <a:buChar char="•"/>
            </a:pPr>
            <a:r>
              <a:rPr lang="en-US" b="0" dirty="0"/>
              <a:t>If you have questions about the ADA, call your regional ADA Center at 800-949-4232</a:t>
            </a:r>
          </a:p>
        </p:txBody>
      </p:sp>
      <p:sp>
        <p:nvSpPr>
          <p:cNvPr id="7" name="Content Placeholder 2">
            <a:extLst>
              <a:ext uri="{FF2B5EF4-FFF2-40B4-BE49-F238E27FC236}">
                <a16:creationId xmlns:a16="http://schemas.microsoft.com/office/drawing/2014/main" id="{794C80E5-66FE-23EF-2520-E5AB23529FCD}"/>
              </a:ext>
            </a:extLst>
          </p:cNvPr>
          <p:cNvSpPr txBox="1">
            <a:spLocks/>
          </p:cNvSpPr>
          <p:nvPr/>
        </p:nvSpPr>
        <p:spPr>
          <a:xfrm>
            <a:off x="838201" y="3985679"/>
            <a:ext cx="7991900" cy="158714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baseline="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2400"/>
              </a:spcAft>
              <a:buFont typeface="Arial" panose="020B0604020202020204" pitchFamily="34" charset="0"/>
              <a:buChar char="•"/>
            </a:pPr>
            <a:r>
              <a:rPr lang="en-US" dirty="0"/>
              <a:t>To complete Module 1 - Unit 2: ADA Basics, complete the ADA Titles Quiz</a:t>
            </a:r>
          </a:p>
        </p:txBody>
      </p:sp>
      <p:pic>
        <p:nvPicPr>
          <p:cNvPr id="5" name="Picture 4" descr="emoji thinking with a speech bubble above with a &quot;Q.&quot;  Light bulb emoji with a speech bubble above with an &quot;A.&quot;">
            <a:extLst>
              <a:ext uri="{FF2B5EF4-FFF2-40B4-BE49-F238E27FC236}">
                <a16:creationId xmlns:a16="http://schemas.microsoft.com/office/drawing/2014/main" id="{FD471DD8-7B60-A3D6-CE75-A73BED2AD855}"/>
              </a:ext>
            </a:extLst>
          </p:cNvPr>
          <p:cNvPicPr>
            <a:picLocks noChangeAspect="1"/>
          </p:cNvPicPr>
          <p:nvPr/>
        </p:nvPicPr>
        <p:blipFill>
          <a:blip r:embed="rId3"/>
          <a:stretch>
            <a:fillRect/>
          </a:stretch>
        </p:blipFill>
        <p:spPr>
          <a:xfrm>
            <a:off x="8753261" y="3927139"/>
            <a:ext cx="2993297" cy="2621949"/>
          </a:xfrm>
          <a:prstGeom prst="rect">
            <a:avLst/>
          </a:prstGeom>
        </p:spPr>
      </p:pic>
      <p:pic>
        <p:nvPicPr>
          <p:cNvPr id="6" name="Picture 5">
            <a:extLst>
              <a:ext uri="{FF2B5EF4-FFF2-40B4-BE49-F238E27FC236}">
                <a16:creationId xmlns:a16="http://schemas.microsoft.com/office/drawing/2014/main" id="{6D623585-06AF-02DE-3CC8-2A4A4F30CC4E}"/>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47868"/>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D038725D-484C-DF34-3333-08810BF274C8}"/>
              </a:ext>
            </a:extLst>
          </p:cNvPr>
          <p:cNvSpPr>
            <a:spLocks noGrp="1"/>
          </p:cNvSpPr>
          <p:nvPr>
            <p:ph type="sldNum" sz="quarter" idx="12"/>
          </p:nvPr>
        </p:nvSpPr>
        <p:spPr/>
        <p:txBody>
          <a:bodyPr/>
          <a:lstStyle/>
          <a:p>
            <a:fld id="{A9D5B481-CC43-4D95-B982-500CB2D3FC20}" type="slidenum">
              <a:rPr lang="en-US" smtClean="0"/>
              <a:pPr/>
              <a:t>9</a:t>
            </a:fld>
            <a:endParaRPr lang="en-US" dirty="0"/>
          </a:p>
        </p:txBody>
      </p:sp>
    </p:spTree>
    <p:extLst>
      <p:ext uri="{BB962C8B-B14F-4D97-AF65-F5344CB8AC3E}">
        <p14:creationId xmlns:p14="http://schemas.microsoft.com/office/powerpoint/2010/main" val="288465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Great Lakes ADA Center PPT">
      <a:dk1>
        <a:sysClr val="windowText" lastClr="000000"/>
      </a:dk1>
      <a:lt1>
        <a:sysClr val="window" lastClr="FFFFFF"/>
      </a:lt1>
      <a:dk2>
        <a:srgbClr val="242852"/>
      </a:dk2>
      <a:lt2>
        <a:srgbClr val="ACCBF9"/>
      </a:lt2>
      <a:accent1>
        <a:srgbClr val="005580"/>
      </a:accent1>
      <a:accent2>
        <a:srgbClr val="297FD5"/>
      </a:accent2>
      <a:accent3>
        <a:srgbClr val="7F8FA9"/>
      </a:accent3>
      <a:accent4>
        <a:srgbClr val="4A66AC"/>
      </a:accent4>
      <a:accent5>
        <a:srgbClr val="5AA2AE"/>
      </a:accent5>
      <a:accent6>
        <a:srgbClr val="9D90A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
  <TotalTime>25010</TotalTime>
  <Words>2994</Words>
  <Application>Microsoft Office PowerPoint</Application>
  <PresentationFormat>Widescreen</PresentationFormat>
  <Paragraphs>180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Symbol</vt:lpstr>
      <vt:lpstr>Times New Roman</vt:lpstr>
      <vt:lpstr>Wingdings</vt:lpstr>
      <vt:lpstr>Office Theme</vt:lpstr>
      <vt:lpstr>Americans with Disabilities Act  (ADA)</vt:lpstr>
      <vt:lpstr>2010 ADA Standards</vt:lpstr>
      <vt:lpstr>Digital Accessibility Legal Framework </vt:lpstr>
      <vt:lpstr>Effective Communication Requirements</vt:lpstr>
      <vt:lpstr>Reasonable Modification</vt:lpstr>
      <vt:lpstr>Modification Scenario</vt:lpstr>
      <vt:lpstr>Service Animal Under the ADA</vt:lpstr>
      <vt:lpstr>Service Animals: What Can Be Asked?</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208</cp:revision>
  <dcterms:created xsi:type="dcterms:W3CDTF">2023-05-18T20:19:20Z</dcterms:created>
  <dcterms:modified xsi:type="dcterms:W3CDTF">2025-03-17T13:34:48Z</dcterms:modified>
</cp:coreProperties>
</file>